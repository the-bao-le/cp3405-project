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embeddedFontLst>
    <p:embeddedFont>
      <p:font typeface="Roboto Mono"/>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C0F291F-BA2F-47F4-8B5B-CF05989DDCF4}">
  <a:tblStyle styleId="{5C0F291F-BA2F-47F4-8B5B-CF05989DDCF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Mono-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RobotoMono-regular.fntdata"/><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font" Target="fonts/RobotoMono-italic.fntdata"/><Relationship Id="rId6" Type="http://schemas.openxmlformats.org/officeDocument/2006/relationships/notesMaster" Target="notesMasters/notesMaster1.xml"/><Relationship Id="rId18" Type="http://schemas.openxmlformats.org/officeDocument/2006/relationships/font" Target="fonts/RobotoMono-bold.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ed1f604216_5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ed1f604216_5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ed1f604216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ed1f604216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t>
            </a:r>
            <a:endParaRPr/>
          </a:p>
          <a:p>
            <a:pPr indent="0" lvl="0" marL="0" rtl="0" algn="l">
              <a:spcBef>
                <a:spcPts val="0"/>
              </a:spcBef>
              <a:spcAft>
                <a:spcPts val="0"/>
              </a:spcAft>
              <a:buNone/>
            </a:pPr>
            <a:r>
              <a:rPr lang="en-GB"/>
              <a:t>Not much to present for this week as the Product Owner since there is no calibration score to state or comment on.</a:t>
            </a:r>
            <a:endParaRPr/>
          </a:p>
          <a:p>
            <a:pPr indent="0" lvl="0" marL="0" rtl="0" algn="l">
              <a:spcBef>
                <a:spcPts val="0"/>
              </a:spcBef>
              <a:spcAft>
                <a:spcPts val="0"/>
              </a:spcAft>
              <a:buNone/>
            </a:pPr>
            <a:r>
              <a:rPr lang="en-GB"/>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Good morning everyone. My name is The Bao and I’m the Product Owner for this week.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For this sprint, our goal is to produce disciplined market prediction using seasonal, macro, technical, multi-LLM, and human judgment evidence.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Since this is our first sprint, we do not have a calibration score, so this week result is the baseline for our future sprints.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The main question we’re trying to answer this week is whether the market can continue its upward momentum despite </a:t>
            </a:r>
            <a:r>
              <a:rPr lang="en-GB"/>
              <a:t>elevated</a:t>
            </a:r>
            <a:r>
              <a:rPr lang="en-GB"/>
              <a:t> yields and the risk from PCE inflation.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ed1f60421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ed1f60421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First, looking at the major indices on the left</a:t>
            </a:r>
            <a:r>
              <a:rPr lang="en-GB">
                <a:solidFill>
                  <a:schemeClr val="dk1"/>
                </a:solidFill>
              </a:rPr>
              <a:t>: Our directional call for mega-caps was </a:t>
            </a:r>
            <a:r>
              <a:rPr b="1" lang="en-GB">
                <a:solidFill>
                  <a:schemeClr val="dk1"/>
                </a:solidFill>
              </a:rPr>
              <a:t>accurate</a:t>
            </a:r>
            <a:r>
              <a:rPr lang="en-GB">
                <a:solidFill>
                  <a:schemeClr val="dk1"/>
                </a:solidFill>
              </a:rPr>
              <a:t>. Both the S&amp;P 500 and Nasdaq 100 closed slightly higher, up 0.22% and 0.20% respectively. Gold also hit our target as safe-haven demand increased.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However, we observed two significant outliers</a:t>
            </a:r>
            <a:r>
              <a:rPr lang="en-GB">
                <a:solidFill>
                  <a:schemeClr val="dk1"/>
                </a:solidFill>
              </a:rPr>
              <a:t>: Crude Oil slumped 2.40% due to demand worries ahead of the non-farm payrolls, and small-caps failed to recover, with the Russell 2000 dropping 0.59%. This indicates a clear market shift toward defensive positioning. This rotation is further proven by our sector leaderboard on the right, where Utilities led the market at plus 2.15%, while Energy significantly lagged.</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ed1f604216_5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ed1f604216_5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Seasonality suggests cautious/bearish-neutral for late May in a midterm year. Technology is the seasonal bright spot that gives a bullish offset. Banking and Materials face seasonal headwinds. The Memorial Day week bearish tendency adds to the macro pressure from elevated yields. However, the week-after-options-expiration bullish pattern provides some offset. Confidence is low due to conflicting signals.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ed1f604216_5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ed1f604216_5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300"/>
              <a:t>Part 1:</a:t>
            </a:r>
            <a:endParaRPr sz="1300"/>
          </a:p>
          <a:p>
            <a:pPr indent="0" lvl="0" marL="0" rtl="0" algn="l">
              <a:spcBef>
                <a:spcPts val="0"/>
              </a:spcBef>
              <a:spcAft>
                <a:spcPts val="0"/>
              </a:spcAft>
              <a:buClr>
                <a:schemeClr val="dk1"/>
              </a:buClr>
              <a:buSzPts val="1100"/>
              <a:buFont typeface="Arial"/>
              <a:buNone/>
            </a:pPr>
            <a:r>
              <a:rPr lang="en-GB" sz="1300"/>
              <a:t>Hi everyone.</a:t>
            </a:r>
            <a:endParaRPr sz="1300"/>
          </a:p>
          <a:p>
            <a:pPr indent="0" lvl="0" marL="0" rtl="0" algn="l">
              <a:spcBef>
                <a:spcPts val="0"/>
              </a:spcBef>
              <a:spcAft>
                <a:spcPts val="0"/>
              </a:spcAft>
              <a:buClr>
                <a:schemeClr val="dk1"/>
              </a:buClr>
              <a:buSzPts val="1100"/>
              <a:buFont typeface="Arial"/>
              <a:buNone/>
            </a:pPr>
            <a:r>
              <a:t/>
            </a:r>
            <a:endParaRPr sz="1300"/>
          </a:p>
          <a:p>
            <a:pPr indent="0" lvl="0" marL="0" rtl="0" algn="l">
              <a:spcBef>
                <a:spcPts val="0"/>
              </a:spcBef>
              <a:spcAft>
                <a:spcPts val="0"/>
              </a:spcAft>
              <a:buClr>
                <a:schemeClr val="dk1"/>
              </a:buClr>
              <a:buSzPts val="1100"/>
              <a:buFont typeface="Arial"/>
              <a:buNone/>
            </a:pPr>
            <a:r>
              <a:rPr lang="en-GB" sz="1300"/>
              <a:t>I am responsible for the macro analysis.</a:t>
            </a:r>
            <a:endParaRPr sz="1300"/>
          </a:p>
          <a:p>
            <a:pPr indent="0" lvl="0" marL="0" rtl="0" algn="l">
              <a:spcBef>
                <a:spcPts val="0"/>
              </a:spcBef>
              <a:spcAft>
                <a:spcPts val="0"/>
              </a:spcAft>
              <a:buClr>
                <a:schemeClr val="dk1"/>
              </a:buClr>
              <a:buSzPts val="1100"/>
              <a:buFont typeface="Arial"/>
              <a:buNone/>
            </a:pPr>
            <a:r>
              <a:t/>
            </a:r>
            <a:endParaRPr sz="1300"/>
          </a:p>
          <a:p>
            <a:pPr indent="0" lvl="0" marL="0" rtl="0" algn="l">
              <a:spcBef>
                <a:spcPts val="0"/>
              </a:spcBef>
              <a:spcAft>
                <a:spcPts val="0"/>
              </a:spcAft>
              <a:buClr>
                <a:schemeClr val="dk1"/>
              </a:buClr>
              <a:buSzPts val="1100"/>
              <a:buFont typeface="Arial"/>
              <a:buNone/>
            </a:pPr>
            <a:r>
              <a:rPr lang="en-GB" sz="1300"/>
              <a:t>First, PCE inflation came in lower than before.</a:t>
            </a:r>
            <a:endParaRPr sz="1300"/>
          </a:p>
          <a:p>
            <a:pPr indent="0" lvl="0" marL="0" rtl="0" algn="l">
              <a:spcBef>
                <a:spcPts val="0"/>
              </a:spcBef>
              <a:spcAft>
                <a:spcPts val="0"/>
              </a:spcAft>
              <a:buClr>
                <a:schemeClr val="dk1"/>
              </a:buClr>
              <a:buSzPts val="1100"/>
              <a:buFont typeface="Arial"/>
              <a:buNone/>
            </a:pPr>
            <a:r>
              <a:rPr lang="en-GB" sz="1300"/>
              <a:t>Core PCE was 0.2 percent and headline PCE was 0.4 percent.</a:t>
            </a:r>
            <a:endParaRPr sz="1300"/>
          </a:p>
          <a:p>
            <a:pPr indent="0" lvl="0" marL="0" rtl="0" algn="l">
              <a:spcBef>
                <a:spcPts val="0"/>
              </a:spcBef>
              <a:spcAft>
                <a:spcPts val="0"/>
              </a:spcAft>
              <a:buClr>
                <a:schemeClr val="dk1"/>
              </a:buClr>
              <a:buSzPts val="1100"/>
              <a:buFont typeface="Arial"/>
              <a:buNone/>
            </a:pPr>
            <a:r>
              <a:t/>
            </a:r>
            <a:endParaRPr sz="1300"/>
          </a:p>
          <a:p>
            <a:pPr indent="0" lvl="0" marL="0" rtl="0" algn="l">
              <a:spcBef>
                <a:spcPts val="0"/>
              </a:spcBef>
              <a:spcAft>
                <a:spcPts val="0"/>
              </a:spcAft>
              <a:buClr>
                <a:schemeClr val="dk1"/>
              </a:buClr>
              <a:buSzPts val="1100"/>
              <a:buFont typeface="Arial"/>
              <a:buNone/>
            </a:pPr>
            <a:r>
              <a:rPr lang="en-GB" sz="1300"/>
              <a:t>This suggests inflation is cooling down slowly.</a:t>
            </a:r>
            <a:endParaRPr sz="1300"/>
          </a:p>
          <a:p>
            <a:pPr indent="0" lvl="0" marL="0" rtl="0" algn="l">
              <a:spcBef>
                <a:spcPts val="0"/>
              </a:spcBef>
              <a:spcAft>
                <a:spcPts val="0"/>
              </a:spcAft>
              <a:buClr>
                <a:schemeClr val="dk1"/>
              </a:buClr>
              <a:buSzPts val="1100"/>
              <a:buFont typeface="Arial"/>
              <a:buNone/>
            </a:pPr>
            <a:r>
              <a:t/>
            </a:r>
            <a:endParaRPr sz="1300"/>
          </a:p>
          <a:p>
            <a:pPr indent="0" lvl="0" marL="0" rtl="0" algn="l">
              <a:spcBef>
                <a:spcPts val="0"/>
              </a:spcBef>
              <a:spcAft>
                <a:spcPts val="0"/>
              </a:spcAft>
              <a:buClr>
                <a:schemeClr val="dk1"/>
              </a:buClr>
              <a:buSzPts val="1100"/>
              <a:buFont typeface="Arial"/>
              <a:buNone/>
            </a:pPr>
            <a:r>
              <a:rPr lang="en-GB" sz="1300"/>
              <a:t>Second, Iran-related news is unverified.</a:t>
            </a:r>
            <a:endParaRPr sz="1300"/>
          </a:p>
          <a:p>
            <a:pPr indent="0" lvl="0" marL="0" rtl="0" algn="l">
              <a:spcBef>
                <a:spcPts val="0"/>
              </a:spcBef>
              <a:spcAft>
                <a:spcPts val="0"/>
              </a:spcAft>
              <a:buClr>
                <a:schemeClr val="dk1"/>
              </a:buClr>
              <a:buSzPts val="1100"/>
              <a:buFont typeface="Arial"/>
              <a:buNone/>
            </a:pPr>
            <a:r>
              <a:rPr lang="en-GB" sz="1300"/>
              <a:t>There was no major event that significantly affected the market this week.</a:t>
            </a:r>
            <a:endParaRPr sz="1300"/>
          </a:p>
          <a:p>
            <a:pPr indent="0" lvl="0" marL="0" rtl="0" algn="l">
              <a:spcBef>
                <a:spcPts val="0"/>
              </a:spcBef>
              <a:spcAft>
                <a:spcPts val="0"/>
              </a:spcAft>
              <a:buClr>
                <a:schemeClr val="dk1"/>
              </a:buClr>
              <a:buSzPts val="1100"/>
              <a:buFont typeface="Arial"/>
              <a:buNone/>
            </a:pPr>
            <a:r>
              <a:t/>
            </a:r>
            <a:endParaRPr sz="1300"/>
          </a:p>
          <a:p>
            <a:pPr indent="0" lvl="0" marL="0" rtl="0" algn="l">
              <a:spcBef>
                <a:spcPts val="0"/>
              </a:spcBef>
              <a:spcAft>
                <a:spcPts val="0"/>
              </a:spcAft>
              <a:buClr>
                <a:schemeClr val="dk1"/>
              </a:buClr>
              <a:buSzPts val="1100"/>
              <a:buFont typeface="Arial"/>
              <a:buNone/>
            </a:pPr>
            <a:r>
              <a:rPr lang="en-GB" sz="1300"/>
              <a:t>Overall, inflation looks better, and there was no major geopolitical shock.</a:t>
            </a:r>
            <a:endParaRPr sz="1300"/>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sz="1300"/>
              <a:t>Part 2:</a:t>
            </a:r>
            <a:endParaRPr sz="1300"/>
          </a:p>
          <a:p>
            <a:pPr indent="0" lvl="0" marL="0" rtl="0" algn="l">
              <a:spcBef>
                <a:spcPts val="0"/>
              </a:spcBef>
              <a:spcAft>
                <a:spcPts val="0"/>
              </a:spcAft>
              <a:buClr>
                <a:schemeClr val="dk1"/>
              </a:buClr>
              <a:buSzPts val="1100"/>
              <a:buFont typeface="Arial"/>
              <a:buNone/>
            </a:pPr>
            <a:r>
              <a:rPr lang="en-GB" sz="1300"/>
              <a:t>I will cover the market outlook.</a:t>
            </a:r>
            <a:endParaRPr sz="1300"/>
          </a:p>
          <a:p>
            <a:pPr indent="0" lvl="0" marL="0" rtl="0" algn="l">
              <a:spcBef>
                <a:spcPts val="0"/>
              </a:spcBef>
              <a:spcAft>
                <a:spcPts val="0"/>
              </a:spcAft>
              <a:buClr>
                <a:schemeClr val="dk1"/>
              </a:buClr>
              <a:buSzPts val="1100"/>
              <a:buFont typeface="Arial"/>
              <a:buNone/>
            </a:pPr>
            <a:r>
              <a:t/>
            </a:r>
            <a:endParaRPr sz="1300"/>
          </a:p>
          <a:p>
            <a:pPr indent="0" lvl="0" marL="0" rtl="0" algn="l">
              <a:spcBef>
                <a:spcPts val="0"/>
              </a:spcBef>
              <a:spcAft>
                <a:spcPts val="0"/>
              </a:spcAft>
              <a:buClr>
                <a:schemeClr val="dk1"/>
              </a:buClr>
              <a:buSzPts val="1100"/>
              <a:buFont typeface="Arial"/>
              <a:buNone/>
            </a:pPr>
            <a:r>
              <a:rPr lang="en-GB" sz="1300"/>
              <a:t>The US 10-year Treasury yield closed at about 4.44 percent.</a:t>
            </a:r>
            <a:endParaRPr sz="1300"/>
          </a:p>
          <a:p>
            <a:pPr indent="0" lvl="0" marL="0" rtl="0" algn="l">
              <a:spcBef>
                <a:spcPts val="0"/>
              </a:spcBef>
              <a:spcAft>
                <a:spcPts val="0"/>
              </a:spcAft>
              <a:buClr>
                <a:schemeClr val="dk1"/>
              </a:buClr>
              <a:buSzPts val="1100"/>
              <a:buFont typeface="Arial"/>
              <a:buNone/>
            </a:pPr>
            <a:r>
              <a:t/>
            </a:r>
            <a:endParaRPr sz="1300"/>
          </a:p>
          <a:p>
            <a:pPr indent="0" lvl="0" marL="0" rtl="0" algn="l">
              <a:spcBef>
                <a:spcPts val="0"/>
              </a:spcBef>
              <a:spcAft>
                <a:spcPts val="0"/>
              </a:spcAft>
              <a:buClr>
                <a:schemeClr val="dk1"/>
              </a:buClr>
              <a:buSzPts val="1100"/>
              <a:buFont typeface="Arial"/>
              <a:buNone/>
            </a:pPr>
            <a:r>
              <a:rPr lang="en-GB" sz="1300"/>
              <a:t>Although inflation is improving, yields remain high and continue to affect stock valuations.</a:t>
            </a:r>
            <a:endParaRPr sz="1300"/>
          </a:p>
          <a:p>
            <a:pPr indent="0" lvl="0" marL="0" rtl="0" algn="l">
              <a:spcBef>
                <a:spcPts val="0"/>
              </a:spcBef>
              <a:spcAft>
                <a:spcPts val="0"/>
              </a:spcAft>
              <a:buClr>
                <a:schemeClr val="dk1"/>
              </a:buClr>
              <a:buSzPts val="1100"/>
              <a:buFont typeface="Arial"/>
              <a:buNone/>
            </a:pPr>
            <a:r>
              <a:t/>
            </a:r>
            <a:endParaRPr sz="1300"/>
          </a:p>
          <a:p>
            <a:pPr indent="0" lvl="0" marL="0" rtl="0" algn="l">
              <a:spcBef>
                <a:spcPts val="0"/>
              </a:spcBef>
              <a:spcAft>
                <a:spcPts val="0"/>
              </a:spcAft>
              <a:buClr>
                <a:schemeClr val="dk1"/>
              </a:buClr>
              <a:buSzPts val="1100"/>
              <a:buFont typeface="Arial"/>
              <a:buNone/>
            </a:pPr>
            <a:r>
              <a:rPr lang="en-GB" sz="1300"/>
              <a:t>For next week, the most important event is the Non-Farm Payrolls report.</a:t>
            </a:r>
            <a:endParaRPr sz="1300"/>
          </a:p>
          <a:p>
            <a:pPr indent="0" lvl="0" marL="0" rtl="0" algn="l">
              <a:spcBef>
                <a:spcPts val="0"/>
              </a:spcBef>
              <a:spcAft>
                <a:spcPts val="0"/>
              </a:spcAft>
              <a:buClr>
                <a:schemeClr val="dk1"/>
              </a:buClr>
              <a:buSzPts val="1100"/>
              <a:buFont typeface="Arial"/>
              <a:buNone/>
            </a:pPr>
            <a:r>
              <a:t/>
            </a:r>
            <a:endParaRPr sz="1300"/>
          </a:p>
          <a:p>
            <a:pPr indent="0" lvl="0" marL="0" rtl="0" algn="l">
              <a:spcBef>
                <a:spcPts val="0"/>
              </a:spcBef>
              <a:spcAft>
                <a:spcPts val="0"/>
              </a:spcAft>
              <a:buClr>
                <a:schemeClr val="dk1"/>
              </a:buClr>
              <a:buSzPts val="1100"/>
              <a:buFont typeface="Arial"/>
              <a:buNone/>
            </a:pPr>
            <a:r>
              <a:rPr lang="en-GB" sz="1300"/>
              <a:t>If job growth is strong, the Fed may keep rates higher for longer.</a:t>
            </a:r>
            <a:endParaRPr sz="1300"/>
          </a:p>
          <a:p>
            <a:pPr indent="0" lvl="0" marL="0" rtl="0" algn="l">
              <a:spcBef>
                <a:spcPts val="0"/>
              </a:spcBef>
              <a:spcAft>
                <a:spcPts val="0"/>
              </a:spcAft>
              <a:buClr>
                <a:schemeClr val="dk1"/>
              </a:buClr>
              <a:buSzPts val="1100"/>
              <a:buFont typeface="Arial"/>
              <a:buNone/>
            </a:pPr>
            <a:r>
              <a:t/>
            </a:r>
            <a:endParaRPr sz="1300"/>
          </a:p>
          <a:p>
            <a:pPr indent="0" lvl="0" marL="0" rtl="0" algn="l">
              <a:spcBef>
                <a:spcPts val="0"/>
              </a:spcBef>
              <a:spcAft>
                <a:spcPts val="0"/>
              </a:spcAft>
              <a:buClr>
                <a:schemeClr val="dk1"/>
              </a:buClr>
              <a:buSzPts val="1100"/>
              <a:buFont typeface="Arial"/>
              <a:buNone/>
            </a:pPr>
            <a:r>
              <a:rPr lang="en-GB" sz="1300"/>
              <a:t>If job growth is weak, markets may expect future rate cuts.</a:t>
            </a:r>
            <a:endParaRPr sz="1300"/>
          </a:p>
          <a:p>
            <a:pPr indent="0" lvl="0" marL="0" rtl="0" algn="l">
              <a:spcBef>
                <a:spcPts val="0"/>
              </a:spcBef>
              <a:spcAft>
                <a:spcPts val="0"/>
              </a:spcAft>
              <a:buClr>
                <a:schemeClr val="dk1"/>
              </a:buClr>
              <a:buSzPts val="1100"/>
              <a:buFont typeface="Arial"/>
              <a:buNone/>
            </a:pPr>
            <a:r>
              <a:t/>
            </a:r>
            <a:endParaRPr sz="1300"/>
          </a:p>
          <a:p>
            <a:pPr indent="0" lvl="0" marL="0" rtl="0" algn="l">
              <a:spcBef>
                <a:spcPts val="0"/>
              </a:spcBef>
              <a:spcAft>
                <a:spcPts val="0"/>
              </a:spcAft>
              <a:buClr>
                <a:schemeClr val="dk1"/>
              </a:buClr>
              <a:buSzPts val="1100"/>
              <a:buFont typeface="Arial"/>
              <a:buNone/>
            </a:pPr>
            <a:r>
              <a:rPr lang="en-GB" sz="1300"/>
              <a:t>Therefore, NFP is our primary market driver for Week 23.</a:t>
            </a:r>
            <a:endParaRPr sz="1300"/>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ed1f604216_5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ed1f604216_5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ed1f604216_5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ed1f604216_5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H</a:t>
            </a:r>
            <a:r>
              <a:rPr lang="en-GB"/>
              <a:t>i,everyone! We have a clear 75% bullish majority. ChatGPT, Claude, and Gemini focus on immediate technical momentum, noting that the index remains structurally sound above core exponential moving averages. In contrast, DeepSeek serves as the strategic outlier, adopting a Neutral-Bearish outlook due to broader macro and seasonal constraints.</a:t>
            </a:r>
            <a:endParaRPr/>
          </a:p>
          <a:p>
            <a:pPr indent="0" lvl="0" marL="0" rtl="0" algn="l">
              <a:spcBef>
                <a:spcPts val="0"/>
              </a:spcBef>
              <a:spcAft>
                <a:spcPts val="0"/>
              </a:spcAft>
              <a:buClr>
                <a:schemeClr val="dk1"/>
              </a:buClr>
              <a:buSzPts val="1100"/>
              <a:buFont typeface="Arial"/>
              <a:buNone/>
            </a:pPr>
            <a:r>
              <a:rPr lang="en-GB"/>
              <a:t>Crucially, the engines achieve 100% consensus on three boundaries:</a:t>
            </a:r>
            <a:endParaRPr/>
          </a:p>
          <a:p>
            <a:pPr indent="-298450" lvl="0" marL="457200" rtl="0" algn="l">
              <a:spcBef>
                <a:spcPts val="0"/>
              </a:spcBef>
              <a:spcAft>
                <a:spcPts val="0"/>
              </a:spcAft>
              <a:buSzPts val="1100"/>
              <a:buChar char="●"/>
            </a:pPr>
            <a:r>
              <a:rPr b="1" lang="en-GB"/>
              <a:t>The Macro Pivot:</a:t>
            </a:r>
            <a:r>
              <a:rPr lang="en-GB"/>
              <a:t> The inflation report serves as the binary risk catalyst for Treasury yields.</a:t>
            </a:r>
            <a:endParaRPr/>
          </a:p>
          <a:p>
            <a:pPr indent="-298450" lvl="0" marL="457200" rtl="0" algn="l">
              <a:spcBef>
                <a:spcPts val="0"/>
              </a:spcBef>
              <a:spcAft>
                <a:spcPts val="0"/>
              </a:spcAft>
              <a:buSzPts val="1100"/>
              <a:buChar char="●"/>
            </a:pPr>
            <a:r>
              <a:rPr b="1" lang="en-GB"/>
              <a:t>The Technical Support:</a:t>
            </a:r>
            <a:r>
              <a:rPr lang="en-GB"/>
              <a:t> The short-term uptrend is protected as long as the index holds above the 8 and 21 EMAs.</a:t>
            </a:r>
            <a:endParaRPr/>
          </a:p>
          <a:p>
            <a:pPr indent="-298450" lvl="0" marL="457200" rtl="0" algn="l">
              <a:spcBef>
                <a:spcPts val="0"/>
              </a:spcBef>
              <a:spcAft>
                <a:spcPts val="0"/>
              </a:spcAft>
              <a:buSzPts val="1100"/>
              <a:buChar char="●"/>
            </a:pPr>
            <a:r>
              <a:rPr b="1" lang="en-GB"/>
              <a:t>The Trading Space:</a:t>
            </a:r>
            <a:r>
              <a:rPr lang="en-GB"/>
              <a:t> All models flag an identical expected range of 7,330 to 7,600 with Medium confidence.</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ed1f604216_5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ed1f604216_5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t>Our key human insight was that market leadership appeared relatively narrow. While the major indices remained positive, Utilities significantly outperformed while Energy, Financials, and Materials lagged. Combined with Midterm Election Year seasonal weakness, we believe this creates a more balanced risk-reward profile than the AI consensus suggests. This was the primary reason we maintained a Neutral rather than Neutral-Bullish outlook.</a:t>
            </a:r>
            <a:endParaRPr/>
          </a:p>
          <a:p>
            <a:pPr indent="0" lvl="0" marL="0" rtl="0" algn="l">
              <a:spcBef>
                <a:spcPts val="12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ed1f604216_5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ed1f604216_5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ed1f604216_5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ed1f604216_5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I am R10, the QA and Learning Log Lead.</a:t>
            </a:r>
            <a:endParaRPr/>
          </a:p>
          <a:p>
            <a:pPr indent="0" lvl="0" marL="0" rtl="0" algn="l">
              <a:spcBef>
                <a:spcPts val="0"/>
              </a:spcBef>
              <a:spcAft>
                <a:spcPts val="0"/>
              </a:spcAft>
              <a:buNone/>
            </a:pPr>
            <a:r>
              <a:rPr lang="en-GB"/>
              <a:t>This week, my job was to check our prediction quality through the calibration result and the LLM horse race.</a:t>
            </a:r>
            <a:endParaRPr/>
          </a:p>
          <a:p>
            <a:pPr indent="0" lvl="0" marL="0" rtl="0" algn="l">
              <a:spcBef>
                <a:spcPts val="0"/>
              </a:spcBef>
              <a:spcAft>
                <a:spcPts val="0"/>
              </a:spcAft>
              <a:buNone/>
            </a:pPr>
            <a:r>
              <a:rPr lang="en-GB"/>
              <a:t>For calibration, the actual results were SPX plus 0.22 percent, NDX plus 0.20 percent, and IWM minus 0.59 percent. SPX and NDX were hits, while IWM was a miss because the expected recovery did not happen.</a:t>
            </a:r>
            <a:endParaRPr/>
          </a:p>
          <a:p>
            <a:pPr indent="0" lvl="0" marL="0" rtl="0" algn="l">
              <a:spcBef>
                <a:spcPts val="0"/>
              </a:spcBef>
              <a:spcAft>
                <a:spcPts val="0"/>
              </a:spcAft>
              <a:buNone/>
            </a:pPr>
            <a:r>
              <a:rPr lang="en-GB"/>
              <a:t>For the LLM horse race, Claude was the closest model. Its Sideways to Up prediction best matched the slight SPX gain.</a:t>
            </a:r>
            <a:endParaRPr/>
          </a:p>
          <a:p>
            <a:pPr indent="0" lvl="0" marL="0" rtl="0" algn="l">
              <a:spcBef>
                <a:spcPts val="0"/>
              </a:spcBef>
              <a:spcAft>
                <a:spcPts val="0"/>
              </a:spcAft>
              <a:buNone/>
            </a:pPr>
            <a:r>
              <a:rPr lang="en-GB"/>
              <a:t>The main learning for Sprint 2 is that we should not rely only on AI consensus. Next sprint, we will compare AI consensus with the Human Score before finalising the forecast, and give more weight to market breadth and small-cap weakness.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github.com/LuJunwen212/CP3405-Project" TargetMode="Externa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CP3405 TR2 2026</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62500"/>
          </a:bodyPr>
          <a:lstStyle/>
          <a:p>
            <a:pPr indent="0" lvl="0" marL="0" rtl="0" algn="ctr">
              <a:spcBef>
                <a:spcPts val="0"/>
              </a:spcBef>
              <a:spcAft>
                <a:spcPts val="0"/>
              </a:spcAft>
              <a:buNone/>
            </a:pPr>
            <a:r>
              <a:rPr lang="en-GB"/>
              <a:t>Wenhan Hu, Yijie Kan, The Bao Le, Yu-Chu Lin, Junwen Lu, Guanyu Lu, Hamzah Nutt, Swan Htet Zaw, Hao Wang, Qinyang Wu, Zaikun Zheng, Yue Zhou</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R1 Product Owner</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Sprint goal: Produce a disciplined market prediction using seasonal, macro, technical, multi-LLM, and human judgment evidence.</a:t>
            </a:r>
            <a:endParaRPr/>
          </a:p>
          <a:p>
            <a:pPr indent="0" lvl="0" marL="0" rtl="0" algn="l">
              <a:spcBef>
                <a:spcPts val="1200"/>
              </a:spcBef>
              <a:spcAft>
                <a:spcPts val="0"/>
              </a:spcAft>
              <a:buNone/>
            </a:pPr>
            <a:r>
              <a:rPr lang="en-GB"/>
              <a:t>Last week score: No previous calibration yet. This sprint establishes the benchmark for future weeks.</a:t>
            </a:r>
            <a:endParaRPr/>
          </a:p>
          <a:p>
            <a:pPr indent="0" lvl="0" marL="0" rtl="0" algn="l">
              <a:spcBef>
                <a:spcPts val="1200"/>
              </a:spcBef>
              <a:spcAft>
                <a:spcPts val="1200"/>
              </a:spcAft>
              <a:buClr>
                <a:schemeClr val="dk1"/>
              </a:buClr>
              <a:buSzPts val="1100"/>
              <a:buFont typeface="Arial"/>
              <a:buNone/>
            </a:pPr>
            <a:r>
              <a:rPr lang="en-GB"/>
              <a:t>Key question: can momentum continue despite elevated yields and PCE inflation risk?</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151400"/>
            <a:ext cx="8902200" cy="32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R8 Data Lead</a:t>
            </a:r>
            <a:endParaRPr/>
          </a:p>
          <a:p>
            <a:pPr indent="0" lvl="0" marL="0" rtl="0" algn="l">
              <a:spcBef>
                <a:spcPts val="0"/>
              </a:spcBef>
              <a:spcAft>
                <a:spcPts val="0"/>
              </a:spcAft>
              <a:buNone/>
            </a:pPr>
            <a:r>
              <a:rPr lang="en-GB" sz="1467"/>
              <a:t>Week 22 Market Actuals &amp; Data Evidence Audit</a:t>
            </a:r>
            <a:r>
              <a:rPr lang="en-GB"/>
              <a:t> </a:t>
            </a:r>
            <a:r>
              <a:rPr lang="en-GB"/>
              <a:t> </a:t>
            </a:r>
            <a:endParaRPr/>
          </a:p>
        </p:txBody>
      </p:sp>
      <p:sp>
        <p:nvSpPr>
          <p:cNvPr id="67" name="Google Shape;67;p15"/>
          <p:cNvSpPr txBox="1"/>
          <p:nvPr>
            <p:ph idx="1" type="body"/>
          </p:nvPr>
        </p:nvSpPr>
        <p:spPr>
          <a:xfrm>
            <a:off x="250950" y="2662875"/>
            <a:ext cx="6016500" cy="3246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Clr>
                <a:schemeClr val="dk1"/>
              </a:buClr>
              <a:buSzPts val="523"/>
              <a:buFont typeface="Arial"/>
              <a:buNone/>
            </a:pPr>
            <a:r>
              <a:rPr lang="en-GB" sz="1355"/>
              <a:t>Right Column: Sector Performance &amp; Repository Compliance </a:t>
            </a:r>
            <a:endParaRPr sz="1355"/>
          </a:p>
        </p:txBody>
      </p:sp>
      <p:pic>
        <p:nvPicPr>
          <p:cNvPr id="68" name="Google Shape;68;p15"/>
          <p:cNvPicPr preferRelativeResize="0"/>
          <p:nvPr/>
        </p:nvPicPr>
        <p:blipFill>
          <a:blip r:embed="rId3">
            <a:alphaModFix/>
          </a:blip>
          <a:stretch>
            <a:fillRect/>
          </a:stretch>
        </p:blipFill>
        <p:spPr>
          <a:xfrm>
            <a:off x="311700" y="978524"/>
            <a:ext cx="7685999" cy="1593225"/>
          </a:xfrm>
          <a:prstGeom prst="rect">
            <a:avLst/>
          </a:prstGeom>
          <a:noFill/>
          <a:ln>
            <a:noFill/>
          </a:ln>
        </p:spPr>
      </p:pic>
      <p:sp>
        <p:nvSpPr>
          <p:cNvPr id="69" name="Google Shape;69;p15"/>
          <p:cNvSpPr txBox="1"/>
          <p:nvPr/>
        </p:nvSpPr>
        <p:spPr>
          <a:xfrm>
            <a:off x="324000" y="3007125"/>
            <a:ext cx="7786200" cy="718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GB" sz="1100">
                <a:solidFill>
                  <a:schemeClr val="dk1"/>
                </a:solidFill>
              </a:rPr>
              <a:t>S&amp;P 500 11 Sectors Leaderboard:</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sz="1100">
                <a:solidFill>
                  <a:schemeClr val="dk1"/>
                </a:solidFill>
              </a:rPr>
              <a:t>🏆 </a:t>
            </a:r>
            <a:r>
              <a:rPr b="1" lang="en-GB" sz="1100">
                <a:solidFill>
                  <a:schemeClr val="dk1"/>
                </a:solidFill>
              </a:rPr>
              <a:t>Top 3 Leaders:</a:t>
            </a:r>
            <a:r>
              <a:rPr lang="en-GB" sz="1100">
                <a:solidFill>
                  <a:schemeClr val="dk1"/>
                </a:solidFill>
              </a:rPr>
              <a:t> Utilities (XLU +2.15%), Communication Services (XLC +1.58%), Technology (XLK +1.12%)</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GB" sz="1100">
                <a:solidFill>
                  <a:schemeClr val="dk1"/>
                </a:solidFill>
              </a:rPr>
              <a:t>❌ </a:t>
            </a:r>
            <a:r>
              <a:rPr b="1" lang="en-GB" sz="1100">
                <a:solidFill>
                  <a:schemeClr val="dk1"/>
                </a:solidFill>
              </a:rPr>
              <a:t>Bottom 3 Laggards:</a:t>
            </a:r>
            <a:r>
              <a:rPr lang="en-GB" sz="1100">
                <a:solidFill>
                  <a:schemeClr val="dk1"/>
                </a:solidFill>
              </a:rPr>
              <a:t> Energy (XLE -2.40%), Financials (XLF -1.25%), Materials (XLB -1.10%)</a:t>
            </a:r>
            <a:endParaRPr sz="1100">
              <a:solidFill>
                <a:schemeClr val="dk1"/>
              </a:solidFill>
            </a:endParaRPr>
          </a:p>
          <a:p>
            <a:pPr indent="0" lvl="0" marL="0" rtl="0" algn="l">
              <a:spcBef>
                <a:spcPts val="1200"/>
              </a:spcBef>
              <a:spcAft>
                <a:spcPts val="0"/>
              </a:spcAft>
              <a:buNone/>
            </a:pPr>
            <a:r>
              <a:t/>
            </a:r>
            <a:endParaRPr sz="1800">
              <a:solidFill>
                <a:schemeClr val="dk2"/>
              </a:solidFill>
            </a:endParaRPr>
          </a:p>
        </p:txBody>
      </p:sp>
      <p:sp>
        <p:nvSpPr>
          <p:cNvPr id="70" name="Google Shape;70;p15"/>
          <p:cNvSpPr txBox="1"/>
          <p:nvPr/>
        </p:nvSpPr>
        <p:spPr>
          <a:xfrm>
            <a:off x="324000" y="3745575"/>
            <a:ext cx="4930800" cy="32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2"/>
                </a:solidFill>
              </a:rPr>
              <a:t>Data Integrity &amp; Audit Trail:</a:t>
            </a:r>
            <a:r>
              <a:rPr lang="en-GB" sz="1800">
                <a:solidFill>
                  <a:schemeClr val="dk2"/>
                </a:solidFill>
              </a:rPr>
              <a:t> </a:t>
            </a:r>
            <a:endParaRPr sz="1800">
              <a:solidFill>
                <a:schemeClr val="dk2"/>
              </a:solidFill>
            </a:endParaRPr>
          </a:p>
        </p:txBody>
      </p:sp>
      <p:sp>
        <p:nvSpPr>
          <p:cNvPr id="71" name="Google Shape;71;p15"/>
          <p:cNvSpPr txBox="1"/>
          <p:nvPr/>
        </p:nvSpPr>
        <p:spPr>
          <a:xfrm>
            <a:off x="324000" y="4161300"/>
            <a:ext cx="7786200" cy="78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100">
                <a:solidFill>
                  <a:schemeClr val="dk1"/>
                </a:solidFill>
              </a:rPr>
              <a:t>📸 </a:t>
            </a:r>
            <a:r>
              <a:rPr b="1" lang="en-GB" sz="1100">
                <a:solidFill>
                  <a:schemeClr val="dk1"/>
                </a:solidFill>
              </a:rPr>
              <a:t>Visual Evidence:</a:t>
            </a:r>
            <a:r>
              <a:rPr lang="en-GB" sz="1100">
                <a:solidFill>
                  <a:schemeClr val="dk1"/>
                </a:solidFill>
              </a:rPr>
              <a:t> Finviz 1W futures chart and Yahoo Finance 5D sector heatmap successfully captured post-market close.</a:t>
            </a:r>
            <a:endParaRPr sz="1100">
              <a:solidFill>
                <a:schemeClr val="dk1"/>
              </a:solidFill>
            </a:endParaRPr>
          </a:p>
          <a:p>
            <a:pPr indent="0" lvl="0" marL="0" rtl="0" algn="l">
              <a:spcBef>
                <a:spcPts val="0"/>
              </a:spcBef>
              <a:spcAft>
                <a:spcPts val="0"/>
              </a:spcAft>
              <a:buClr>
                <a:schemeClr val="dk1"/>
              </a:buClr>
              <a:buSzPts val="1100"/>
              <a:buFont typeface="Arial"/>
              <a:buNone/>
            </a:pPr>
            <a:r>
              <a:rPr lang="en-GB" sz="1100">
                <a:solidFill>
                  <a:schemeClr val="dk1"/>
                </a:solidFill>
              </a:rPr>
              <a:t>🗂️ </a:t>
            </a:r>
            <a:r>
              <a:rPr b="1" lang="en-GB" sz="1100">
                <a:solidFill>
                  <a:schemeClr val="dk1"/>
                </a:solidFill>
              </a:rPr>
              <a:t>GitHub Repository:</a:t>
            </a:r>
            <a:r>
              <a:rPr lang="en-GB" sz="1100">
                <a:solidFill>
                  <a:schemeClr val="dk1"/>
                </a:solidFill>
              </a:rPr>
              <a:t> Screenshots archived under </a:t>
            </a:r>
            <a:r>
              <a:rPr lang="en-GB" sz="1100">
                <a:solidFill>
                  <a:srgbClr val="188038"/>
                </a:solidFill>
                <a:latin typeface="Roboto Mono"/>
                <a:ea typeface="Roboto Mono"/>
                <a:cs typeface="Roboto Mono"/>
                <a:sym typeface="Roboto Mono"/>
              </a:rPr>
              <a:t>/evidence/screenshots/</a:t>
            </a:r>
            <a:r>
              <a:rPr lang="en-GB" sz="1100">
                <a:solidFill>
                  <a:schemeClr val="dk1"/>
                </a:solidFill>
              </a:rPr>
              <a:t>. The data file </a:t>
            </a:r>
            <a:r>
              <a:rPr lang="en-GB" sz="1100">
                <a:solidFill>
                  <a:srgbClr val="188038"/>
                </a:solidFill>
                <a:latin typeface="Roboto Mono"/>
                <a:ea typeface="Roboto Mono"/>
                <a:cs typeface="Roboto Mono"/>
                <a:sym typeface="Roboto Mono"/>
              </a:rPr>
              <a:t>actuals_2026-W22.md</a:t>
            </a:r>
            <a:r>
              <a:rPr lang="en-GB" sz="1100">
                <a:solidFill>
                  <a:schemeClr val="dk1"/>
                </a:solidFill>
              </a:rPr>
              <a:t> has been created and locked in the root directory.</a:t>
            </a:r>
            <a:endParaRPr sz="1100">
              <a:solidFill>
                <a:schemeClr val="dk1"/>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Seasonal Context for This Week (Almanac)</a:t>
            </a:r>
            <a:endParaRPr/>
          </a:p>
        </p:txBody>
      </p:sp>
      <p:sp>
        <p:nvSpPr>
          <p:cNvPr id="77" name="Google Shape;77;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GB"/>
              <a:t>Seasonal Patterns:</a:t>
            </a:r>
            <a:endParaRPr/>
          </a:p>
          <a:p>
            <a:pPr indent="-317183" lvl="0" marL="457200" rtl="0" algn="l">
              <a:spcBef>
                <a:spcPts val="1200"/>
              </a:spcBef>
              <a:spcAft>
                <a:spcPts val="0"/>
              </a:spcAft>
              <a:buSzPct val="100000"/>
              <a:buChar char="●"/>
            </a:pPr>
            <a:r>
              <a:rPr lang="en-GB"/>
              <a:t>Memorial Day week: Dow down 17 of last 29. Bearish lean. Pattern strength: MODERATE.</a:t>
            </a:r>
            <a:endParaRPr/>
          </a:p>
          <a:p>
            <a:pPr indent="-317183" lvl="0" marL="457200" rtl="0" algn="l">
              <a:spcBef>
                <a:spcPts val="0"/>
              </a:spcBef>
              <a:spcAft>
                <a:spcPts val="0"/>
              </a:spcAft>
              <a:buSzPct val="100000"/>
              <a:buChar char="●"/>
            </a:pPr>
            <a:r>
              <a:rPr lang="en-GB"/>
              <a:t>Day after Memorial Day (Tue 26 May): Dow down 8 of last 10. Recent trend bearish.</a:t>
            </a:r>
            <a:endParaRPr/>
          </a:p>
          <a:p>
            <a:pPr indent="-317183" lvl="0" marL="457200" rtl="0" algn="l">
              <a:spcBef>
                <a:spcPts val="0"/>
              </a:spcBef>
              <a:spcAft>
                <a:spcPts val="0"/>
              </a:spcAft>
              <a:buSzPct val="100000"/>
              <a:buChar char="●"/>
            </a:pPr>
            <a:r>
              <a:rPr lang="en-GB"/>
              <a:t>Week after options expiration: S&amp;P up 30 of 45, avg +0.40%. Bullish lean. Pattern strength: MODERATE.</a:t>
            </a:r>
            <a:endParaRPr/>
          </a:p>
          <a:p>
            <a:pPr indent="-317183" lvl="0" marL="457200" rtl="0" algn="l">
              <a:spcBef>
                <a:spcPts val="0"/>
              </a:spcBef>
              <a:spcAft>
                <a:spcPts val="0"/>
              </a:spcAft>
              <a:buSzPct val="100000"/>
              <a:buChar char="●"/>
            </a:pPr>
            <a:r>
              <a:rPr lang="en-GB"/>
              <a:t>These two patterns contradict each other. Net: mixed / slight bearish lean.</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GB"/>
              <a:t>Sector Signals:</a:t>
            </a:r>
            <a:endParaRPr/>
          </a:p>
          <a:p>
            <a:pPr indent="-317183" lvl="0" marL="457200" rtl="0" algn="l">
              <a:spcBef>
                <a:spcPts val="1200"/>
              </a:spcBef>
              <a:spcAft>
                <a:spcPts val="0"/>
              </a:spcAft>
              <a:buSzPct val="100000"/>
              <a:buChar char="●"/>
            </a:pPr>
            <a:r>
              <a:rPr lang="en-GB"/>
              <a:t>Banking: seasonal SHORT window (May–July). Avoid Financials seasonally.</a:t>
            </a:r>
            <a:endParaRPr/>
          </a:p>
          <a:p>
            <a:pPr indent="-317183" lvl="0" marL="457200" rtl="0" algn="l">
              <a:spcBef>
                <a:spcPts val="0"/>
              </a:spcBef>
              <a:spcAft>
                <a:spcPts val="0"/>
              </a:spcAft>
              <a:buSzPct val="100000"/>
              <a:buChar char="●"/>
            </a:pPr>
            <a:r>
              <a:rPr lang="en-GB"/>
              <a:t>Technology: still in seasonal LONG window (March–July). Supports tech/Nasdaq.</a:t>
            </a:r>
            <a:endParaRPr/>
          </a:p>
          <a:p>
            <a:pPr indent="-317183" lvl="0" marL="457200" rtl="0" algn="l">
              <a:spcBef>
                <a:spcPts val="0"/>
              </a:spcBef>
              <a:spcAft>
                <a:spcPts val="0"/>
              </a:spcAft>
              <a:buSzPct val="100000"/>
              <a:buChar char="●"/>
            </a:pPr>
            <a:r>
              <a:rPr lang="en-GB"/>
              <a:t>Gold/Silver: seasonal SHORT begins mid-May. Contradicts current elevated gold price.</a:t>
            </a:r>
            <a:endParaRPr/>
          </a:p>
          <a:p>
            <a:pPr indent="-317183" lvl="0" marL="457200" rtl="0" algn="l">
              <a:spcBef>
                <a:spcPts val="0"/>
              </a:spcBef>
              <a:spcAft>
                <a:spcPts val="0"/>
              </a:spcAft>
              <a:buSzPct val="100000"/>
              <a:buChar char="●"/>
            </a:pPr>
            <a:r>
              <a:rPr lang="en-GB"/>
              <a:t>Materials: seasonal SHORT (May–October). Consistent with last week's poor sector performance.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1206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R4 Macro Lead</a:t>
            </a:r>
            <a:endParaRPr/>
          </a:p>
        </p:txBody>
      </p:sp>
      <p:pic>
        <p:nvPicPr>
          <p:cNvPr id="83" name="Google Shape;83;p17" title="tradingeconomics_macrodata_part1_2026-W22.png.png"/>
          <p:cNvPicPr preferRelativeResize="0"/>
          <p:nvPr/>
        </p:nvPicPr>
        <p:blipFill>
          <a:blip r:embed="rId3">
            <a:alphaModFix/>
          </a:blip>
          <a:stretch>
            <a:fillRect/>
          </a:stretch>
        </p:blipFill>
        <p:spPr>
          <a:xfrm>
            <a:off x="370850" y="825875"/>
            <a:ext cx="3210062" cy="1867725"/>
          </a:xfrm>
          <a:prstGeom prst="rect">
            <a:avLst/>
          </a:prstGeom>
          <a:noFill/>
          <a:ln>
            <a:noFill/>
          </a:ln>
        </p:spPr>
      </p:pic>
      <p:pic>
        <p:nvPicPr>
          <p:cNvPr id="84" name="Google Shape;84;p17" title="treasury_yields_2026-W22.png.png"/>
          <p:cNvPicPr preferRelativeResize="0"/>
          <p:nvPr/>
        </p:nvPicPr>
        <p:blipFill>
          <a:blip r:embed="rId4">
            <a:alphaModFix/>
          </a:blip>
          <a:stretch>
            <a:fillRect/>
          </a:stretch>
        </p:blipFill>
        <p:spPr>
          <a:xfrm>
            <a:off x="257075" y="2897500"/>
            <a:ext cx="3323824" cy="2245999"/>
          </a:xfrm>
          <a:prstGeom prst="rect">
            <a:avLst/>
          </a:prstGeom>
          <a:noFill/>
          <a:ln>
            <a:noFill/>
          </a:ln>
        </p:spPr>
      </p:pic>
      <p:sp>
        <p:nvSpPr>
          <p:cNvPr id="85" name="Google Shape;85;p17"/>
          <p:cNvSpPr txBox="1"/>
          <p:nvPr/>
        </p:nvSpPr>
        <p:spPr>
          <a:xfrm>
            <a:off x="311700" y="591825"/>
            <a:ext cx="18600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700">
                <a:solidFill>
                  <a:schemeClr val="dk2"/>
                </a:solidFill>
              </a:rPr>
              <a:t>TradingEconomics PCE Data</a:t>
            </a:r>
            <a:endParaRPr sz="700">
              <a:solidFill>
                <a:schemeClr val="dk2"/>
              </a:solidFill>
            </a:endParaRPr>
          </a:p>
        </p:txBody>
      </p:sp>
      <p:sp>
        <p:nvSpPr>
          <p:cNvPr id="86" name="Google Shape;86;p17"/>
          <p:cNvSpPr txBox="1"/>
          <p:nvPr/>
        </p:nvSpPr>
        <p:spPr>
          <a:xfrm>
            <a:off x="370850" y="2693600"/>
            <a:ext cx="18600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700">
                <a:solidFill>
                  <a:schemeClr val="dk2"/>
                </a:solidFill>
              </a:rPr>
              <a:t>US Treasury Yield Curve</a:t>
            </a:r>
            <a:endParaRPr sz="700">
              <a:solidFill>
                <a:schemeClr val="dk2"/>
              </a:solidFill>
            </a:endParaRPr>
          </a:p>
        </p:txBody>
      </p:sp>
      <p:sp>
        <p:nvSpPr>
          <p:cNvPr id="87" name="Google Shape;87;p17"/>
          <p:cNvSpPr txBox="1"/>
          <p:nvPr/>
        </p:nvSpPr>
        <p:spPr>
          <a:xfrm>
            <a:off x="4615225" y="825875"/>
            <a:ext cx="3813000" cy="4186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GB" sz="1000">
                <a:solidFill>
                  <a:schemeClr val="dk2"/>
                </a:solidFill>
              </a:rPr>
              <a:t>PCE Result (Confirmed)</a:t>
            </a:r>
            <a:endParaRPr sz="1000">
              <a:solidFill>
                <a:schemeClr val="dk2"/>
              </a:solidFill>
            </a:endParaRPr>
          </a:p>
          <a:p>
            <a:pPr indent="0" lvl="0" marL="0" rtl="0" algn="l">
              <a:spcBef>
                <a:spcPts val="0"/>
              </a:spcBef>
              <a:spcAft>
                <a:spcPts val="0"/>
              </a:spcAft>
              <a:buClr>
                <a:schemeClr val="dk1"/>
              </a:buClr>
              <a:buSzPts val="1100"/>
              <a:buFont typeface="Arial"/>
              <a:buNone/>
            </a:pPr>
            <a:r>
              <a:t/>
            </a:r>
            <a:endParaRPr sz="1000">
              <a:solidFill>
                <a:schemeClr val="dk2"/>
              </a:solidFill>
            </a:endParaRPr>
          </a:p>
          <a:p>
            <a:pPr indent="0" lvl="0" marL="0" rtl="0" algn="l">
              <a:spcBef>
                <a:spcPts val="0"/>
              </a:spcBef>
              <a:spcAft>
                <a:spcPts val="0"/>
              </a:spcAft>
              <a:buClr>
                <a:schemeClr val="dk1"/>
              </a:buClr>
              <a:buSzPts val="1100"/>
              <a:buFont typeface="Arial"/>
              <a:buNone/>
            </a:pPr>
            <a:r>
              <a:rPr lang="en-GB" sz="1000">
                <a:solidFill>
                  <a:schemeClr val="dk2"/>
                </a:solidFill>
              </a:rPr>
              <a:t>• Core PCE MoM = 0.2%</a:t>
            </a:r>
            <a:endParaRPr sz="1000">
              <a:solidFill>
                <a:schemeClr val="dk2"/>
              </a:solidFill>
            </a:endParaRPr>
          </a:p>
          <a:p>
            <a:pPr indent="0" lvl="0" marL="0" rtl="0" algn="l">
              <a:spcBef>
                <a:spcPts val="0"/>
              </a:spcBef>
              <a:spcAft>
                <a:spcPts val="0"/>
              </a:spcAft>
              <a:buClr>
                <a:schemeClr val="dk1"/>
              </a:buClr>
              <a:buSzPts val="1100"/>
              <a:buFont typeface="Arial"/>
              <a:buNone/>
            </a:pPr>
            <a:r>
              <a:rPr lang="en-GB" sz="1000">
                <a:solidFill>
                  <a:schemeClr val="dk2"/>
                </a:solidFill>
              </a:rPr>
              <a:t>• Headline PCE MoM = 0.4%</a:t>
            </a:r>
            <a:endParaRPr sz="1000">
              <a:solidFill>
                <a:schemeClr val="dk2"/>
              </a:solidFill>
            </a:endParaRPr>
          </a:p>
          <a:p>
            <a:pPr indent="0" lvl="0" marL="0" rtl="0" algn="l">
              <a:spcBef>
                <a:spcPts val="0"/>
              </a:spcBef>
              <a:spcAft>
                <a:spcPts val="0"/>
              </a:spcAft>
              <a:buClr>
                <a:schemeClr val="dk1"/>
              </a:buClr>
              <a:buSzPts val="1100"/>
              <a:buFont typeface="Arial"/>
              <a:buNone/>
            </a:pPr>
            <a:r>
              <a:rPr lang="en-GB" sz="1000">
                <a:solidFill>
                  <a:schemeClr val="dk2"/>
                </a:solidFill>
              </a:rPr>
              <a:t>• Inflation pressures continue to moderate</a:t>
            </a:r>
            <a:endParaRPr sz="1000">
              <a:solidFill>
                <a:schemeClr val="dk2"/>
              </a:solidFill>
            </a:endParaRPr>
          </a:p>
          <a:p>
            <a:pPr indent="0" lvl="0" marL="0" rtl="0" algn="l">
              <a:spcBef>
                <a:spcPts val="0"/>
              </a:spcBef>
              <a:spcAft>
                <a:spcPts val="0"/>
              </a:spcAft>
              <a:buClr>
                <a:schemeClr val="dk1"/>
              </a:buClr>
              <a:buSzPts val="1100"/>
              <a:buFont typeface="Arial"/>
              <a:buNone/>
            </a:pPr>
            <a:r>
              <a:t/>
            </a:r>
            <a:endParaRPr sz="1000">
              <a:solidFill>
                <a:schemeClr val="dk2"/>
              </a:solidFill>
            </a:endParaRPr>
          </a:p>
          <a:p>
            <a:pPr indent="0" lvl="0" marL="0" rtl="0" algn="l">
              <a:spcBef>
                <a:spcPts val="0"/>
              </a:spcBef>
              <a:spcAft>
                <a:spcPts val="0"/>
              </a:spcAft>
              <a:buClr>
                <a:schemeClr val="dk1"/>
              </a:buClr>
              <a:buSzPts val="1100"/>
              <a:buFont typeface="Arial"/>
              <a:buNone/>
            </a:pPr>
            <a:r>
              <a:t/>
            </a:r>
            <a:endParaRPr sz="1000">
              <a:solidFill>
                <a:schemeClr val="dk2"/>
              </a:solidFill>
            </a:endParaRPr>
          </a:p>
          <a:p>
            <a:pPr indent="0" lvl="0" marL="0" rtl="0" algn="l">
              <a:spcBef>
                <a:spcPts val="0"/>
              </a:spcBef>
              <a:spcAft>
                <a:spcPts val="0"/>
              </a:spcAft>
              <a:buClr>
                <a:schemeClr val="dk1"/>
              </a:buClr>
              <a:buSzPts val="1100"/>
              <a:buFont typeface="Arial"/>
              <a:buNone/>
            </a:pPr>
            <a:r>
              <a:rPr lang="en-GB" sz="1000">
                <a:solidFill>
                  <a:schemeClr val="dk2"/>
                </a:solidFill>
              </a:rPr>
              <a:t>Iran Status (Unverified)</a:t>
            </a:r>
            <a:endParaRPr sz="1000">
              <a:solidFill>
                <a:schemeClr val="dk2"/>
              </a:solidFill>
            </a:endParaRPr>
          </a:p>
          <a:p>
            <a:pPr indent="0" lvl="0" marL="0" rtl="0" algn="l">
              <a:spcBef>
                <a:spcPts val="0"/>
              </a:spcBef>
              <a:spcAft>
                <a:spcPts val="0"/>
              </a:spcAft>
              <a:buClr>
                <a:schemeClr val="dk1"/>
              </a:buClr>
              <a:buSzPts val="1100"/>
              <a:buFont typeface="Arial"/>
              <a:buNone/>
            </a:pPr>
            <a:r>
              <a:t/>
            </a:r>
            <a:endParaRPr sz="1000">
              <a:solidFill>
                <a:schemeClr val="dk2"/>
              </a:solidFill>
            </a:endParaRPr>
          </a:p>
          <a:p>
            <a:pPr indent="0" lvl="0" marL="0" rtl="0" algn="l">
              <a:spcBef>
                <a:spcPts val="0"/>
              </a:spcBef>
              <a:spcAft>
                <a:spcPts val="0"/>
              </a:spcAft>
              <a:buClr>
                <a:schemeClr val="dk1"/>
              </a:buClr>
              <a:buSzPts val="1100"/>
              <a:buFont typeface="Arial"/>
              <a:buNone/>
            </a:pPr>
            <a:r>
              <a:rPr lang="en-GB" sz="1000">
                <a:solidFill>
                  <a:schemeClr val="dk2"/>
                </a:solidFill>
              </a:rPr>
              <a:t>• No confirmed escalation affecting global markets</a:t>
            </a:r>
            <a:endParaRPr sz="1000">
              <a:solidFill>
                <a:schemeClr val="dk2"/>
              </a:solidFill>
            </a:endParaRPr>
          </a:p>
          <a:p>
            <a:pPr indent="0" lvl="0" marL="0" rtl="0" algn="l">
              <a:spcBef>
                <a:spcPts val="0"/>
              </a:spcBef>
              <a:spcAft>
                <a:spcPts val="0"/>
              </a:spcAft>
              <a:buClr>
                <a:schemeClr val="dk1"/>
              </a:buClr>
              <a:buSzPts val="1100"/>
              <a:buFont typeface="Arial"/>
              <a:buNone/>
            </a:pPr>
            <a:r>
              <a:rPr lang="en-GB" sz="1000">
                <a:solidFill>
                  <a:schemeClr val="dk2"/>
                </a:solidFill>
              </a:rPr>
              <a:t>• Energy supply disruption risk remains limited</a:t>
            </a:r>
            <a:endParaRPr sz="1000">
              <a:solidFill>
                <a:schemeClr val="dk2"/>
              </a:solidFill>
            </a:endParaRPr>
          </a:p>
          <a:p>
            <a:pPr indent="0" lvl="0" marL="0" rtl="0" algn="l">
              <a:spcBef>
                <a:spcPts val="0"/>
              </a:spcBef>
              <a:spcAft>
                <a:spcPts val="0"/>
              </a:spcAft>
              <a:buClr>
                <a:schemeClr val="dk1"/>
              </a:buClr>
              <a:buSzPts val="1100"/>
              <a:buFont typeface="Arial"/>
              <a:buNone/>
            </a:pPr>
            <a:r>
              <a:t/>
            </a:r>
            <a:endParaRPr sz="1000">
              <a:solidFill>
                <a:schemeClr val="dk2"/>
              </a:solidFill>
            </a:endParaRPr>
          </a:p>
          <a:p>
            <a:pPr indent="0" lvl="0" marL="0" rtl="0" algn="l">
              <a:spcBef>
                <a:spcPts val="0"/>
              </a:spcBef>
              <a:spcAft>
                <a:spcPts val="0"/>
              </a:spcAft>
              <a:buClr>
                <a:schemeClr val="dk1"/>
              </a:buClr>
              <a:buSzPts val="1100"/>
              <a:buFont typeface="Arial"/>
              <a:buNone/>
            </a:pPr>
            <a:r>
              <a:t/>
            </a:r>
            <a:endParaRPr sz="1000">
              <a:solidFill>
                <a:schemeClr val="dk2"/>
              </a:solidFill>
            </a:endParaRPr>
          </a:p>
          <a:p>
            <a:pPr indent="0" lvl="0" marL="0" rtl="0" algn="l">
              <a:spcBef>
                <a:spcPts val="0"/>
              </a:spcBef>
              <a:spcAft>
                <a:spcPts val="0"/>
              </a:spcAft>
              <a:buClr>
                <a:schemeClr val="dk1"/>
              </a:buClr>
              <a:buSzPts val="1100"/>
              <a:buFont typeface="Arial"/>
              <a:buNone/>
            </a:pPr>
            <a:r>
              <a:rPr lang="en-GB" sz="1000">
                <a:solidFill>
                  <a:schemeClr val="dk2"/>
                </a:solidFill>
              </a:rPr>
              <a:t>US 10Y Treasury Yield (Confirmed)</a:t>
            </a:r>
            <a:endParaRPr sz="1000">
              <a:solidFill>
                <a:schemeClr val="dk2"/>
              </a:solidFill>
            </a:endParaRPr>
          </a:p>
          <a:p>
            <a:pPr indent="0" lvl="0" marL="0" rtl="0" algn="l">
              <a:spcBef>
                <a:spcPts val="0"/>
              </a:spcBef>
              <a:spcAft>
                <a:spcPts val="0"/>
              </a:spcAft>
              <a:buClr>
                <a:schemeClr val="dk1"/>
              </a:buClr>
              <a:buSzPts val="1100"/>
              <a:buFont typeface="Arial"/>
              <a:buNone/>
            </a:pPr>
            <a:r>
              <a:t/>
            </a:r>
            <a:endParaRPr sz="1000">
              <a:solidFill>
                <a:schemeClr val="dk2"/>
              </a:solidFill>
            </a:endParaRPr>
          </a:p>
          <a:p>
            <a:pPr indent="0" lvl="0" marL="0" rtl="0" algn="l">
              <a:spcBef>
                <a:spcPts val="0"/>
              </a:spcBef>
              <a:spcAft>
                <a:spcPts val="0"/>
              </a:spcAft>
              <a:buClr>
                <a:schemeClr val="dk1"/>
              </a:buClr>
              <a:buSzPts val="1100"/>
              <a:buFont typeface="Arial"/>
              <a:buNone/>
            </a:pPr>
            <a:r>
              <a:rPr lang="en-GB" sz="1000">
                <a:solidFill>
                  <a:schemeClr val="dk2"/>
                </a:solidFill>
              </a:rPr>
              <a:t>• US 10Y Yield = 4.44%</a:t>
            </a:r>
            <a:endParaRPr sz="1000">
              <a:solidFill>
                <a:schemeClr val="dk2"/>
              </a:solidFill>
            </a:endParaRPr>
          </a:p>
          <a:p>
            <a:pPr indent="0" lvl="0" marL="0" rtl="0" algn="l">
              <a:spcBef>
                <a:spcPts val="0"/>
              </a:spcBef>
              <a:spcAft>
                <a:spcPts val="0"/>
              </a:spcAft>
              <a:buClr>
                <a:schemeClr val="dk1"/>
              </a:buClr>
              <a:buSzPts val="1100"/>
              <a:buFont typeface="Arial"/>
              <a:buNone/>
            </a:pPr>
            <a:r>
              <a:rPr lang="en-GB" sz="1000">
                <a:solidFill>
                  <a:schemeClr val="dk2"/>
                </a:solidFill>
              </a:rPr>
              <a:t>• Elevated yields continue to pressure valuations</a:t>
            </a:r>
            <a:endParaRPr sz="1000">
              <a:solidFill>
                <a:schemeClr val="dk2"/>
              </a:solidFill>
            </a:endParaRPr>
          </a:p>
          <a:p>
            <a:pPr indent="0" lvl="0" marL="0" rtl="0" algn="l">
              <a:spcBef>
                <a:spcPts val="0"/>
              </a:spcBef>
              <a:spcAft>
                <a:spcPts val="0"/>
              </a:spcAft>
              <a:buClr>
                <a:schemeClr val="dk1"/>
              </a:buClr>
              <a:buSzPts val="1100"/>
              <a:buFont typeface="Arial"/>
              <a:buNone/>
            </a:pPr>
            <a:r>
              <a:t/>
            </a:r>
            <a:endParaRPr sz="1000">
              <a:solidFill>
                <a:schemeClr val="dk2"/>
              </a:solidFill>
            </a:endParaRPr>
          </a:p>
          <a:p>
            <a:pPr indent="0" lvl="0" marL="0" rtl="0" algn="l">
              <a:spcBef>
                <a:spcPts val="0"/>
              </a:spcBef>
              <a:spcAft>
                <a:spcPts val="0"/>
              </a:spcAft>
              <a:buClr>
                <a:schemeClr val="dk1"/>
              </a:buClr>
              <a:buSzPts val="1100"/>
              <a:buFont typeface="Arial"/>
              <a:buNone/>
            </a:pPr>
            <a:r>
              <a:t/>
            </a:r>
            <a:endParaRPr sz="1000">
              <a:solidFill>
                <a:schemeClr val="dk2"/>
              </a:solidFill>
            </a:endParaRPr>
          </a:p>
          <a:p>
            <a:pPr indent="0" lvl="0" marL="0" rtl="0" algn="l">
              <a:spcBef>
                <a:spcPts val="0"/>
              </a:spcBef>
              <a:spcAft>
                <a:spcPts val="0"/>
              </a:spcAft>
              <a:buClr>
                <a:schemeClr val="dk1"/>
              </a:buClr>
              <a:buSzPts val="1100"/>
              <a:buFont typeface="Arial"/>
              <a:buNone/>
            </a:pPr>
            <a:r>
              <a:rPr lang="en-GB" sz="1000">
                <a:solidFill>
                  <a:schemeClr val="dk2"/>
                </a:solidFill>
              </a:rPr>
              <a:t>Week 23 Primary Driver (Confirmed)</a:t>
            </a:r>
            <a:endParaRPr sz="1000">
              <a:solidFill>
                <a:schemeClr val="dk2"/>
              </a:solidFill>
            </a:endParaRPr>
          </a:p>
          <a:p>
            <a:pPr indent="0" lvl="0" marL="0" rtl="0" algn="l">
              <a:spcBef>
                <a:spcPts val="0"/>
              </a:spcBef>
              <a:spcAft>
                <a:spcPts val="0"/>
              </a:spcAft>
              <a:buClr>
                <a:schemeClr val="dk1"/>
              </a:buClr>
              <a:buSzPts val="1100"/>
              <a:buFont typeface="Arial"/>
              <a:buNone/>
            </a:pPr>
            <a:r>
              <a:t/>
            </a:r>
            <a:endParaRPr sz="1000">
              <a:solidFill>
                <a:schemeClr val="dk2"/>
              </a:solidFill>
            </a:endParaRPr>
          </a:p>
          <a:p>
            <a:pPr indent="0" lvl="0" marL="0" rtl="0" algn="l">
              <a:spcBef>
                <a:spcPts val="0"/>
              </a:spcBef>
              <a:spcAft>
                <a:spcPts val="0"/>
              </a:spcAft>
              <a:buClr>
                <a:schemeClr val="dk1"/>
              </a:buClr>
              <a:buSzPts val="1100"/>
              <a:buFont typeface="Arial"/>
              <a:buNone/>
            </a:pPr>
            <a:r>
              <a:rPr lang="en-GB" sz="1000">
                <a:solidFill>
                  <a:schemeClr val="dk2"/>
                </a:solidFill>
              </a:rPr>
              <a:t>• Non-Farm Payrolls (NFP)</a:t>
            </a:r>
            <a:endParaRPr sz="1000">
              <a:solidFill>
                <a:schemeClr val="dk2"/>
              </a:solidFill>
            </a:endParaRPr>
          </a:p>
          <a:p>
            <a:pPr indent="0" lvl="0" marL="0" rtl="0" algn="l">
              <a:spcBef>
                <a:spcPts val="0"/>
              </a:spcBef>
              <a:spcAft>
                <a:spcPts val="0"/>
              </a:spcAft>
              <a:buClr>
                <a:schemeClr val="dk1"/>
              </a:buClr>
              <a:buSzPts val="1100"/>
              <a:buFont typeface="Arial"/>
              <a:buNone/>
            </a:pPr>
            <a:r>
              <a:rPr lang="en-GB" sz="1000">
                <a:solidFill>
                  <a:schemeClr val="dk2"/>
                </a:solidFill>
              </a:rPr>
              <a:t>• Key catalyst for Fed expectations</a:t>
            </a:r>
            <a:endParaRPr sz="1000">
              <a:solidFill>
                <a:schemeClr val="dk2"/>
              </a:solidFill>
            </a:endParaRPr>
          </a:p>
          <a:p>
            <a:pPr indent="0" lvl="0" marL="0" rtl="0" algn="l">
              <a:spcBef>
                <a:spcPts val="0"/>
              </a:spcBef>
              <a:spcAft>
                <a:spcPts val="0"/>
              </a:spcAft>
              <a:buClr>
                <a:schemeClr val="dk1"/>
              </a:buClr>
              <a:buSzPts val="1100"/>
              <a:buFont typeface="Arial"/>
              <a:buNone/>
            </a:pPr>
            <a:r>
              <a:rPr lang="en-GB" sz="1000">
                <a:solidFill>
                  <a:schemeClr val="dk2"/>
                </a:solidFill>
              </a:rPr>
              <a:t>• Strong NFP = bearish for rate cuts</a:t>
            </a:r>
            <a:endParaRPr sz="1000">
              <a:solidFill>
                <a:schemeClr val="dk2"/>
              </a:solidFill>
            </a:endParaRPr>
          </a:p>
          <a:p>
            <a:pPr indent="0" lvl="0" marL="0" rtl="0" algn="l">
              <a:spcBef>
                <a:spcPts val="0"/>
              </a:spcBef>
              <a:spcAft>
                <a:spcPts val="0"/>
              </a:spcAft>
              <a:buClr>
                <a:schemeClr val="dk1"/>
              </a:buClr>
              <a:buSzPts val="1100"/>
              <a:buFont typeface="Arial"/>
              <a:buNone/>
            </a:pPr>
            <a:r>
              <a:rPr lang="en-GB" sz="1000">
                <a:solidFill>
                  <a:schemeClr val="dk2"/>
                </a:solidFill>
              </a:rPr>
              <a:t>• Weak NFP = supportive for equities</a:t>
            </a:r>
            <a:endParaRPr sz="1000">
              <a:solidFill>
                <a:schemeClr val="dk2"/>
              </a:solidFill>
            </a:endParaRPr>
          </a:p>
          <a:p>
            <a:pPr indent="0" lvl="0" marL="0" rtl="0" algn="l">
              <a:spcBef>
                <a:spcPts val="0"/>
              </a:spcBef>
              <a:spcAft>
                <a:spcPts val="0"/>
              </a:spcAft>
              <a:buNone/>
            </a:pPr>
            <a:r>
              <a:t/>
            </a:r>
            <a:endParaRPr sz="10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R5 Technical Lead</a:t>
            </a:r>
            <a:endParaRPr/>
          </a:p>
        </p:txBody>
      </p:sp>
      <p:sp>
        <p:nvSpPr>
          <p:cNvPr id="93" name="Google Shape;93;p18"/>
          <p:cNvSpPr txBox="1"/>
          <p:nvPr>
            <p:ph idx="1" type="body"/>
          </p:nvPr>
        </p:nvSpPr>
        <p:spPr>
          <a:xfrm>
            <a:off x="253025" y="927550"/>
            <a:ext cx="8520600" cy="34164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n-GB"/>
              <a:t>Annotated SPX chart screenshot. EMA zone. Key levels.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GB"/>
              <a:t>Speaker note must include:</a:t>
            </a:r>
            <a:endParaRPr/>
          </a:p>
          <a:p>
            <a:pPr indent="0" lvl="0" marL="0" rtl="0" algn="l">
              <a:spcBef>
                <a:spcPts val="1200"/>
              </a:spcBef>
              <a:spcAft>
                <a:spcPts val="0"/>
              </a:spcAft>
              <a:buClr>
                <a:schemeClr val="dk1"/>
              </a:buClr>
              <a:buSzPct val="61111"/>
              <a:buFont typeface="Arial"/>
              <a:buNone/>
            </a:pPr>
            <a:r>
              <a:rPr lang="en-GB"/>
              <a:t>State specific invalidation level</a:t>
            </a:r>
            <a:endParaRPr/>
          </a:p>
          <a:p>
            <a:pPr indent="0" lvl="0" marL="0" rtl="0" algn="l">
              <a:spcBef>
                <a:spcPts val="1200"/>
              </a:spcBef>
              <a:spcAft>
                <a:spcPts val="0"/>
              </a:spcAft>
              <a:buClr>
                <a:schemeClr val="dk1"/>
              </a:buClr>
              <a:buSzPct val="61111"/>
              <a:buFont typeface="Arial"/>
              <a:buNone/>
            </a:pPr>
            <a:r>
              <a:rPr lang="en-GB"/>
              <a:t>The SPX remains above the EMA support zone, indicating a bullish trend.</a:t>
            </a:r>
            <a:endParaRPr/>
          </a:p>
          <a:p>
            <a:pPr indent="0" lvl="0" marL="0" rtl="0" algn="l">
              <a:spcBef>
                <a:spcPts val="0"/>
              </a:spcBef>
              <a:spcAft>
                <a:spcPts val="0"/>
              </a:spcAft>
              <a:buClr>
                <a:schemeClr val="dk1"/>
              </a:buClr>
              <a:buSzPct val="61111"/>
              <a:buFont typeface="Arial"/>
              <a:buNone/>
            </a:pPr>
            <a:r>
              <a:t/>
            </a:r>
            <a:endParaRPr/>
          </a:p>
          <a:p>
            <a:pPr indent="0" lvl="0" marL="0" rtl="0" algn="l">
              <a:spcBef>
                <a:spcPts val="0"/>
              </a:spcBef>
              <a:spcAft>
                <a:spcPts val="0"/>
              </a:spcAft>
              <a:buClr>
                <a:schemeClr val="dk1"/>
              </a:buClr>
              <a:buSzPct val="61111"/>
              <a:buFont typeface="Arial"/>
              <a:buNone/>
            </a:pPr>
            <a:r>
              <a:rPr lang="en-GB"/>
              <a:t>Key resistance is located at 6500 while support is located at 6300.</a:t>
            </a:r>
            <a:endParaRPr/>
          </a:p>
          <a:p>
            <a:pPr indent="0" lvl="0" marL="0" rtl="0" algn="l">
              <a:spcBef>
                <a:spcPts val="0"/>
              </a:spcBef>
              <a:spcAft>
                <a:spcPts val="0"/>
              </a:spcAft>
              <a:buClr>
                <a:schemeClr val="dk1"/>
              </a:buClr>
              <a:buSzPct val="61111"/>
              <a:buFont typeface="Arial"/>
              <a:buNone/>
            </a:pPr>
            <a:r>
              <a:t/>
            </a:r>
            <a:endParaRPr/>
          </a:p>
          <a:p>
            <a:pPr indent="0" lvl="0" marL="0" rtl="0" algn="l">
              <a:spcBef>
                <a:spcPts val="0"/>
              </a:spcBef>
              <a:spcAft>
                <a:spcPts val="0"/>
              </a:spcAft>
              <a:buClr>
                <a:schemeClr val="dk1"/>
              </a:buClr>
              <a:buSzPct val="61111"/>
              <a:buFont typeface="Arial"/>
              <a:buNone/>
            </a:pPr>
            <a:r>
              <a:rPr lang="en-GB"/>
              <a:t>My trade thesis remains valid as long as price stays above 6300.</a:t>
            </a:r>
            <a:endParaRPr/>
          </a:p>
          <a:p>
            <a:pPr indent="0" lvl="0" marL="0" rtl="0" algn="l">
              <a:spcBef>
                <a:spcPts val="0"/>
              </a:spcBef>
              <a:spcAft>
                <a:spcPts val="0"/>
              </a:spcAft>
              <a:buClr>
                <a:schemeClr val="dk1"/>
              </a:buClr>
              <a:buSzPct val="61111"/>
              <a:buFont typeface="Arial"/>
              <a:buNone/>
            </a:pPr>
            <a:r>
              <a:t/>
            </a:r>
            <a:endParaRPr/>
          </a:p>
          <a:p>
            <a:pPr indent="0" lvl="0" marL="0" rtl="0" algn="l">
              <a:spcBef>
                <a:spcPts val="0"/>
              </a:spcBef>
              <a:spcAft>
                <a:spcPts val="0"/>
              </a:spcAft>
              <a:buClr>
                <a:schemeClr val="dk1"/>
              </a:buClr>
              <a:buSzPct val="61111"/>
              <a:buFont typeface="Arial"/>
              <a:buNone/>
            </a:pPr>
            <a:r>
              <a:rPr lang="en-GB"/>
              <a:t>Invalidation level: 6300.</a:t>
            </a:r>
            <a:endParaRPr/>
          </a:p>
          <a:p>
            <a:pPr indent="0" lvl="0" marL="0" rtl="0" algn="l">
              <a:spcBef>
                <a:spcPts val="0"/>
              </a:spcBef>
              <a:spcAft>
                <a:spcPts val="0"/>
              </a:spcAft>
              <a:buClr>
                <a:schemeClr val="dk1"/>
              </a:buClr>
              <a:buSzPct val="61111"/>
              <a:buFont typeface="Arial"/>
              <a:buNone/>
            </a:pPr>
            <a:r>
              <a:t/>
            </a:r>
            <a:endParaRPr/>
          </a:p>
          <a:p>
            <a:pPr indent="0" lvl="0" marL="0" rtl="0" algn="l">
              <a:spcBef>
                <a:spcPts val="0"/>
              </a:spcBef>
              <a:spcAft>
                <a:spcPts val="0"/>
              </a:spcAft>
              <a:buClr>
                <a:schemeClr val="dk1"/>
              </a:buClr>
              <a:buSzPct val="61111"/>
              <a:buFont typeface="Arial"/>
              <a:buNone/>
            </a:pPr>
            <a:r>
              <a:rPr lang="en-GB"/>
              <a:t>If price closes below 6300, the bullish setup is invalidated and the analysis will need to be reassessed.</a:t>
            </a:r>
            <a:endParaRPr/>
          </a:p>
          <a:p>
            <a:pPr indent="0" lvl="0" marL="0" rtl="0" algn="l">
              <a:spcBef>
                <a:spcPts val="0"/>
              </a:spcBef>
              <a:spcAft>
                <a:spcPts val="1200"/>
              </a:spcAft>
              <a:buClr>
                <a:schemeClr val="dk1"/>
              </a:buClr>
              <a:buSzPct val="61111"/>
              <a:buFont typeface="Arial"/>
              <a:buNone/>
            </a:pPr>
            <a:r>
              <a:t/>
            </a:r>
            <a:endParaRPr/>
          </a:p>
        </p:txBody>
      </p:sp>
      <p:pic>
        <p:nvPicPr>
          <p:cNvPr id="94" name="Google Shape;94;p18" title="SPX.png"/>
          <p:cNvPicPr preferRelativeResize="0"/>
          <p:nvPr/>
        </p:nvPicPr>
        <p:blipFill>
          <a:blip r:embed="rId3">
            <a:alphaModFix/>
          </a:blip>
          <a:stretch>
            <a:fillRect/>
          </a:stretch>
        </p:blipFill>
        <p:spPr>
          <a:xfrm>
            <a:off x="5750304" y="1330451"/>
            <a:ext cx="3148124" cy="23180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121200" y="78675"/>
            <a:ext cx="2665200" cy="496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R6 LLM Operator</a:t>
            </a:r>
            <a:endParaRPr/>
          </a:p>
        </p:txBody>
      </p:sp>
      <p:sp>
        <p:nvSpPr>
          <p:cNvPr id="100" name="Google Shape;100;p19"/>
          <p:cNvSpPr txBox="1"/>
          <p:nvPr>
            <p:ph idx="1" type="body"/>
          </p:nvPr>
        </p:nvSpPr>
        <p:spPr>
          <a:xfrm>
            <a:off x="190825" y="3395275"/>
            <a:ext cx="3957300" cy="1697100"/>
          </a:xfrm>
          <a:prstGeom prst="rect">
            <a:avLst/>
          </a:prstGeom>
          <a:ln cap="flat" cmpd="sng" w="19050">
            <a:solidFill>
              <a:srgbClr val="188038"/>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GB" sz="1000">
                <a:solidFill>
                  <a:srgbClr val="274E13"/>
                </a:solidFill>
              </a:rPr>
              <a:t>Core Consensus</a:t>
            </a:r>
            <a:endParaRPr b="1" sz="1000">
              <a:solidFill>
                <a:srgbClr val="274E13"/>
              </a:solidFill>
            </a:endParaRPr>
          </a:p>
          <a:p>
            <a:pPr indent="-292100" lvl="0" marL="457200" rtl="0" algn="l">
              <a:lnSpc>
                <a:spcPct val="100000"/>
              </a:lnSpc>
              <a:spcBef>
                <a:spcPts val="1200"/>
              </a:spcBef>
              <a:spcAft>
                <a:spcPts val="0"/>
              </a:spcAft>
              <a:buClr>
                <a:srgbClr val="000000"/>
              </a:buClr>
              <a:buSzPts val="1000"/>
              <a:buChar char="●"/>
            </a:pPr>
            <a:r>
              <a:rPr b="1" lang="en-GB" sz="1000">
                <a:solidFill>
                  <a:srgbClr val="000000"/>
                </a:solidFill>
              </a:rPr>
              <a:t>Macro Pivot:</a:t>
            </a:r>
            <a:r>
              <a:rPr lang="en-GB" sz="1000">
                <a:solidFill>
                  <a:srgbClr val="000000"/>
                </a:solidFill>
              </a:rPr>
              <a:t> Core PCE acts as the absolute binary risk catalyst for yields.</a:t>
            </a:r>
            <a:endParaRPr sz="1000">
              <a:solidFill>
                <a:srgbClr val="000000"/>
              </a:solidFill>
            </a:endParaRPr>
          </a:p>
          <a:p>
            <a:pPr indent="-292100" lvl="0" marL="457200" rtl="0" algn="l">
              <a:lnSpc>
                <a:spcPct val="100000"/>
              </a:lnSpc>
              <a:spcBef>
                <a:spcPts val="0"/>
              </a:spcBef>
              <a:spcAft>
                <a:spcPts val="0"/>
              </a:spcAft>
              <a:buClr>
                <a:srgbClr val="000000"/>
              </a:buClr>
              <a:buSzPts val="1000"/>
              <a:buChar char="●"/>
            </a:pPr>
            <a:r>
              <a:rPr b="1" lang="en-GB" sz="1000">
                <a:solidFill>
                  <a:srgbClr val="000000"/>
                </a:solidFill>
              </a:rPr>
              <a:t>Trend Support:</a:t>
            </a:r>
            <a:r>
              <a:rPr lang="en-GB" sz="1000">
                <a:solidFill>
                  <a:srgbClr val="000000"/>
                </a:solidFill>
              </a:rPr>
              <a:t> Remaining above 8/21 EMA protects the short-term uptrend.</a:t>
            </a:r>
            <a:endParaRPr sz="1000">
              <a:solidFill>
                <a:srgbClr val="000000"/>
              </a:solidFill>
            </a:endParaRPr>
          </a:p>
          <a:p>
            <a:pPr indent="-292100" lvl="0" marL="457200" rtl="0" algn="l">
              <a:lnSpc>
                <a:spcPct val="100000"/>
              </a:lnSpc>
              <a:spcBef>
                <a:spcPts val="0"/>
              </a:spcBef>
              <a:spcAft>
                <a:spcPts val="0"/>
              </a:spcAft>
              <a:buClr>
                <a:srgbClr val="000000"/>
              </a:buClr>
              <a:buSzPts val="1000"/>
              <a:buChar char="●"/>
            </a:pPr>
            <a:r>
              <a:rPr b="1" lang="en-GB" sz="1000">
                <a:solidFill>
                  <a:srgbClr val="000000"/>
                </a:solidFill>
              </a:rPr>
              <a:t>Trading Space:</a:t>
            </a:r>
            <a:r>
              <a:rPr lang="en-GB" sz="1000">
                <a:solidFill>
                  <a:srgbClr val="000000"/>
                </a:solidFill>
              </a:rPr>
              <a:t> Shared support (7,330) and resistance (7,600) with Medium confidence.</a:t>
            </a:r>
            <a:endParaRPr sz="1000">
              <a:solidFill>
                <a:srgbClr val="000000"/>
              </a:solidFill>
            </a:endParaRPr>
          </a:p>
          <a:p>
            <a:pPr indent="-292100" lvl="0" marL="457200" rtl="0" algn="l">
              <a:lnSpc>
                <a:spcPct val="100000"/>
              </a:lnSpc>
              <a:spcBef>
                <a:spcPts val="0"/>
              </a:spcBef>
              <a:spcAft>
                <a:spcPts val="0"/>
              </a:spcAft>
              <a:buClr>
                <a:srgbClr val="000000"/>
              </a:buClr>
              <a:buSzPts val="1000"/>
              <a:buChar char="●"/>
            </a:pPr>
            <a:r>
              <a:rPr b="1" lang="en-GB" sz="1000">
                <a:solidFill>
                  <a:srgbClr val="000000"/>
                </a:solidFill>
              </a:rPr>
              <a:t>Cycle Drag: </a:t>
            </a:r>
            <a:r>
              <a:rPr lang="en-GB" sz="1000">
                <a:solidFill>
                  <a:srgbClr val="000000"/>
                </a:solidFill>
              </a:rPr>
              <a:t>Shared warning on Midterm Election Year Q2–Q3 "Weak Spot" headwinds.</a:t>
            </a:r>
            <a:endParaRPr sz="1000">
              <a:solidFill>
                <a:srgbClr val="000000"/>
              </a:solidFill>
            </a:endParaRPr>
          </a:p>
          <a:p>
            <a:pPr indent="0" lvl="0" marL="0" rtl="0" algn="l">
              <a:spcBef>
                <a:spcPts val="1200"/>
              </a:spcBef>
              <a:spcAft>
                <a:spcPts val="1200"/>
              </a:spcAft>
              <a:buClr>
                <a:schemeClr val="dk1"/>
              </a:buClr>
              <a:buSzPts val="1100"/>
              <a:buFont typeface="Arial"/>
              <a:buNone/>
            </a:pPr>
            <a:r>
              <a:t/>
            </a:r>
            <a:endParaRPr sz="600"/>
          </a:p>
        </p:txBody>
      </p:sp>
      <p:graphicFrame>
        <p:nvGraphicFramePr>
          <p:cNvPr id="101" name="Google Shape;101;p19"/>
          <p:cNvGraphicFramePr/>
          <p:nvPr/>
        </p:nvGraphicFramePr>
        <p:xfrm>
          <a:off x="190825" y="710725"/>
          <a:ext cx="3000000" cy="3000000"/>
        </p:xfrm>
        <a:graphic>
          <a:graphicData uri="http://schemas.openxmlformats.org/drawingml/2006/table">
            <a:tbl>
              <a:tblPr>
                <a:noFill/>
                <a:tableStyleId>{5C0F291F-BA2F-47F4-8B5B-CF05989DDCF4}</a:tableStyleId>
              </a:tblPr>
              <a:tblGrid>
                <a:gridCol w="1348400"/>
                <a:gridCol w="1348400"/>
                <a:gridCol w="1348400"/>
                <a:gridCol w="1348400"/>
                <a:gridCol w="1348400"/>
                <a:gridCol w="1650325"/>
              </a:tblGrid>
              <a:tr h="505375">
                <a:tc>
                  <a:txBody>
                    <a:bodyPr/>
                    <a:lstStyle/>
                    <a:p>
                      <a:pPr indent="0" lvl="0" marL="0" rtl="0" algn="l">
                        <a:spcBef>
                          <a:spcPts val="0"/>
                        </a:spcBef>
                        <a:spcAft>
                          <a:spcPts val="0"/>
                        </a:spcAft>
                        <a:buNone/>
                      </a:pPr>
                      <a:r>
                        <a:rPr b="1" lang="en-GB" sz="1000">
                          <a:solidFill>
                            <a:schemeClr val="dk1"/>
                          </a:solidFill>
                        </a:rPr>
                        <a:t>AI Model</a:t>
                      </a:r>
                      <a:endParaRPr b="1" sz="1000">
                        <a:solidFill>
                          <a:schemeClr val="dk1"/>
                        </a:solidFill>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rPr b="1" lang="en-GB" sz="1000">
                          <a:solidFill>
                            <a:schemeClr val="dk1"/>
                          </a:solidFill>
                        </a:rPr>
                        <a:t>Direction</a:t>
                      </a:r>
                      <a:endParaRPr b="1" sz="1000">
                        <a:solidFill>
                          <a:schemeClr val="dk1"/>
                        </a:solidFill>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rPr b="1" lang="en-GB" sz="1000">
                          <a:solidFill>
                            <a:schemeClr val="dk1"/>
                          </a:solidFill>
                        </a:rPr>
                        <a:t>Bias</a:t>
                      </a:r>
                      <a:endParaRPr b="1" sz="1000">
                        <a:solidFill>
                          <a:schemeClr val="dk1"/>
                        </a:solidFill>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rPr b="1" lang="en-GB" sz="1000">
                          <a:solidFill>
                            <a:schemeClr val="dk1"/>
                          </a:solidFill>
                        </a:rPr>
                        <a:t>Primary Macro Driverro </a:t>
                      </a:r>
                      <a:endParaRPr b="1" sz="1000">
                        <a:solidFill>
                          <a:schemeClr val="dk1"/>
                        </a:solidFill>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rPr b="1" lang="en-GB" sz="1000">
                          <a:solidFill>
                            <a:schemeClr val="dk1"/>
                          </a:solidFill>
                        </a:rPr>
                        <a:t>Technical Signal</a:t>
                      </a:r>
                      <a:endParaRPr b="1" sz="1000">
                        <a:solidFill>
                          <a:schemeClr val="dk1"/>
                        </a:solidFill>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rPr b="1" lang="en-GB" sz="1000">
                          <a:solidFill>
                            <a:schemeClr val="dk1"/>
                          </a:solidFill>
                        </a:rPr>
                        <a:t>Exp. Range</a:t>
                      </a:r>
                      <a:endParaRPr b="1" sz="1000">
                        <a:solidFill>
                          <a:schemeClr val="dk1"/>
                        </a:solidFill>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D0E0E3"/>
                    </a:solidFill>
                  </a:tcPr>
                </a:tc>
              </a:tr>
              <a:tr h="505375">
                <a:tc>
                  <a:txBody>
                    <a:bodyPr/>
                    <a:lstStyle/>
                    <a:p>
                      <a:pPr indent="0" lvl="0" marL="0" rtl="0" algn="l">
                        <a:spcBef>
                          <a:spcPts val="0"/>
                        </a:spcBef>
                        <a:spcAft>
                          <a:spcPts val="0"/>
                        </a:spcAft>
                        <a:buNone/>
                      </a:pPr>
                      <a:r>
                        <a:rPr b="1" lang="en-GB" sz="1000">
                          <a:solidFill>
                            <a:schemeClr val="dk1"/>
                          </a:solidFill>
                          <a:highlight>
                            <a:srgbClr val="FFFFFF"/>
                          </a:highlight>
                        </a:rPr>
                        <a:t>ChatGPT</a:t>
                      </a:r>
                      <a:r>
                        <a:rPr b="1" lang="en-GB" sz="1000">
                          <a:solidFill>
                            <a:schemeClr val="dk1"/>
                          </a:solidFill>
                        </a:rPr>
                        <a:t> </a:t>
                      </a:r>
                      <a:endParaRPr b="1" sz="1000">
                        <a:solidFill>
                          <a:schemeClr val="dk1"/>
                        </a:solidFill>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GB" sz="1000">
                          <a:solidFill>
                            <a:srgbClr val="274E13"/>
                          </a:solidFill>
                          <a:highlight>
                            <a:srgbClr val="B6D7A8"/>
                          </a:highlight>
                        </a:rPr>
                        <a:t>Up </a:t>
                      </a:r>
                      <a:endParaRPr b="1" sz="1000">
                        <a:solidFill>
                          <a:srgbClr val="274E13"/>
                        </a:solidFill>
                        <a:highlight>
                          <a:srgbClr val="B6D7A8"/>
                        </a:highlight>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GB" sz="1000">
                          <a:solidFill>
                            <a:srgbClr val="274E13"/>
                          </a:solidFill>
                          <a:highlight>
                            <a:srgbClr val="B6D7A8"/>
                          </a:highlight>
                        </a:rPr>
                        <a:t>Neutral-Bullish </a:t>
                      </a:r>
                      <a:endParaRPr b="1" sz="1000">
                        <a:solidFill>
                          <a:srgbClr val="274E13"/>
                        </a:solidFill>
                        <a:highlight>
                          <a:srgbClr val="B6D7A8"/>
                        </a:highlight>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highlight>
                            <a:srgbClr val="FFFFFF"/>
                          </a:highlight>
                        </a:rPr>
                        <a:t>Core PCE Inflation Report</a:t>
                      </a:r>
                      <a:r>
                        <a:rPr lang="en-GB" sz="1000">
                          <a:solidFill>
                            <a:schemeClr val="dk1"/>
                          </a:solidFill>
                        </a:rPr>
                        <a:t> </a:t>
                      </a:r>
                      <a:endParaRPr sz="1000">
                        <a:solidFill>
                          <a:schemeClr val="dk1"/>
                        </a:solidFill>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rPr>
                        <a:t>S&amp;P &gt; 8/21 EMA</a:t>
                      </a:r>
                      <a:endParaRPr sz="1000">
                        <a:solidFill>
                          <a:schemeClr val="dk1"/>
                        </a:solidFill>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rPr>
                        <a:t>7,330 - 7,600</a:t>
                      </a:r>
                      <a:endParaRPr sz="1000">
                        <a:solidFill>
                          <a:schemeClr val="dk1"/>
                        </a:solidFill>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505375">
                <a:tc>
                  <a:txBody>
                    <a:bodyPr/>
                    <a:lstStyle/>
                    <a:p>
                      <a:pPr indent="0" lvl="0" marL="0" rtl="0" algn="l">
                        <a:spcBef>
                          <a:spcPts val="0"/>
                        </a:spcBef>
                        <a:spcAft>
                          <a:spcPts val="0"/>
                        </a:spcAft>
                        <a:buNone/>
                      </a:pPr>
                      <a:r>
                        <a:rPr b="1" lang="en-GB" sz="1000">
                          <a:solidFill>
                            <a:schemeClr val="dk1"/>
                          </a:solidFill>
                          <a:highlight>
                            <a:srgbClr val="F6F8FA"/>
                          </a:highlight>
                        </a:rPr>
                        <a:t>Claude</a:t>
                      </a:r>
                      <a:r>
                        <a:rPr b="1" lang="en-GB" sz="1000">
                          <a:solidFill>
                            <a:schemeClr val="dk1"/>
                          </a:solidFill>
                        </a:rPr>
                        <a:t> </a:t>
                      </a:r>
                      <a:endParaRPr b="1" sz="1000">
                        <a:solidFill>
                          <a:schemeClr val="dk1"/>
                        </a:solidFill>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GB" sz="1000">
                          <a:solidFill>
                            <a:srgbClr val="274E13"/>
                          </a:solidFill>
                          <a:highlight>
                            <a:srgbClr val="B6D7A8"/>
                          </a:highlight>
                        </a:rPr>
                        <a:t>Sideways → Up </a:t>
                      </a:r>
                      <a:endParaRPr b="1" sz="1000">
                        <a:solidFill>
                          <a:srgbClr val="274E13"/>
                        </a:solidFill>
                        <a:highlight>
                          <a:srgbClr val="B6D7A8"/>
                        </a:highlight>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GB" sz="1000">
                          <a:solidFill>
                            <a:srgbClr val="274E13"/>
                          </a:solidFill>
                          <a:highlight>
                            <a:srgbClr val="B6D7A8"/>
                          </a:highlight>
                        </a:rPr>
                        <a:t>Neutral-Bullish </a:t>
                      </a:r>
                      <a:endParaRPr b="1" sz="1000">
                        <a:solidFill>
                          <a:srgbClr val="274E13"/>
                        </a:solidFill>
                        <a:highlight>
                          <a:srgbClr val="B6D7A8"/>
                        </a:highlight>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highlight>
                            <a:srgbClr val="F6F8FA"/>
                          </a:highlight>
                        </a:rPr>
                        <a:t>Core PCE Inflation Report</a:t>
                      </a:r>
                      <a:r>
                        <a:rPr lang="en-GB" sz="1000">
                          <a:solidFill>
                            <a:schemeClr val="dk1"/>
                          </a:solidFill>
                        </a:rPr>
                        <a:t> </a:t>
                      </a:r>
                      <a:endParaRPr sz="1000">
                        <a:solidFill>
                          <a:schemeClr val="dk1"/>
                        </a:solidFill>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rPr>
                        <a:t>S&amp;P &gt; 8/21 EMA</a:t>
                      </a:r>
                      <a:endParaRPr sz="1000">
                        <a:solidFill>
                          <a:schemeClr val="dk1"/>
                        </a:solidFill>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rPr>
                        <a:t>7,330 - 7,600</a:t>
                      </a:r>
                      <a:endParaRPr sz="1000">
                        <a:solidFill>
                          <a:schemeClr val="dk1"/>
                        </a:solidFill>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611725">
                <a:tc>
                  <a:txBody>
                    <a:bodyPr/>
                    <a:lstStyle/>
                    <a:p>
                      <a:pPr indent="0" lvl="0" marL="0" rtl="0" algn="l">
                        <a:spcBef>
                          <a:spcPts val="0"/>
                        </a:spcBef>
                        <a:spcAft>
                          <a:spcPts val="0"/>
                        </a:spcAft>
                        <a:buNone/>
                      </a:pPr>
                      <a:r>
                        <a:rPr b="1" lang="en-GB" sz="1000">
                          <a:solidFill>
                            <a:schemeClr val="dk1"/>
                          </a:solidFill>
                          <a:highlight>
                            <a:srgbClr val="FFFFFF"/>
                          </a:highlight>
                        </a:rPr>
                        <a:t>Gemini</a:t>
                      </a:r>
                      <a:r>
                        <a:rPr b="1" lang="en-GB" sz="1000">
                          <a:solidFill>
                            <a:schemeClr val="dk1"/>
                          </a:solidFill>
                        </a:rPr>
                        <a:t> </a:t>
                      </a:r>
                      <a:endParaRPr b="1" sz="1000">
                        <a:solidFill>
                          <a:schemeClr val="dk1"/>
                        </a:solidFill>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GB" sz="1000">
                          <a:solidFill>
                            <a:srgbClr val="274E13"/>
                          </a:solidFill>
                          <a:highlight>
                            <a:srgbClr val="B6D7A8"/>
                          </a:highlight>
                        </a:rPr>
                        <a:t>Up </a:t>
                      </a:r>
                      <a:endParaRPr b="1" sz="1000">
                        <a:solidFill>
                          <a:srgbClr val="274E13"/>
                        </a:solidFill>
                        <a:highlight>
                          <a:srgbClr val="B6D7A8"/>
                        </a:highlight>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GB" sz="1000">
                          <a:solidFill>
                            <a:srgbClr val="274E13"/>
                          </a:solidFill>
                          <a:highlight>
                            <a:srgbClr val="B6D7A8"/>
                          </a:highlight>
                        </a:rPr>
                        <a:t>Neutral-Bullish </a:t>
                      </a:r>
                      <a:endParaRPr b="1" sz="1000">
                        <a:solidFill>
                          <a:srgbClr val="274E13"/>
                        </a:solidFill>
                        <a:highlight>
                          <a:srgbClr val="B6D7A8"/>
                        </a:highlight>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highlight>
                            <a:srgbClr val="FFFFFF"/>
                          </a:highlight>
                        </a:rPr>
                        <a:t>Core PCE Inflation Report</a:t>
                      </a:r>
                      <a:r>
                        <a:rPr lang="en-GB" sz="1000">
                          <a:solidFill>
                            <a:schemeClr val="dk1"/>
                          </a:solidFill>
                        </a:rPr>
                        <a:t> </a:t>
                      </a:r>
                      <a:endParaRPr sz="1000">
                        <a:solidFill>
                          <a:schemeClr val="dk1"/>
                        </a:solidFill>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000">
                          <a:solidFill>
                            <a:schemeClr val="dk1"/>
                          </a:solidFill>
                        </a:rPr>
                        <a:t>S&amp;P &gt; 8/21 EMA</a:t>
                      </a:r>
                      <a:endParaRPr sz="1000">
                        <a:solidFill>
                          <a:schemeClr val="dk1"/>
                        </a:solidFill>
                      </a:endParaRPr>
                    </a:p>
                  </a:txBody>
                  <a:tcPr marT="133350" marB="133350" marR="152400" marL="152400">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rPr>
                        <a:t>7,330 - 7,600</a:t>
                      </a:r>
                      <a:endParaRPr sz="1000">
                        <a:solidFill>
                          <a:schemeClr val="dk1"/>
                        </a:solidFill>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505375">
                <a:tc>
                  <a:txBody>
                    <a:bodyPr/>
                    <a:lstStyle/>
                    <a:p>
                      <a:pPr indent="0" lvl="0" marL="0" rtl="0" algn="l">
                        <a:spcBef>
                          <a:spcPts val="0"/>
                        </a:spcBef>
                        <a:spcAft>
                          <a:spcPts val="0"/>
                        </a:spcAft>
                        <a:buNone/>
                      </a:pPr>
                      <a:r>
                        <a:rPr b="1" lang="en-GB" sz="1000">
                          <a:solidFill>
                            <a:schemeClr val="dk1"/>
                          </a:solidFill>
                          <a:highlight>
                            <a:srgbClr val="F6F8FA"/>
                          </a:highlight>
                        </a:rPr>
                        <a:t>DeepSeek</a:t>
                      </a:r>
                      <a:r>
                        <a:rPr b="1" lang="en-GB" sz="1000">
                          <a:solidFill>
                            <a:schemeClr val="dk1"/>
                          </a:solidFill>
                        </a:rPr>
                        <a:t> </a:t>
                      </a:r>
                      <a:endParaRPr b="1" sz="1000">
                        <a:solidFill>
                          <a:schemeClr val="dk1"/>
                        </a:solidFill>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GB" sz="1000">
                          <a:solidFill>
                            <a:srgbClr val="990000"/>
                          </a:solidFill>
                          <a:highlight>
                            <a:srgbClr val="FFE599"/>
                          </a:highlight>
                        </a:rPr>
                        <a:t>Sideways </a:t>
                      </a:r>
                      <a:endParaRPr b="1" sz="1000">
                        <a:solidFill>
                          <a:srgbClr val="990000"/>
                        </a:solidFill>
                        <a:highlight>
                          <a:srgbClr val="FFE599"/>
                        </a:highlight>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GB" sz="1000">
                          <a:solidFill>
                            <a:srgbClr val="990000"/>
                          </a:solidFill>
                          <a:highlight>
                            <a:srgbClr val="FFE599"/>
                          </a:highlight>
                        </a:rPr>
                        <a:t>Neutral-Bearish</a:t>
                      </a:r>
                      <a:r>
                        <a:rPr b="1" lang="en-GB" sz="1000">
                          <a:solidFill>
                            <a:schemeClr val="dk1"/>
                          </a:solidFill>
                        </a:rPr>
                        <a:t> </a:t>
                      </a:r>
                      <a:endParaRPr b="1" sz="10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highlight>
                            <a:srgbClr val="F6F8FA"/>
                          </a:highlight>
                        </a:rPr>
                        <a:t>Core PCE Inflation Report</a:t>
                      </a:r>
                      <a:r>
                        <a:rPr lang="en-GB" sz="1000">
                          <a:solidFill>
                            <a:schemeClr val="dk1"/>
                          </a:solidFill>
                        </a:rPr>
                        <a:t> </a:t>
                      </a:r>
                      <a:endParaRPr sz="1000">
                        <a:solidFill>
                          <a:schemeClr val="dk1"/>
                        </a:solidFill>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rPr>
                        <a:t>S&amp;P &gt; 8/21 EMA</a:t>
                      </a:r>
                      <a:endParaRPr sz="1000">
                        <a:solidFill>
                          <a:schemeClr val="dk1"/>
                        </a:solidFill>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000">
                          <a:solidFill>
                            <a:schemeClr val="dk1"/>
                          </a:solidFill>
                        </a:rPr>
                        <a:t>7,330 - 7,600</a:t>
                      </a:r>
                      <a:endParaRPr sz="1000">
                        <a:solidFill>
                          <a:schemeClr val="dk1"/>
                        </a:solidFill>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bl>
          </a:graphicData>
        </a:graphic>
      </p:graphicFrame>
      <p:sp>
        <p:nvSpPr>
          <p:cNvPr id="102" name="Google Shape;102;p19"/>
          <p:cNvSpPr txBox="1"/>
          <p:nvPr/>
        </p:nvSpPr>
        <p:spPr>
          <a:xfrm>
            <a:off x="190825" y="476225"/>
            <a:ext cx="33849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900">
                <a:solidFill>
                  <a:schemeClr val="dk1"/>
                </a:solidFill>
              </a:rPr>
              <a:t>Weekly Market Intelligence Comparison | S&amp;P 500</a:t>
            </a:r>
            <a:endParaRPr sz="900">
              <a:solidFill>
                <a:schemeClr val="dk1"/>
              </a:solidFill>
            </a:endParaRPr>
          </a:p>
        </p:txBody>
      </p:sp>
      <p:sp>
        <p:nvSpPr>
          <p:cNvPr id="103" name="Google Shape;103;p19"/>
          <p:cNvSpPr txBox="1"/>
          <p:nvPr/>
        </p:nvSpPr>
        <p:spPr>
          <a:xfrm>
            <a:off x="4400175" y="3395275"/>
            <a:ext cx="4182900" cy="1697100"/>
          </a:xfrm>
          <a:prstGeom prst="rect">
            <a:avLst/>
          </a:prstGeom>
          <a:noFill/>
          <a:ln cap="flat" cmpd="sng" w="19050">
            <a:solidFill>
              <a:srgbClr val="99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GB" sz="1000">
                <a:solidFill>
                  <a:srgbClr val="A61C00"/>
                </a:solidFill>
              </a:rPr>
              <a:t>Strategic Divergence</a:t>
            </a:r>
            <a:endParaRPr b="1" sz="1000">
              <a:solidFill>
                <a:srgbClr val="A61C00"/>
              </a:solidFill>
            </a:endParaRPr>
          </a:p>
          <a:p>
            <a:pPr indent="-292100" lvl="0" marL="457200" marR="0" rtl="0" algn="l">
              <a:lnSpc>
                <a:spcPct val="100000"/>
              </a:lnSpc>
              <a:spcBef>
                <a:spcPts val="1200"/>
              </a:spcBef>
              <a:spcAft>
                <a:spcPts val="0"/>
              </a:spcAft>
              <a:buClr>
                <a:schemeClr val="dk1"/>
              </a:buClr>
              <a:buSzPts val="1000"/>
              <a:buChar char="●"/>
            </a:pPr>
            <a:r>
              <a:rPr b="1" lang="en-GB" sz="1000">
                <a:solidFill>
                  <a:schemeClr val="dk1"/>
                </a:solidFill>
              </a:rPr>
              <a:t>Stance Dissonance: </a:t>
            </a:r>
            <a:r>
              <a:rPr lang="en-GB" sz="1000">
                <a:solidFill>
                  <a:schemeClr val="dk1"/>
                </a:solidFill>
              </a:rPr>
              <a:t>DeepSeek uniquely shifts to Neutral-Bearish, placing higher risk weight on macro yield pressures and seasonal weakness over technical momentum.</a:t>
            </a:r>
            <a:endParaRPr sz="1000">
              <a:solidFill>
                <a:schemeClr val="dk1"/>
              </a:solidFill>
            </a:endParaRPr>
          </a:p>
          <a:p>
            <a:pPr indent="-292100" lvl="0" marL="457200" marR="0" rtl="0" algn="l">
              <a:lnSpc>
                <a:spcPct val="100000"/>
              </a:lnSpc>
              <a:spcBef>
                <a:spcPts val="0"/>
              </a:spcBef>
              <a:spcAft>
                <a:spcPts val="0"/>
              </a:spcAft>
              <a:buClr>
                <a:schemeClr val="dk1"/>
              </a:buClr>
              <a:buSzPts val="1000"/>
              <a:buChar char="●"/>
            </a:pPr>
            <a:r>
              <a:rPr b="1" lang="en-GB" sz="1000">
                <a:solidFill>
                  <a:schemeClr val="dk1"/>
                </a:solidFill>
              </a:rPr>
              <a:t>Momentum Appetite:</a:t>
            </a:r>
            <a:r>
              <a:rPr lang="en-GB" sz="1000">
                <a:solidFill>
                  <a:schemeClr val="dk1"/>
                </a:solidFill>
              </a:rPr>
              <a:t> Majority models prioritize immediate EMA trend tracking and Tech sector seasonal long windows over cycle historical drags.</a:t>
            </a:r>
            <a:endParaRPr sz="1000">
              <a:solidFill>
                <a:schemeClr val="dk1"/>
              </a:solidFill>
            </a:endParaRPr>
          </a:p>
          <a:p>
            <a:pPr indent="0" lvl="0" marL="0" rtl="0" algn="l">
              <a:lnSpc>
                <a:spcPct val="115000"/>
              </a:lnSpc>
              <a:spcBef>
                <a:spcPts val="1200"/>
              </a:spcBef>
              <a:spcAft>
                <a:spcPts val="0"/>
              </a:spcAft>
              <a:buNone/>
            </a:pPr>
            <a:r>
              <a:t/>
            </a:r>
            <a:endParaRPr sz="11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0"/>
          <p:cNvSpPr txBox="1"/>
          <p:nvPr>
            <p:ph type="title"/>
          </p:nvPr>
        </p:nvSpPr>
        <p:spPr>
          <a:xfrm>
            <a:off x="107400" y="54950"/>
            <a:ext cx="8520600" cy="951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R7 Human Score</a:t>
            </a:r>
            <a:endParaRPr/>
          </a:p>
          <a:p>
            <a:pPr indent="0" lvl="0" marL="0" rtl="0" algn="l">
              <a:spcBef>
                <a:spcPts val="0"/>
              </a:spcBef>
              <a:spcAft>
                <a:spcPts val="0"/>
              </a:spcAft>
              <a:buNone/>
            </a:pPr>
            <a:r>
              <a:t/>
            </a:r>
            <a:endParaRPr/>
          </a:p>
        </p:txBody>
      </p:sp>
      <p:sp>
        <p:nvSpPr>
          <p:cNvPr id="109" name="Google Shape;109;p20"/>
          <p:cNvSpPr txBox="1"/>
          <p:nvPr/>
        </p:nvSpPr>
        <p:spPr>
          <a:xfrm>
            <a:off x="-68650" y="4095250"/>
            <a:ext cx="9039000" cy="1545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n-GB"/>
              <a:t>The Human Score is more cautious than the Neutral-Bullish AI consensus. While technical conditions remain supportive, the team believes seasonal weakness and narrow market leadership were underweighted by the AI models. These factors offset the positive trend signals and support a Neutral outlook ahead of the Core PCE report.</a:t>
            </a:r>
            <a:endParaRPr/>
          </a:p>
          <a:p>
            <a:pPr indent="0" lvl="0" marL="0" rtl="0" algn="l">
              <a:spcBef>
                <a:spcPts val="1200"/>
              </a:spcBef>
              <a:spcAft>
                <a:spcPts val="0"/>
              </a:spcAft>
              <a:buNone/>
            </a:pPr>
            <a:r>
              <a:t/>
            </a:r>
            <a:endParaRPr/>
          </a:p>
        </p:txBody>
      </p:sp>
      <p:pic>
        <p:nvPicPr>
          <p:cNvPr id="110" name="Google Shape;110;p20"/>
          <p:cNvPicPr preferRelativeResize="0"/>
          <p:nvPr/>
        </p:nvPicPr>
        <p:blipFill>
          <a:blip r:embed="rId3">
            <a:alphaModFix/>
          </a:blip>
          <a:stretch>
            <a:fillRect/>
          </a:stretch>
        </p:blipFill>
        <p:spPr>
          <a:xfrm>
            <a:off x="0" y="460200"/>
            <a:ext cx="5603105" cy="37674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R9 GitHub Lead</a:t>
            </a:r>
            <a:endParaRPr/>
          </a:p>
        </p:txBody>
      </p:sp>
      <p:sp>
        <p:nvSpPr>
          <p:cNvPr id="116" name="Google Shape;116;p21"/>
          <p:cNvSpPr txBox="1"/>
          <p:nvPr>
            <p:ph idx="1" type="body"/>
          </p:nvPr>
        </p:nvSpPr>
        <p:spPr>
          <a:xfrm>
            <a:off x="311700" y="10177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URL ： </a:t>
            </a:r>
            <a:r>
              <a:rPr lang="en-GB" sz="1100" u="sng">
                <a:solidFill>
                  <a:schemeClr val="hlink"/>
                </a:solidFill>
                <a:hlinkClick r:id="rId3"/>
              </a:rPr>
              <a:t>LuJunwen212/CP3405-Project</a:t>
            </a:r>
            <a:r>
              <a:rPr lang="en-GB" sz="1100">
                <a:solidFill>
                  <a:schemeClr val="dk1"/>
                </a:solidFill>
              </a:rPr>
              <a:t>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GB"/>
              <a:t>Speaker note must include:</a:t>
            </a:r>
            <a:endParaRPr/>
          </a:p>
          <a:p>
            <a:pPr indent="0" lvl="0" marL="0" rtl="0" algn="l">
              <a:spcBef>
                <a:spcPts val="1200"/>
              </a:spcBef>
              <a:spcAft>
                <a:spcPts val="0"/>
              </a:spcAft>
              <a:buNone/>
            </a:pPr>
            <a:r>
              <a:t/>
            </a:r>
            <a:endParaRPr/>
          </a:p>
          <a:p>
            <a:pPr indent="0" lvl="0" marL="0" rtl="0" algn="l">
              <a:spcBef>
                <a:spcPts val="1200"/>
              </a:spcBef>
              <a:spcAft>
                <a:spcPts val="1200"/>
              </a:spcAft>
              <a:buClr>
                <a:schemeClr val="dk1"/>
              </a:buClr>
              <a:buSzPts val="1100"/>
              <a:buFont typeface="Arial"/>
              <a:buNone/>
            </a:pPr>
            <a:r>
              <a:rPr lang="en-GB"/>
              <a:t>Confirm release tag vW22 created and README updated</a:t>
            </a:r>
            <a:endParaRPr/>
          </a:p>
        </p:txBody>
      </p:sp>
      <p:pic>
        <p:nvPicPr>
          <p:cNvPr id="117" name="Google Shape;117;p21"/>
          <p:cNvPicPr preferRelativeResize="0"/>
          <p:nvPr/>
        </p:nvPicPr>
        <p:blipFill>
          <a:blip r:embed="rId4">
            <a:alphaModFix/>
          </a:blip>
          <a:stretch>
            <a:fillRect/>
          </a:stretch>
        </p:blipFill>
        <p:spPr>
          <a:xfrm>
            <a:off x="311700" y="1413675"/>
            <a:ext cx="6440248" cy="35629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R10 QA Lead</a:t>
            </a:r>
            <a:endParaRPr/>
          </a:p>
        </p:txBody>
      </p:sp>
      <p:sp>
        <p:nvSpPr>
          <p:cNvPr id="123" name="Google Shape;123;p22"/>
          <p:cNvSpPr txBox="1"/>
          <p:nvPr>
            <p:ph idx="1" type="body"/>
          </p:nvPr>
        </p:nvSpPr>
        <p:spPr>
          <a:xfrm>
            <a:off x="413625" y="11106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Clr>
                <a:schemeClr val="dk1"/>
              </a:buClr>
              <a:buSzPts val="1100"/>
              <a:buFont typeface="Arial"/>
              <a:buNone/>
            </a:pPr>
            <a:r>
              <a:rPr lang="en-GB"/>
              <a:t>The learning: </a:t>
            </a:r>
            <a:endParaRPr/>
          </a:p>
        </p:txBody>
      </p:sp>
      <p:sp>
        <p:nvSpPr>
          <p:cNvPr id="124" name="Google Shape;124;p22"/>
          <p:cNvSpPr txBox="1"/>
          <p:nvPr/>
        </p:nvSpPr>
        <p:spPr>
          <a:xfrm>
            <a:off x="413625" y="1264175"/>
            <a:ext cx="2884800" cy="19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rPr>
              <a:t>Calibration Score</a:t>
            </a:r>
            <a:endParaRPr sz="1800">
              <a:solidFill>
                <a:schemeClr val="dk2"/>
              </a:solidFill>
            </a:endParaRPr>
          </a:p>
          <a:p>
            <a:pPr indent="0" lvl="0" marL="0" rtl="0" algn="l">
              <a:spcBef>
                <a:spcPts val="0"/>
              </a:spcBef>
              <a:spcAft>
                <a:spcPts val="0"/>
              </a:spcAft>
              <a:buClr>
                <a:schemeClr val="dk1"/>
              </a:buClr>
              <a:buSzPts val="1100"/>
              <a:buFont typeface="Arial"/>
              <a:buNone/>
            </a:pPr>
            <a:r>
              <a:rPr lang="en-GB" sz="1700">
                <a:solidFill>
                  <a:schemeClr val="dk2"/>
                </a:solidFill>
              </a:rPr>
              <a:t>• Actuals: SPX +0.22%, NDX +0.20%, IWM -0.59%</a:t>
            </a:r>
            <a:endParaRPr sz="1700">
              <a:solidFill>
                <a:schemeClr val="dk2"/>
              </a:solidFill>
            </a:endParaRPr>
          </a:p>
          <a:p>
            <a:pPr indent="0" lvl="0" marL="0" rtl="0" algn="l">
              <a:spcBef>
                <a:spcPts val="0"/>
              </a:spcBef>
              <a:spcAft>
                <a:spcPts val="0"/>
              </a:spcAft>
              <a:buClr>
                <a:schemeClr val="dk1"/>
              </a:buClr>
              <a:buSzPts val="1100"/>
              <a:buFont typeface="Arial"/>
              <a:buNone/>
            </a:pPr>
            <a:r>
              <a:rPr lang="en-GB" sz="1700">
                <a:solidFill>
                  <a:schemeClr val="dk2"/>
                </a:solidFill>
              </a:rPr>
              <a:t>• Result: 2 HIT, 1 MISS</a:t>
            </a:r>
            <a:endParaRPr sz="1700">
              <a:solidFill>
                <a:schemeClr val="dk2"/>
              </a:solidFill>
            </a:endParaRPr>
          </a:p>
          <a:p>
            <a:pPr indent="0" lvl="0" marL="0" rtl="0" algn="l">
              <a:spcBef>
                <a:spcPts val="0"/>
              </a:spcBef>
              <a:spcAft>
                <a:spcPts val="0"/>
              </a:spcAft>
              <a:buClr>
                <a:schemeClr val="dk1"/>
              </a:buClr>
              <a:buSzPts val="1100"/>
              <a:buFont typeface="Arial"/>
              <a:buNone/>
            </a:pPr>
            <a:r>
              <a:rPr lang="en-GB" sz="1700">
                <a:solidFill>
                  <a:schemeClr val="dk2"/>
                </a:solidFill>
              </a:rPr>
              <a:t>• IWM missed the expected recovery</a:t>
            </a:r>
            <a:endParaRPr sz="1700">
              <a:solidFill>
                <a:schemeClr val="dk2"/>
              </a:solidFill>
            </a:endParaRPr>
          </a:p>
          <a:p>
            <a:pPr indent="0" lvl="0" marL="0" rtl="0" algn="l">
              <a:spcBef>
                <a:spcPts val="0"/>
              </a:spcBef>
              <a:spcAft>
                <a:spcPts val="0"/>
              </a:spcAft>
              <a:buNone/>
            </a:pPr>
            <a:r>
              <a:t/>
            </a:r>
            <a:endParaRPr sz="2400">
              <a:solidFill>
                <a:schemeClr val="dk2"/>
              </a:solidFill>
            </a:endParaRPr>
          </a:p>
        </p:txBody>
      </p:sp>
      <p:sp>
        <p:nvSpPr>
          <p:cNvPr id="125" name="Google Shape;125;p22"/>
          <p:cNvSpPr txBox="1"/>
          <p:nvPr/>
        </p:nvSpPr>
        <p:spPr>
          <a:xfrm>
            <a:off x="3081275" y="1264175"/>
            <a:ext cx="2729700" cy="185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700">
                <a:solidFill>
                  <a:schemeClr val="dk2"/>
                </a:solidFill>
              </a:rPr>
              <a:t>LLM Horse Race Update</a:t>
            </a:r>
            <a:endParaRPr sz="1700">
              <a:solidFill>
                <a:schemeClr val="dk2"/>
              </a:solidFill>
            </a:endParaRPr>
          </a:p>
          <a:p>
            <a:pPr indent="0" lvl="0" marL="0" rtl="0" algn="l">
              <a:spcBef>
                <a:spcPts val="0"/>
              </a:spcBef>
              <a:spcAft>
                <a:spcPts val="0"/>
              </a:spcAft>
              <a:buClr>
                <a:schemeClr val="dk1"/>
              </a:buClr>
              <a:buSzPts val="1100"/>
              <a:buFont typeface="Arial"/>
              <a:buNone/>
            </a:pPr>
            <a:r>
              <a:rPr lang="en-GB" sz="1700">
                <a:solidFill>
                  <a:schemeClr val="dk2"/>
                </a:solidFill>
              </a:rPr>
              <a:t>• Closest model: Claude</a:t>
            </a:r>
            <a:endParaRPr sz="1700">
              <a:solidFill>
                <a:schemeClr val="dk2"/>
              </a:solidFill>
            </a:endParaRPr>
          </a:p>
          <a:p>
            <a:pPr indent="0" lvl="0" marL="0" rtl="0" algn="l">
              <a:spcBef>
                <a:spcPts val="0"/>
              </a:spcBef>
              <a:spcAft>
                <a:spcPts val="0"/>
              </a:spcAft>
              <a:buNone/>
            </a:pPr>
            <a:r>
              <a:rPr lang="en-GB" sz="1700">
                <a:solidFill>
                  <a:schemeClr val="dk2"/>
                </a:solidFill>
              </a:rPr>
              <a:t>• Claude’s Sideways →   Up view best matched the slight SPX gain</a:t>
            </a:r>
            <a:endParaRPr sz="1700">
              <a:solidFill>
                <a:schemeClr val="dk2"/>
              </a:solidFill>
            </a:endParaRPr>
          </a:p>
          <a:p>
            <a:pPr indent="0" lvl="0" marL="0" rtl="0" algn="l">
              <a:spcBef>
                <a:spcPts val="0"/>
              </a:spcBef>
              <a:spcAft>
                <a:spcPts val="0"/>
              </a:spcAft>
              <a:buNone/>
            </a:pPr>
            <a:r>
              <a:t/>
            </a:r>
            <a:endParaRPr sz="1300">
              <a:solidFill>
                <a:schemeClr val="dk2"/>
              </a:solidFill>
            </a:endParaRPr>
          </a:p>
        </p:txBody>
      </p:sp>
      <p:sp>
        <p:nvSpPr>
          <p:cNvPr id="126" name="Google Shape;126;p22"/>
          <p:cNvSpPr txBox="1"/>
          <p:nvPr/>
        </p:nvSpPr>
        <p:spPr>
          <a:xfrm>
            <a:off x="5683725" y="1229075"/>
            <a:ext cx="2667600" cy="19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700">
                <a:solidFill>
                  <a:schemeClr val="dk2"/>
                </a:solidFill>
              </a:rPr>
              <a:t>One Change Next Sprint</a:t>
            </a:r>
            <a:endParaRPr sz="1700">
              <a:solidFill>
                <a:schemeClr val="dk2"/>
              </a:solidFill>
            </a:endParaRPr>
          </a:p>
          <a:p>
            <a:pPr indent="0" lvl="0" marL="0" rtl="0" algn="l">
              <a:spcBef>
                <a:spcPts val="0"/>
              </a:spcBef>
              <a:spcAft>
                <a:spcPts val="0"/>
              </a:spcAft>
              <a:buNone/>
            </a:pPr>
            <a:r>
              <a:rPr lang="en-GB" sz="1600">
                <a:solidFill>
                  <a:schemeClr val="dk2"/>
                </a:solidFill>
              </a:rPr>
              <a:t>• Compare AI consensus with Human </a:t>
            </a:r>
            <a:endParaRPr sz="1600">
              <a:solidFill>
                <a:schemeClr val="dk2"/>
              </a:solidFill>
            </a:endParaRPr>
          </a:p>
          <a:p>
            <a:pPr indent="0" lvl="0" marL="0" rtl="0" algn="l">
              <a:spcBef>
                <a:spcPts val="0"/>
              </a:spcBef>
              <a:spcAft>
                <a:spcPts val="0"/>
              </a:spcAft>
              <a:buClr>
                <a:schemeClr val="dk1"/>
              </a:buClr>
              <a:buSzPts val="1100"/>
              <a:buFont typeface="Arial"/>
              <a:buNone/>
            </a:pPr>
            <a:r>
              <a:rPr lang="en-GB" sz="1600">
                <a:solidFill>
                  <a:schemeClr val="dk2"/>
                </a:solidFill>
              </a:rPr>
              <a:t>  </a:t>
            </a:r>
            <a:r>
              <a:rPr lang="en-GB" sz="1600">
                <a:solidFill>
                  <a:schemeClr val="dk2"/>
                </a:solidFill>
              </a:rPr>
              <a:t>Score before finalising </a:t>
            </a:r>
            <a:endParaRPr sz="1600">
              <a:solidFill>
                <a:schemeClr val="dk2"/>
              </a:solidFill>
            </a:endParaRPr>
          </a:p>
          <a:p>
            <a:pPr indent="0" lvl="0" marL="0" rtl="0" algn="l">
              <a:spcBef>
                <a:spcPts val="0"/>
              </a:spcBef>
              <a:spcAft>
                <a:spcPts val="0"/>
              </a:spcAft>
              <a:buNone/>
            </a:pPr>
            <a:r>
              <a:rPr lang="en-GB" sz="1600">
                <a:solidFill>
                  <a:schemeClr val="dk2"/>
                </a:solidFill>
              </a:rPr>
              <a:t>• Give more weight to market breadth </a:t>
            </a:r>
            <a:endParaRPr sz="1600">
              <a:solidFill>
                <a:schemeClr val="dk2"/>
              </a:solidFill>
            </a:endParaRPr>
          </a:p>
          <a:p>
            <a:pPr indent="0" lvl="0" marL="0" rtl="0" algn="l">
              <a:spcBef>
                <a:spcPts val="0"/>
              </a:spcBef>
              <a:spcAft>
                <a:spcPts val="0"/>
              </a:spcAft>
              <a:buClr>
                <a:schemeClr val="dk1"/>
              </a:buClr>
              <a:buSzPts val="1100"/>
              <a:buFont typeface="Arial"/>
              <a:buNone/>
            </a:pPr>
            <a:r>
              <a:rPr lang="en-GB" sz="1600">
                <a:solidFill>
                  <a:schemeClr val="dk2"/>
                </a:solidFill>
              </a:rPr>
              <a:t>  </a:t>
            </a:r>
            <a:r>
              <a:rPr lang="en-GB" sz="1600">
                <a:solidFill>
                  <a:schemeClr val="dk2"/>
                </a:solidFill>
              </a:rPr>
              <a:t>and small-cap weakness</a:t>
            </a:r>
            <a:endParaRPr sz="1600">
              <a:solidFill>
                <a:schemeClr val="dk2"/>
              </a:solidFill>
            </a:endParaRPr>
          </a:p>
          <a:p>
            <a:pPr indent="0" lvl="0" marL="0" rtl="0" algn="l">
              <a:spcBef>
                <a:spcPts val="0"/>
              </a:spcBef>
              <a:spcAft>
                <a:spcPts val="0"/>
              </a:spcAft>
              <a:buNone/>
            </a:pPr>
            <a:r>
              <a:t/>
            </a:r>
            <a:endParaRPr sz="300">
              <a:solidFill>
                <a:schemeClr val="dk2"/>
              </a:solidFill>
            </a:endParaRPr>
          </a:p>
        </p:txBody>
      </p:sp>
      <p:sp>
        <p:nvSpPr>
          <p:cNvPr id="127" name="Google Shape;127;p22"/>
          <p:cNvSpPr txBox="1"/>
          <p:nvPr/>
        </p:nvSpPr>
        <p:spPr>
          <a:xfrm>
            <a:off x="1867650" y="3192275"/>
            <a:ext cx="7139400" cy="63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600">
                <a:solidFill>
                  <a:schemeClr val="dk2"/>
                </a:solidFill>
              </a:rPr>
              <a:t>In Sprint 2, we will not rely only on AI consensus. We will use Human Score and market breadth to check the final forecast.</a:t>
            </a:r>
            <a:endParaRPr sz="16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