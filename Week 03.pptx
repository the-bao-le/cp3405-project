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CE43D8D-F15C-4216-A29E-7EC5B40578A7}">
  <a:tblStyle styleId="{4CE43D8D-F15C-4216-A29E-7EC5B40578A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8fec5936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8fec5936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8fec5936e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8fec5936e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Our goal is to create a balanced prediction for SPX, NDX, and IWM by using evidence from Almanac, Macro, Technical, and Multi-LLM outputs before deciding our final direction and confidence.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From Week 2, we scored +4, with SPX and NDX correct, but IWM missed. This showed that market strength was selective, not broad.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Therefore, our main improvement target this week is confidence calibration. We want to avoid being overconfident when evidence is mixed.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sprint is complete when the final prediction, comparison table, Human Score, and evidence are </a:t>
            </a:r>
            <a:r>
              <a:rPr lang="en-GB"/>
              <a:t>committed.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8fec5936e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8fec5936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week, our models faced systematic variance, registering </a:t>
            </a:r>
            <a:r>
              <a:rPr b="1" lang="en-GB">
                <a:solidFill>
                  <a:schemeClr val="dk1"/>
                </a:solidFill>
              </a:rPr>
              <a:t>1 HIT and 7 MISSES</a:t>
            </a:r>
            <a:r>
              <a:rPr lang="en-GB">
                <a:solidFill>
                  <a:schemeClr val="dk1"/>
                </a:solidFill>
              </a:rPr>
              <a:t>. While major indexes and commodities deviated due to sudden market pullbacks, our bearish outlier thesis for small-cap equities was fully validated, yielding a definitive </a:t>
            </a:r>
            <a:r>
              <a:rPr b="1" lang="en-GB">
                <a:solidFill>
                  <a:schemeClr val="dk1"/>
                </a:solidFill>
              </a:rPr>
              <a:t>HIT on the Russell 2000 (IWM)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divergence was primarily driven by localized liquidations in tech—specifically a 13.25% earnings drag from Micron Technology—which disrupted standard index correlations. For Week 23, we are recalibrating our models with a higher volatility coefficient to better capture these rapid sector rotations.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8fec5936e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8fec5936e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Go through the tables briefly, point out the contradiction in utilities </a:t>
            </a:r>
            <a:r>
              <a:rPr lang="en-GB"/>
              <a:t>because</a:t>
            </a:r>
            <a:r>
              <a:rPr lang="en-GB"/>
              <a:t> of yields at 4.60%, then go through seasonal bias and remaining stuff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8fec5936e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8fec5936e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P1:</a:t>
            </a:r>
            <a:br>
              <a:rPr lang="en-GB"/>
            </a:br>
            <a:r>
              <a:rPr lang="en-GB"/>
              <a:t>This week, the Federal Reserve remains a key market driver.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According to FedWatch, there is a 95.4 percent probability that the Fed will keep interest rates unchanged.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Treasury yields remain elevated, with the US 10-year yield at 4.55 percent.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Higher yields may create pressure on growth and technology stocks.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P2: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Important economic events this week include CPI, PPI, and Initial Jobless Claims.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We are also monitoring geopolitical risks related to Iran, as sanctions and regional tensions may affect oil prices and market sentiment.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Overall, our macro bias is neutral to slightly bullish.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most important macro event this week is the US CPI report, which may influence future Federal Reserve expectations.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8fec5936e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e8fec5936e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8fec5936e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8fec5936e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Hello, everyone. This slide highlights a rare, unanimous consensus among the world's top four AI models—ChatGPT, Claude, Gemini, and DeepSeek—for Week 23 of 2026.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 you can see in the comparison table, there is absolute alignment across the board: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Direction &amp; Bias: Every model holds a Neutral-Bearish outlook.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Confidence: They all rate their confidence as Medium, indicating a steady, calculated downside risk rather than a sudden panic.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Macro Driver: The primary catalyst identified by all models is the upcoming U.S. CPI and PPI Inflation Reports, which will heavily impact the 10-year Treasury yield.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models have locked in an expected weekly trading range of 7,360 to 7,420. Given the technical breakdown below the 8 and 21-day EMAs, the consensus strategy here is clear: manage risk cautiously and treat short-term rallies as opportunities to de-risk.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8fec5936e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e8fec5936e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Our key human insight was that inflation risk remains asymmetric. A favorable CPI report may only produce a modest rebound, while a hotter reading could reinforce the current technical breakdown. Combined with weak June seasonality and all major indices trading below their 8-day and 21-day EMAs, this supports our Neutral-Bearish outlook.  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8fec5936e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e8fec5936e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8fec5936e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8fec5936e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 am R10, the QA Lead and Learning Log Lead.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 Week 03 / W23, I checked whether the final prediction is supported by evidence.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Almanac result is bearish-neutral. The macro section highlights CPI, PPI, inflation risk, and Treasury yield pressure. The technical section shows weak market structure.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All four AI models predict DOWN, and the Human Score is -3, so the overall view is neutral-bearish.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My QA finding is that the final prediction is not only based on AI consensus. It is also supported by human judgment and market evidence.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key learning is: do not copy AI directly. Compare AI output with Human Score before the final prediction.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CP3405 TR2 2026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Wenhan Hu, Yijie Kan, The Bao Le, Yu-Chu Lin, Junwen Lu, Guanyu Lu, Hamzah Nutt, Swan Htet Zaw, Hao Wang, Qinyang Wu, Zaikun Zheng, Yue Zhou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169375" y="445025"/>
            <a:ext cx="437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220"/>
              <a:t>R1- Week 3 Sprint Direction</a:t>
            </a:r>
            <a:endParaRPr b="1" sz="2220"/>
          </a:p>
        </p:txBody>
      </p:sp>
      <p:sp>
        <p:nvSpPr>
          <p:cNvPr id="61" name="Google Shape;61;p14"/>
          <p:cNvSpPr/>
          <p:nvPr/>
        </p:nvSpPr>
        <p:spPr>
          <a:xfrm>
            <a:off x="0" y="0"/>
            <a:ext cx="9144000" cy="4014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6439175" y="509075"/>
            <a:ext cx="2308800" cy="4446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A64D79"/>
                </a:solidFill>
              </a:rPr>
              <a:t>Week 3: evidence-balance prediction</a:t>
            </a:r>
            <a:endParaRPr b="1" sz="1300">
              <a:solidFill>
                <a:srgbClr val="A64D79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169375" y="844975"/>
            <a:ext cx="452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Product Owner: The Bao Le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272375" y="1308000"/>
            <a:ext cx="8475600" cy="2245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272375" y="1308000"/>
            <a:ext cx="379200" cy="2245800"/>
          </a:xfrm>
          <a:prstGeom prst="rect">
            <a:avLst/>
          </a:prstGeom>
          <a:solidFill>
            <a:srgbClr val="A64D79"/>
          </a:solidFill>
          <a:ln cap="flat" cmpd="sng" w="9525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777350" y="1607400"/>
            <a:ext cx="149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Sprint Goal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777350" y="2069100"/>
            <a:ext cx="5127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Produce a balanced market prediction for SPX, NDX, and IWM by comparing Almanac, Macro, Technical, and Multi‑LLM evidence before deciding final direction and confidence.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777350" y="2837575"/>
            <a:ext cx="5127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2"/>
                </a:solidFill>
              </a:rPr>
              <a:t>Quality target: improve confidence calibration, not just directional accuracy.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6439100" y="1512713"/>
            <a:ext cx="2112300" cy="3540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A64D79"/>
                </a:solidFill>
              </a:rPr>
              <a:t>Almanac - seasonality</a:t>
            </a:r>
            <a:endParaRPr sz="1100">
              <a:solidFill>
                <a:srgbClr val="A64D79"/>
              </a:solidFill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6439100" y="2006838"/>
            <a:ext cx="2112300" cy="354000"/>
          </a:xfrm>
          <a:prstGeom prst="roundRect">
            <a:avLst>
              <a:gd fmla="val 16667" name="adj"/>
            </a:avLst>
          </a:prstGeom>
          <a:solidFill>
            <a:srgbClr val="D5A6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A64D79"/>
                </a:solidFill>
              </a:rPr>
              <a:t>Macro - events &amp; risk</a:t>
            </a:r>
            <a:endParaRPr sz="1100">
              <a:solidFill>
                <a:srgbClr val="A64D79"/>
              </a:solidFill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6439100" y="2500963"/>
            <a:ext cx="2112300" cy="3540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C1130"/>
                </a:solidFill>
              </a:rPr>
              <a:t>Technical - trend &amp; breadth</a:t>
            </a:r>
            <a:endParaRPr sz="1100">
              <a:solidFill>
                <a:srgbClr val="4C1130"/>
              </a:solidFill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6439100" y="2995088"/>
            <a:ext cx="2112300" cy="354000"/>
          </a:xfrm>
          <a:prstGeom prst="roundRect">
            <a:avLst>
              <a:gd fmla="val 16667" name="adj"/>
            </a:avLst>
          </a:prstGeom>
          <a:solidFill>
            <a:srgbClr val="A64D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AD1DC"/>
                </a:solidFill>
              </a:rPr>
              <a:t>Multi-LLM - consensus check</a:t>
            </a:r>
            <a:endParaRPr sz="1100">
              <a:solidFill>
                <a:srgbClr val="EAD1DC"/>
              </a:solidFill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272275" y="3753575"/>
            <a:ext cx="4038900" cy="1272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381375" y="3753575"/>
            <a:ext cx="185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Calibration Results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444175" y="4208750"/>
            <a:ext cx="1091700" cy="643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rgbClr val="C27B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+4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Week 2 Score</a:t>
            </a:r>
            <a:endParaRPr sz="900"/>
          </a:p>
        </p:txBody>
      </p:sp>
      <p:sp>
        <p:nvSpPr>
          <p:cNvPr id="76" name="Google Shape;76;p14"/>
          <p:cNvSpPr/>
          <p:nvPr/>
        </p:nvSpPr>
        <p:spPr>
          <a:xfrm>
            <a:off x="1731600" y="4208750"/>
            <a:ext cx="1091700" cy="643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rgbClr val="C27B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2 HIT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SPX / NDX</a:t>
            </a:r>
            <a:endParaRPr sz="1000"/>
          </a:p>
        </p:txBody>
      </p:sp>
      <p:sp>
        <p:nvSpPr>
          <p:cNvPr id="77" name="Google Shape;77;p14"/>
          <p:cNvSpPr/>
          <p:nvPr/>
        </p:nvSpPr>
        <p:spPr>
          <a:xfrm>
            <a:off x="3019025" y="4208750"/>
            <a:ext cx="1091700" cy="643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rgbClr val="C27B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1 MISS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IWM</a:t>
            </a:r>
            <a:endParaRPr sz="1000"/>
          </a:p>
        </p:txBody>
      </p:sp>
      <p:sp>
        <p:nvSpPr>
          <p:cNvPr id="78" name="Google Shape;78;p14"/>
          <p:cNvSpPr/>
          <p:nvPr/>
        </p:nvSpPr>
        <p:spPr>
          <a:xfrm>
            <a:off x="4692475" y="3753575"/>
            <a:ext cx="4038900" cy="1272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4844875" y="3753575"/>
            <a:ext cx="174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Definition of Done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4844875" y="4074350"/>
            <a:ext cx="36693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Evidence updated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Multi‑LLM comparison completed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Human Score + override completed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Prediction committed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311700" y="151400"/>
            <a:ext cx="8902200" cy="3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R8 Data Lead </a:t>
            </a:r>
            <a:endParaRPr/>
          </a:p>
        </p:txBody>
      </p:sp>
      <p:pic>
        <p:nvPicPr>
          <p:cNvPr id="86" name="Google Shape;8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75" y="891650"/>
            <a:ext cx="4836301" cy="391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6500" y="263900"/>
            <a:ext cx="3544350" cy="282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48501" y="3252200"/>
            <a:ext cx="2832927" cy="174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R3 Almanac Lead</a:t>
            </a:r>
            <a:endParaRPr/>
          </a:p>
        </p:txBody>
      </p:sp>
      <p:graphicFrame>
        <p:nvGraphicFramePr>
          <p:cNvPr id="94" name="Google Shape;94;p16"/>
          <p:cNvGraphicFramePr/>
          <p:nvPr/>
        </p:nvGraphicFramePr>
        <p:xfrm>
          <a:off x="651900" y="17123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{4CE43D8D-F15C-4216-A29E-7EC5B40578A7}</a:tableStyleId>
              </a:tblPr>
              <a:tblGrid>
                <a:gridCol w="1119675"/>
                <a:gridCol w="521275"/>
                <a:gridCol w="1054325"/>
              </a:tblGrid>
              <a:tr h="258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Index</a:t>
                      </a:r>
                      <a:endParaRPr b="1"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Rank</a:t>
                      </a:r>
                      <a:endParaRPr b="1"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Avg % change</a:t>
                      </a:r>
                      <a:endParaRPr b="1" sz="1000"/>
                    </a:p>
                  </a:txBody>
                  <a:tcPr marT="91425" marB="91425" marR="91425" marL="91425" anchor="ctr"/>
                </a:tc>
              </a:tr>
              <a:tr h="25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S&amp;P 500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9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38761D"/>
                          </a:solidFill>
                        </a:rPr>
                        <a:t>+0.2%</a:t>
                      </a:r>
                      <a:endParaRPr sz="1000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EAD3"/>
                    </a:solidFill>
                  </a:tcPr>
                </a:tc>
              </a:tr>
              <a:tr h="37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S&amp;P 500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(mid-term year)</a:t>
                      </a:r>
                      <a:endParaRPr sz="1000"/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9</a:t>
                      </a:r>
                      <a:endParaRPr sz="1000"/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990000"/>
                          </a:solidFill>
                        </a:rPr>
                        <a:t>-2.1%</a:t>
                      </a:r>
                      <a:endParaRPr sz="1000">
                        <a:solidFill>
                          <a:srgbClr val="990000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25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NASDAQ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6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38761D"/>
                          </a:solidFill>
                        </a:rPr>
                        <a:t>+1.0%</a:t>
                      </a:r>
                      <a:endParaRPr sz="1000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EAD3"/>
                    </a:solidFill>
                  </a:tcPr>
                </a:tc>
              </a:tr>
              <a:tr h="25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Russell 2000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7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38761D"/>
                          </a:solidFill>
                        </a:rPr>
                        <a:t>+0.8%</a:t>
                      </a:r>
                      <a:endParaRPr sz="1000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5" name="Google Shape;95;p16"/>
          <p:cNvGraphicFramePr/>
          <p:nvPr/>
        </p:nvGraphicFramePr>
        <p:xfrm>
          <a:off x="4262375" y="11942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{4CE43D8D-F15C-4216-A29E-7EC5B40578A7}</a:tableStyleId>
              </a:tblPr>
              <a:tblGrid>
                <a:gridCol w="1216225"/>
                <a:gridCol w="680825"/>
                <a:gridCol w="648975"/>
                <a:gridCol w="648200"/>
                <a:gridCol w="1018525"/>
              </a:tblGrid>
              <a:tr h="254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Sector</a:t>
                      </a:r>
                      <a:endParaRPr b="1"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Window</a:t>
                      </a:r>
                      <a:endParaRPr b="1"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Start</a:t>
                      </a:r>
                      <a:endParaRPr b="1"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End</a:t>
                      </a:r>
                      <a:endParaRPr b="1"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Avg % return</a:t>
                      </a:r>
                      <a:endParaRPr b="1" sz="1000"/>
                    </a:p>
                  </a:txBody>
                  <a:tcPr marT="91425" marB="91425" marR="91425" marL="91425" anchor="ctr"/>
                </a:tc>
              </a:tr>
              <a:tr h="25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Financials (XLF)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990000"/>
                          </a:solidFill>
                        </a:rPr>
                        <a:t>SHORT</a:t>
                      </a:r>
                      <a:endParaRPr sz="1000">
                        <a:solidFill>
                          <a:srgbClr val="990000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B. May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 B. Jul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990000"/>
                          </a:solidFill>
                        </a:rPr>
                        <a:t>-6.3%</a:t>
                      </a:r>
                      <a:endParaRPr sz="1000">
                        <a:solidFill>
                          <a:srgbClr val="990000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25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Gold (XAU)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990000"/>
                          </a:solidFill>
                        </a:rPr>
                        <a:t>SHORT</a:t>
                      </a:r>
                      <a:endParaRPr sz="1000">
                        <a:solidFill>
                          <a:srgbClr val="990000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M. May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E. Jun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990000"/>
                          </a:solidFill>
                        </a:rPr>
                        <a:t>-6.8%</a:t>
                      </a:r>
                      <a:endParaRPr sz="1000">
                        <a:solidFill>
                          <a:srgbClr val="990000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25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Materials (XLB)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990000"/>
                          </a:solidFill>
                        </a:rPr>
                        <a:t>SHORT</a:t>
                      </a:r>
                      <a:endParaRPr sz="1000">
                        <a:solidFill>
                          <a:srgbClr val="990000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M. May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M. Oct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990000"/>
                          </a:solidFill>
                        </a:rPr>
                        <a:t>-5.1%</a:t>
                      </a:r>
                      <a:endParaRPr sz="1000">
                        <a:solidFill>
                          <a:srgbClr val="990000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25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Oil (XLE)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990000"/>
                          </a:solidFill>
                        </a:rPr>
                        <a:t>SHORT</a:t>
                      </a:r>
                      <a:endParaRPr sz="1000">
                        <a:solidFill>
                          <a:srgbClr val="990000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B. Jun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E. Aug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990000"/>
                          </a:solidFill>
                        </a:rPr>
                        <a:t>-5.7%</a:t>
                      </a:r>
                      <a:endParaRPr sz="1000">
                        <a:solidFill>
                          <a:srgbClr val="990000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25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Technology (XLK)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38761D"/>
                          </a:solidFill>
                        </a:rPr>
                        <a:t>LONG</a:t>
                      </a:r>
                      <a:endParaRPr sz="1000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M. Mar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M. Jul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38761D"/>
                          </a:solidFill>
                        </a:rPr>
                        <a:t>+10.9%</a:t>
                      </a:r>
                      <a:endParaRPr sz="1000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EAD3"/>
                    </a:solidFill>
                  </a:tcPr>
                </a:tc>
              </a:tr>
              <a:tr h="25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Utilities (XLU)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38761D"/>
                          </a:solidFill>
                        </a:rPr>
                        <a:t>LONG</a:t>
                      </a:r>
                      <a:endParaRPr sz="1000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M. Mar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E. Oct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38761D"/>
                          </a:solidFill>
                        </a:rPr>
                        <a:t>+9.3%</a:t>
                      </a:r>
                      <a:endParaRPr sz="1000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96" name="Google Shape;96;p16"/>
          <p:cNvSpPr txBox="1"/>
          <p:nvPr/>
        </p:nvSpPr>
        <p:spPr>
          <a:xfrm>
            <a:off x="493025" y="3821000"/>
            <a:ext cx="34518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Week-specific notes:</a:t>
            </a:r>
            <a:endParaRPr sz="1800"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GB">
                <a:solidFill>
                  <a:schemeClr val="dk2"/>
                </a:solidFill>
              </a:rPr>
              <a:t>Mixed record, no dominant pattern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4251536" y="3821000"/>
            <a:ext cx="4315500" cy="10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Conclusion:</a:t>
            </a:r>
            <a:endParaRPr sz="1800"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GB">
                <a:solidFill>
                  <a:schemeClr val="dk2"/>
                </a:solidFill>
              </a:rPr>
              <a:t>Almanac seasonal bias: </a:t>
            </a:r>
            <a:r>
              <a:rPr b="1" lang="en-GB">
                <a:solidFill>
                  <a:schemeClr val="dk2"/>
                </a:solidFill>
              </a:rPr>
              <a:t>BEARISH-NEUTRAL</a:t>
            </a:r>
            <a:endParaRPr b="1"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GB">
                <a:solidFill>
                  <a:schemeClr val="dk2"/>
                </a:solidFill>
              </a:rPr>
              <a:t>Pattern </a:t>
            </a:r>
            <a:r>
              <a:rPr lang="en-GB">
                <a:solidFill>
                  <a:schemeClr val="dk2"/>
                </a:solidFill>
              </a:rPr>
              <a:t>confidence: </a:t>
            </a:r>
            <a:r>
              <a:rPr b="1" lang="en-GB">
                <a:solidFill>
                  <a:schemeClr val="dk2"/>
                </a:solidFill>
              </a:rPr>
              <a:t>MEDIUM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556538" y="1315168"/>
            <a:ext cx="2886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Vital stats: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4925738" y="797068"/>
            <a:ext cx="2886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Sector signals</a:t>
            </a:r>
            <a:r>
              <a:rPr lang="en-GB" sz="1800">
                <a:solidFill>
                  <a:schemeClr val="dk2"/>
                </a:solidFill>
              </a:rPr>
              <a:t>: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>
            <p:ph type="title"/>
          </p:nvPr>
        </p:nvSpPr>
        <p:spPr>
          <a:xfrm>
            <a:off x="311700" y="120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R4 Macro Lead</a:t>
            </a:r>
            <a:endParaRPr/>
          </a:p>
        </p:txBody>
      </p:sp>
      <p:pic>
        <p:nvPicPr>
          <p:cNvPr id="105" name="Google Shape;105;p17" title="fedwatch_2026-W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125" y="872225"/>
            <a:ext cx="3749102" cy="248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7" title="treasury_yield_W2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975" y="3630376"/>
            <a:ext cx="4419599" cy="709587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7"/>
          <p:cNvSpPr txBox="1"/>
          <p:nvPr/>
        </p:nvSpPr>
        <p:spPr>
          <a:xfrm>
            <a:off x="5431200" y="470700"/>
            <a:ext cx="3401100" cy="46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2"/>
                </a:solidFill>
              </a:rPr>
              <a:t>Federal Reserve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2"/>
                </a:solidFill>
              </a:rPr>
              <a:t>• 95.4% probability of no rate change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2"/>
                </a:solidFill>
              </a:rPr>
              <a:t>• Market expects rates to remain stable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2"/>
                </a:solidFill>
              </a:rPr>
              <a:t>Treasury Yield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2"/>
                </a:solidFill>
              </a:rPr>
              <a:t>• US 10Y Yield: 4.55%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2"/>
                </a:solidFill>
              </a:rPr>
              <a:t>• Higher yields may pressure growth stocks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2"/>
                </a:solidFill>
              </a:rPr>
              <a:t>Key Events This Week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2"/>
                </a:solidFill>
              </a:rPr>
              <a:t>• CPI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2"/>
                </a:solidFill>
              </a:rPr>
              <a:t>• PPI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2"/>
                </a:solidFill>
              </a:rPr>
              <a:t>• Initial Jobless Claims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2"/>
                </a:solidFill>
              </a:rPr>
              <a:t>Iran Risk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2"/>
                </a:solidFill>
              </a:rPr>
              <a:t>• US sanctions on Iran remain in place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2"/>
                </a:solidFill>
              </a:rPr>
              <a:t>• Geopolitical tensions may affect oil prices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2"/>
                </a:solidFill>
              </a:rPr>
              <a:t>Macro Bias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2"/>
                </a:solidFill>
              </a:rPr>
              <a:t>Neutral to Slightly Bullish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2"/>
                </a:solidFill>
              </a:rPr>
              <a:t>Primary Driver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2"/>
                </a:solidFill>
              </a:rPr>
              <a:t>US CPI Report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R5 Technical Lead</a:t>
            </a:r>
            <a:endParaRPr/>
          </a:p>
        </p:txBody>
      </p:sp>
      <p:sp>
        <p:nvSpPr>
          <p:cNvPr id="113" name="Google Shape;113;p18"/>
          <p:cNvSpPr txBox="1"/>
          <p:nvPr/>
        </p:nvSpPr>
        <p:spPr>
          <a:xfrm>
            <a:off x="940875" y="1362050"/>
            <a:ext cx="6030600" cy="3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SPX,NDX,IWM are 3 stocks I am observe.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Based on the indicator 8 EMA and 21 EMA, we could predict the trend whether it will bullish or </a:t>
            </a:r>
            <a:r>
              <a:rPr lang="en-GB" sz="1800">
                <a:solidFill>
                  <a:schemeClr val="dk2"/>
                </a:solidFill>
              </a:rPr>
              <a:t>bearish</a:t>
            </a:r>
            <a:r>
              <a:rPr lang="en-GB" sz="1800">
                <a:solidFill>
                  <a:schemeClr val="dk2"/>
                </a:solidFill>
              </a:rPr>
              <a:t>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Because</a:t>
            </a:r>
            <a:r>
              <a:rPr lang="en-GB" sz="1800">
                <a:solidFill>
                  <a:schemeClr val="dk2"/>
                </a:solidFill>
              </a:rPr>
              <a:t> of </a:t>
            </a:r>
            <a:r>
              <a:rPr lang="en-GB" sz="1800">
                <a:solidFill>
                  <a:schemeClr val="dk2"/>
                </a:solidFill>
              </a:rPr>
              <a:t>the</a:t>
            </a:r>
            <a:r>
              <a:rPr lang="en-GB" sz="1800">
                <a:solidFill>
                  <a:schemeClr val="dk2"/>
                </a:solidFill>
              </a:rPr>
              <a:t> stock market changing in an instant, so we choose the tag on 1D.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121200" y="78675"/>
            <a:ext cx="2939100" cy="6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R6 LLM Operator</a:t>
            </a:r>
            <a:endParaRPr/>
          </a:p>
        </p:txBody>
      </p:sp>
      <p:graphicFrame>
        <p:nvGraphicFramePr>
          <p:cNvPr id="119" name="Google Shape;119;p19"/>
          <p:cNvGraphicFramePr/>
          <p:nvPr/>
        </p:nvGraphicFramePr>
        <p:xfrm>
          <a:off x="227825" y="85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{4CE43D8D-F15C-4216-A29E-7EC5B40578A7}</a:tableStyleId>
              </a:tblPr>
              <a:tblGrid>
                <a:gridCol w="1688175"/>
                <a:gridCol w="1688175"/>
                <a:gridCol w="1688175"/>
                <a:gridCol w="1688175"/>
                <a:gridCol w="1688175"/>
              </a:tblGrid>
              <a:tr h="51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1F2328"/>
                          </a:solidFill>
                          <a:highlight>
                            <a:srgbClr val="A2C4C9"/>
                          </a:highlight>
                        </a:rPr>
                        <a:t>Model</a:t>
                      </a:r>
                      <a:endParaRPr b="1" sz="1800">
                        <a:highlight>
                          <a:srgbClr val="A2C4C9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1F2328"/>
                          </a:solidFill>
                          <a:highlight>
                            <a:srgbClr val="A2C4C9"/>
                          </a:highlight>
                        </a:rPr>
                        <a:t>Direction </a:t>
                      </a:r>
                      <a:endParaRPr b="1" sz="1800">
                        <a:solidFill>
                          <a:srgbClr val="1F2328"/>
                        </a:solidFill>
                        <a:highlight>
                          <a:srgbClr val="A2C4C9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1F2328"/>
                          </a:solidFill>
                          <a:highlight>
                            <a:srgbClr val="A2C4C9"/>
                          </a:highlight>
                        </a:rPr>
                        <a:t>Bias </a:t>
                      </a:r>
                      <a:endParaRPr b="1" sz="1800">
                        <a:solidFill>
                          <a:srgbClr val="1F2328"/>
                        </a:solidFill>
                        <a:highlight>
                          <a:srgbClr val="A2C4C9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1F2328"/>
                          </a:solidFill>
                          <a:highlight>
                            <a:srgbClr val="A2C4C9"/>
                          </a:highlight>
                        </a:rPr>
                        <a:t>Confidence </a:t>
                      </a:r>
                      <a:endParaRPr b="1" sz="1800">
                        <a:solidFill>
                          <a:srgbClr val="1F2328"/>
                        </a:solidFill>
                        <a:highlight>
                          <a:srgbClr val="A2C4C9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1F2328"/>
                          </a:solidFill>
                          <a:highlight>
                            <a:srgbClr val="A2C4C9"/>
                          </a:highlight>
                        </a:rPr>
                        <a:t>Macro Driver </a:t>
                      </a:r>
                      <a:endParaRPr b="1" sz="1800">
                        <a:solidFill>
                          <a:srgbClr val="1F2328"/>
                        </a:solidFill>
                        <a:highlight>
                          <a:srgbClr val="A2C4C9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C4C9"/>
                    </a:solidFill>
                  </a:tcPr>
                </a:tc>
              </a:tr>
              <a:tr h="493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/>
                        <a:t>ChatGPT</a:t>
                      </a:r>
                      <a:r>
                        <a:rPr lang="en-GB" sz="1800"/>
                        <a:t> 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CC0000"/>
                          </a:solidFill>
                          <a:highlight>
                            <a:srgbClr val="FFE599"/>
                          </a:highlight>
                        </a:rPr>
                        <a:t>Down</a:t>
                      </a:r>
                      <a:endParaRPr>
                        <a:solidFill>
                          <a:srgbClr val="CC0000"/>
                        </a:solidFill>
                        <a:highlight>
                          <a:srgbClr val="FFE599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</a:rPr>
                        <a:t>Neutral-Bearish</a:t>
                      </a:r>
                      <a:r>
                        <a:rPr lang="en-GB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</a:rPr>
                        <a:t>Medium</a:t>
                      </a:r>
                      <a:r>
                        <a:rPr lang="en-GB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</a:rPr>
                        <a:t>U.S. CPI and PPI Inflation Reports</a:t>
                      </a:r>
                      <a:r>
                        <a:rPr lang="en-GB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/>
                        <a:t>Claude </a:t>
                      </a:r>
                      <a:endParaRPr b="1"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CC0000"/>
                          </a:solidFill>
                          <a:highlight>
                            <a:srgbClr val="FFE599"/>
                          </a:highlight>
                        </a:rPr>
                        <a:t>Down </a:t>
                      </a:r>
                      <a:endParaRPr>
                        <a:solidFill>
                          <a:srgbClr val="CC0000"/>
                        </a:solidFill>
                        <a:highlight>
                          <a:srgbClr val="FFE599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1F2328"/>
                          </a:solidFill>
                          <a:highlight>
                            <a:srgbClr val="F6F8FA"/>
                          </a:highlight>
                        </a:rPr>
                        <a:t>Neutral-Bearish</a:t>
                      </a:r>
                      <a:r>
                        <a:rPr lang="en-GB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1F2328"/>
                          </a:solidFill>
                          <a:highlight>
                            <a:srgbClr val="F6F8FA"/>
                          </a:highlight>
                        </a:rPr>
                        <a:t>Medium</a:t>
                      </a:r>
                      <a:r>
                        <a:rPr lang="en-GB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1F2328"/>
                          </a:solidFill>
                          <a:highlight>
                            <a:srgbClr val="F6F8FA"/>
                          </a:highlight>
                        </a:rPr>
                        <a:t>U.S. CPI Report</a:t>
                      </a:r>
                      <a:r>
                        <a:rPr lang="en-GB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/>
                        <a:t>Gemini </a:t>
                      </a:r>
                      <a:endParaRPr b="1"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CC0000"/>
                          </a:solidFill>
                          <a:highlight>
                            <a:srgbClr val="FFE599"/>
                          </a:highlight>
                        </a:rPr>
                        <a:t>Down </a:t>
                      </a:r>
                      <a:endParaRPr>
                        <a:solidFill>
                          <a:srgbClr val="CC0000"/>
                        </a:solidFill>
                        <a:highlight>
                          <a:srgbClr val="FFE599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</a:rPr>
                        <a:t>Neutral-Bearish</a:t>
                      </a:r>
                      <a:r>
                        <a:rPr lang="en-GB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1F2328"/>
                          </a:solidFill>
                          <a:highlight>
                            <a:srgbClr val="F6F8FA"/>
                          </a:highlight>
                        </a:rPr>
                        <a:t>Medium</a:t>
                      </a:r>
                      <a:r>
                        <a:rPr lang="en-GB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1F2328"/>
                          </a:solidFill>
                          <a:highlight>
                            <a:srgbClr val="FFFFFF"/>
                          </a:highlight>
                        </a:rPr>
                        <a:t>U.S. CPI and PPI Inflation Data</a:t>
                      </a:r>
                      <a:r>
                        <a:rPr lang="en-GB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/>
                        <a:t>DeepSeek </a:t>
                      </a:r>
                      <a:endParaRPr b="1"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CC0000"/>
                          </a:solidFill>
                          <a:highlight>
                            <a:srgbClr val="FFE599"/>
                          </a:highlight>
                        </a:rPr>
                        <a:t>Down </a:t>
                      </a:r>
                      <a:endParaRPr>
                        <a:solidFill>
                          <a:srgbClr val="CC0000"/>
                        </a:solidFill>
                        <a:highlight>
                          <a:srgbClr val="FFE599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1F2328"/>
                          </a:solidFill>
                          <a:highlight>
                            <a:srgbClr val="F6F8FA"/>
                          </a:highlight>
                        </a:rPr>
                        <a:t>Neutral-Bearish</a:t>
                      </a:r>
                      <a:r>
                        <a:rPr lang="en-GB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1F2328"/>
                          </a:solidFill>
                          <a:highlight>
                            <a:srgbClr val="F6F8FA"/>
                          </a:highlight>
                        </a:rPr>
                        <a:t>Medium</a:t>
                      </a:r>
                      <a:r>
                        <a:rPr lang="en-GB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1F2328"/>
                          </a:solidFill>
                          <a:highlight>
                            <a:srgbClr val="F6F8FA"/>
                          </a:highlight>
                        </a:rPr>
                        <a:t>U.S. CPI Report</a:t>
                      </a:r>
                      <a:r>
                        <a:rPr lang="en-GB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0" name="Google Shape;120;p19"/>
          <p:cNvSpPr/>
          <p:nvPr/>
        </p:nvSpPr>
        <p:spPr>
          <a:xfrm>
            <a:off x="227825" y="3742875"/>
            <a:ext cx="1931100" cy="11928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9"/>
          <p:cNvSpPr txBox="1"/>
          <p:nvPr/>
        </p:nvSpPr>
        <p:spPr>
          <a:xfrm>
            <a:off x="227825" y="3801900"/>
            <a:ext cx="1931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Unanimous Call: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Direction: DOWN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2" name="Google Shape;122;p19"/>
          <p:cNvSpPr/>
          <p:nvPr/>
        </p:nvSpPr>
        <p:spPr>
          <a:xfrm>
            <a:off x="2421788" y="3682650"/>
            <a:ext cx="1931100" cy="11928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9"/>
          <p:cNvSpPr/>
          <p:nvPr/>
        </p:nvSpPr>
        <p:spPr>
          <a:xfrm>
            <a:off x="4623875" y="3682650"/>
            <a:ext cx="1931100" cy="11928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9"/>
          <p:cNvSpPr/>
          <p:nvPr/>
        </p:nvSpPr>
        <p:spPr>
          <a:xfrm>
            <a:off x="6825975" y="3682650"/>
            <a:ext cx="1931100" cy="11928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9"/>
          <p:cNvSpPr txBox="1"/>
          <p:nvPr/>
        </p:nvSpPr>
        <p:spPr>
          <a:xfrm>
            <a:off x="2512300" y="3778800"/>
            <a:ext cx="1604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Risk Profile: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Neutral-Bearish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6" name="Google Shape;126;p19"/>
          <p:cNvSpPr txBox="1"/>
          <p:nvPr/>
        </p:nvSpPr>
        <p:spPr>
          <a:xfrm>
            <a:off x="4623875" y="3778800"/>
            <a:ext cx="1931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Trading Range: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7,360 – 7,420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6825950" y="3804375"/>
            <a:ext cx="1931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Technical Signal: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Below 8/21 EMAs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0" y="-113050"/>
            <a:ext cx="8520600" cy="9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R7 Human Score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96968"/>
            <a:ext cx="4761400" cy="4846533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0"/>
          <p:cNvSpPr txBox="1"/>
          <p:nvPr/>
        </p:nvSpPr>
        <p:spPr>
          <a:xfrm>
            <a:off x="4710050" y="1368000"/>
            <a:ext cx="45744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900">
                <a:solidFill>
                  <a:schemeClr val="dk2"/>
                </a:solidFill>
                <a:highlight>
                  <a:schemeClr val="lt1"/>
                </a:highlight>
              </a:rPr>
              <a:t>The Human Score is slightly more cautious than the AI consensus. Bearish technical conditions, weak midterm-year seasonality, and inflation-related event risk outweigh the relatively stable macro backdrop, supporting a Neutral-Bearish outlook. </a:t>
            </a:r>
            <a:endParaRPr b="1" i="1" sz="19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R9 GitHub Lead</a:t>
            </a:r>
            <a:endParaRPr/>
          </a:p>
        </p:txBody>
      </p:sp>
      <p:pic>
        <p:nvPicPr>
          <p:cNvPr id="140" name="Google Shape;14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1825" y="1891250"/>
            <a:ext cx="4299500" cy="2849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5425" y="1891250"/>
            <a:ext cx="4186799" cy="2849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R10 QA Lead</a:t>
            </a:r>
            <a:endParaRPr/>
          </a:p>
        </p:txBody>
      </p:sp>
      <p:sp>
        <p:nvSpPr>
          <p:cNvPr id="147" name="Google Shape;147;p22"/>
          <p:cNvSpPr txBox="1"/>
          <p:nvPr/>
        </p:nvSpPr>
        <p:spPr>
          <a:xfrm>
            <a:off x="328425" y="1099800"/>
            <a:ext cx="8433900" cy="38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2"/>
                </a:solidFill>
              </a:rPr>
              <a:t>QA Check — Week 03 / W23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2"/>
                </a:solidFill>
              </a:rPr>
              <a:t>Checked evidence: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2"/>
                </a:solidFill>
              </a:rPr>
              <a:t>• Almanac: Bearish-Neutral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2"/>
                </a:solidFill>
              </a:rPr>
              <a:t>• Macro: CPI/PPI risk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2"/>
                </a:solidFill>
              </a:rPr>
              <a:t>• Technical: weak structure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2"/>
                </a:solidFill>
              </a:rPr>
              <a:t>• LLM: 4/4 DOWN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2"/>
                </a:solidFill>
              </a:rPr>
              <a:t>• Human Score: -3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2"/>
                </a:solidFill>
              </a:rPr>
              <a:t>R10 finding: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2"/>
                </a:solidFill>
              </a:rPr>
              <a:t>• Neutral-Bearish outlook is supported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2"/>
                </a:solidFill>
              </a:rPr>
              <a:t>• Final prediction is not only based on AI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2"/>
                </a:solidFill>
              </a:rPr>
              <a:t>• AI consensus matches Human Score and market evidence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2"/>
                </a:solidFill>
              </a:rPr>
              <a:t>Learning: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</a:rPr>
              <a:t>• Compare AI output with human judgment before final prediction 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