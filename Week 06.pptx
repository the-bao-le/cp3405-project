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oboto Mon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DC92A4-AD73-4E53-A7EA-90CB50100382}">
  <a:tblStyle styleId="{E6DC92A4-AD73-4E53-A7EA-90CB5010038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C11B4D0-DC67-440D-AFD1-FEC4C225134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RobotoMono-bold.fntdata"/><Relationship Id="rId10" Type="http://schemas.openxmlformats.org/officeDocument/2006/relationships/slide" Target="slides/slide4.xml"/><Relationship Id="rId21" Type="http://schemas.openxmlformats.org/officeDocument/2006/relationships/font" Target="fonts/RobotoMono-regular.fntdata"/><Relationship Id="rId13" Type="http://schemas.openxmlformats.org/officeDocument/2006/relationships/slide" Target="slides/slide7.xml"/><Relationship Id="rId24" Type="http://schemas.openxmlformats.org/officeDocument/2006/relationships/font" Target="fonts/RobotoMono-boldItalic.fntdata"/><Relationship Id="rId12" Type="http://schemas.openxmlformats.org/officeDocument/2006/relationships/slide" Target="slides/slide6.xml"/><Relationship Id="rId23" Type="http://schemas.openxmlformats.org/officeDocument/2006/relationships/font" Target="fonts/RobotoMon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4b3aa82c9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f4b3aa82c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4d66d5106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a:solidFill>
                  <a:schemeClr val="dk1"/>
                </a:solidFill>
              </a:rPr>
              <a:t>For this sprint, the main focus was agent automation.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Last week’s calibration result was +13, an impressive but grounded number as our team got all 6 predictions correct. For Week 5, we planned to make the evidence pipeline more reliable and repeatable.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The primary question was whether we could automate the agents enough to support the forecast process. For W25, the output needed to cover three indexes — SPX, NDX, and IWM — plus five sectors: Technology, Energy, Financials, Utilities, and Materials.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The sprint goal was to automate the Almanac and Technical agents so they produce structured evidence, instead of relying on manual notes. We also aimed to automate the calibration log using the existing W22 scoring rule, so the process stays consistent with previous weeks.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The “Done Means” section defines the acceptance criteria. The Almanac and Technical agents must generate structured outputs, the coverage must include all required indexes and sectors, the GitHub Actions workflow must be able to run manually and on schedule, and the W25 prediction must clearly use the automated evidence.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So the main product outcome here is not just the forecast itself. It is a more repeatable workflow that makes future weekly predictions easier to produce and easier to audit.</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75" name="Google Shape;75;g3f4d66d5106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4d66d5106_1_7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a:solidFill>
                  <a:schemeClr val="dk1"/>
                </a:solidFill>
              </a:rPr>
              <a:t>The overall team view is neutral-bullish. For the three main indexes, we are forecasting SPX, NDX, and IWM to move up, but with medium confidence rather than high confidence. NDX has the strongest index range because technology and AI-related names are still showing leadership.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For sectors, Technology is the highest-conviction positive call. XLK is forecast up 1.0% to 2.5% with medium-high confidence because the macro and technical evidence both support continued technology leadership.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Energy is the weakest call. XLE is forecast down because crude oil weakness and negative seasonal factors are creating pressure on the sector.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Financials and Materials are both neutral-to-up. They have some support from resilient growth and market sentiment, but not enough to make them as strong as Technology. Utilities are neutral because they have defensive support, but they are not showing strong leadership.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The key assumption is that AI and technology leadership, together with resilient economic growth, can offset the weak W25 seasonal pattern. The main risk trigger is hotter-than-expected PCE inflation or a more hawkish Fed shift. Technically, the forecast also weakens if SPX falls below its 8-day and 21-day EMAs.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The evidence lock shows the main contradiction clearly: the Almanac is bearish for W25 seasonality, but macro and technical evidence are more constructive. That is why the final forecast is neutral-bullish, not fully bullish.</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01" name="Google Shape;101;g3f4d66d5106_1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4db317210_0_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a:solidFill>
                  <a:schemeClr val="dk1"/>
                </a:solidFill>
              </a:rPr>
              <a:t>The overall team view is neutral-bullish. For the three main indexes, we are forecasting SPX, NDX, and IWM to move up, but with medium confidence rather than high confidence. NDX has the strongest index range because technology and AI-related names are still showing leadership.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For sectors, Technology is the highest-conviction positive call. XLK is forecast up 1.0% to 2.5% with medium-high confidence because the macro and technical evidence both support continued technology leadership.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Energy is the weakest call. XLE is forecast down because crude oil weakness and negative seasonal factors are creating pressure on the sector.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Financials and Materials are both neutral-to-up. They have some support from resilient growth and market sentiment, but not enough to make them as strong as Technology. Utilities are neutral because they have defensive support, but they are not showing strong leadership.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The key assumption is that AI and technology leadership, together with resilient economic growth, can offset the weak W25 seasonal pattern. The main risk trigger is hotter-than-expected PCE inflation or a more hawkish Fed shift. Technically, the forecast also weakens if SPX falls below its 8-day and 21-day EMAs.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The evidence lock shows the main contradiction clearly: the Almanac is bearish for W25 seasonality, but macro and technical evidence are more constructive. That is why the final forecast is neutral-bullish, not fully bullish.</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29" name="Google Shape;129;g3f4db317210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4b3ff77e6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a:t>This week I am presenting the R6 data lead. Because of the study week and our team did not make a prediction， so the purpose of this slide is to show W28 market actuals and the sector signal.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CN"/>
              <a:t>The core market result was mixed. SPX increased by 0.91% and NDX increased by 0.84%, so large-cap indices were positive. However, IWM fell by 0.59%, which means small caps did not confirm the same strength.</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CN"/>
              <a:t>For cross-asset context, Oil was very strong, up 4.12%, while Gold and TLT were both negative. This fits the sector result because Energy was the strongest sector at +3.81%. Technology and Communication Services were also positive, but only 3 of the 11 sectors were up overall.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CN"/>
              <a:t>The weakest sectors were Materials, Industrials, and Healthcare. So my interpretation is that the market move was concentrated, not broad-based. Large-cap and Energy leadership mattered more than general market breadth.</a:t>
            </a:r>
            <a:endParaRPr/>
          </a:p>
          <a:p>
            <a:pPr indent="0" lvl="0" marL="0" rtl="0" algn="l">
              <a:spcBef>
                <a:spcPts val="0"/>
              </a:spcBef>
              <a:spcAft>
                <a:spcPts val="0"/>
              </a:spcAft>
              <a:buNone/>
            </a:pPr>
            <a:r>
              <a:t/>
            </a:r>
            <a:endParaRPr/>
          </a:p>
        </p:txBody>
      </p:sp>
      <p:sp>
        <p:nvSpPr>
          <p:cNvPr id="138" name="Google Shape;138;g3f4b3ff77e6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4bc8c28f3_0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a:t>Hello everyone. I am presenting our forward-looking historical pattern intelligence for W28.</a:t>
            </a:r>
            <a:endParaRPr/>
          </a:p>
          <a:p>
            <a:pPr indent="0" lvl="0" marL="0" rtl="0" algn="l">
              <a:spcBef>
                <a:spcPts val="0"/>
              </a:spcBef>
              <a:spcAft>
                <a:spcPts val="0"/>
              </a:spcAft>
              <a:buClr>
                <a:schemeClr val="dk1"/>
              </a:buClr>
              <a:buSzPts val="1100"/>
              <a:buFont typeface="Arial"/>
              <a:buNone/>
            </a:pPr>
            <a:r>
              <a:rPr lang="zh-CN"/>
              <a:t>Our thesis is clear: while the S&amp;P 500 historically remains strong in July, the U.S. Midterm Election Year cycle introduces a heavy divergence, dragging NASDAQ down to -0.8% and Russell 2000 down to a steep -2.5%.</a:t>
            </a:r>
            <a:endParaRPr/>
          </a:p>
          <a:p>
            <a:pPr indent="0" lvl="0" marL="0" rtl="0" algn="l">
              <a:spcBef>
                <a:spcPts val="0"/>
              </a:spcBef>
              <a:spcAft>
                <a:spcPts val="0"/>
              </a:spcAft>
              <a:buClr>
                <a:schemeClr val="dk1"/>
              </a:buClr>
              <a:buSzPts val="1100"/>
              <a:buFont typeface="Arial"/>
              <a:buNone/>
            </a:pPr>
            <a:r>
              <a:rPr lang="zh-CN"/>
              <a:t>Therefore, our immediate action plan is tactical portfolio tilting: Maximize weight into Tech (XLK) to capture its +10.87% historical alpha, while completely cutting exposure to Financials (XLF), Energy (XLE), and Materials (XLB).</a:t>
            </a:r>
            <a:endParaRPr/>
          </a:p>
          <a:p>
            <a:pPr indent="0" lvl="0" marL="0" rtl="0" algn="l">
              <a:spcBef>
                <a:spcPts val="0"/>
              </a:spcBef>
              <a:spcAft>
                <a:spcPts val="0"/>
              </a:spcAft>
              <a:buClr>
                <a:schemeClr val="dk1"/>
              </a:buClr>
              <a:buSzPts val="1100"/>
              <a:buFont typeface="Arial"/>
              <a:buNone/>
            </a:pPr>
            <a:r>
              <a:rPr lang="zh-CN"/>
              <a:t>This dataset has been fully automated via our cloud infrastructure to ensure precise alignment before market open. Thank you, and I am open to any questions.</a:t>
            </a:r>
            <a:endParaRPr/>
          </a:p>
          <a:p>
            <a:pPr indent="0" lvl="0" marL="0" rtl="0" algn="l">
              <a:spcBef>
                <a:spcPts val="0"/>
              </a:spcBef>
              <a:spcAft>
                <a:spcPts val="0"/>
              </a:spcAft>
              <a:buNone/>
            </a:pPr>
            <a:r>
              <a:t/>
            </a:r>
            <a:endParaRPr/>
          </a:p>
        </p:txBody>
      </p:sp>
      <p:sp>
        <p:nvSpPr>
          <p:cNvPr id="146" name="Google Shape;146;g3f4bc8c28f3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4b56c82c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4b56c82c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This week, I focused on collecting and analysing macroeconomic data to understand the current market outlook.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From the data I collected, the market is still expecting the Federal Reserve to keep interest rates unchanged. However, compared with last week, expectations have become slightly more hawkish, which means investors are becoming more cautious about future monetary policy.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I also found that Treasury yields and oil prices both increased during the week. This suggests that inflation pressure is still an important risk that could affect the market in the coming weeks.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On the other hand, the major U.S. stock indices performed well and market confidence improved, showing that investors are still willing to take some risk despite these concerns.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Based on all the macro indicators, my overall conclusion is that the market outlook is </a:t>
            </a:r>
            <a:r>
              <a:rPr b="1" lang="zh-CN">
                <a:solidFill>
                  <a:schemeClr val="dk1"/>
                </a:solidFill>
              </a:rPr>
              <a:t>neutral to moderately bullish</a:t>
            </a:r>
            <a:r>
              <a:rPr lang="zh-CN">
                <a:solidFill>
                  <a:schemeClr val="dk1"/>
                </a:solidFill>
              </a:rPr>
              <a:t>. The market still has positive momentum, but investors should continue to watch interest rates, inflation, and upcoming economic events closely.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4bc8c28f3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f4bc8c28f3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4bc8c28f3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4bc8c28f3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4bc8c28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4bc8c28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4dc561b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4dc561b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zh-CN">
                <a:solidFill>
                  <a:schemeClr val="dk1"/>
                </a:solidFill>
              </a:rPr>
              <a:t>1. Core Summary &amp; Uncertainty Metrics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Consensus Bias:</a:t>
            </a:r>
            <a:r>
              <a:rPr lang="zh-CN">
                <a:solidFill>
                  <a:schemeClr val="dk1"/>
                </a:solidFill>
              </a:rPr>
              <a:t> Neutral-Bearish (Unanimous Local Alignment)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Directional Call:</a:t>
            </a:r>
            <a:r>
              <a:rPr lang="zh-CN">
                <a:solidFill>
                  <a:schemeClr val="dk1"/>
                </a:solidFill>
              </a:rPr>
              <a:t> Down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Prediction Uncertainty:</a:t>
            </a:r>
            <a:r>
              <a:rPr lang="zh-CN">
                <a:solidFill>
                  <a:schemeClr val="dk1"/>
                </a:solidFill>
              </a:rPr>
              <a:t> Low (High convergence across heterogenous architectures)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Expected SPX Trading Range:</a:t>
            </a:r>
            <a:r>
              <a:rPr lang="zh-CN">
                <a:solidFill>
                  <a:schemeClr val="dk1"/>
                </a:solidFill>
              </a:rPr>
              <a:t> 7,360 – 7,420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Primary Catalyst:</a:t>
            </a:r>
            <a:r>
              <a:rPr lang="zh-CN">
                <a:solidFill>
                  <a:schemeClr val="dk1"/>
                </a:solidFill>
              </a:rPr>
              <a:t> U.S. CPI/PPI Inflation Data &amp; Asymmetric Macro Risk Breakout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a:solidFill>
                  <a:schemeClr val="dk1"/>
                </a:solidFill>
              </a:rPr>
              <a:t>2. Multi-Model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DeepSeek R1 (8b):</a:t>
            </a:r>
            <a:r>
              <a:rPr lang="zh-CN">
                <a:solidFill>
                  <a:schemeClr val="dk1"/>
                </a:solidFill>
              </a:rPr>
              <a:t> </a:t>
            </a:r>
            <a:r>
              <a:rPr lang="zh-CN">
                <a:solidFill>
                  <a:srgbClr val="188038"/>
                </a:solidFill>
                <a:latin typeface="Roboto Mono"/>
                <a:ea typeface="Roboto Mono"/>
                <a:cs typeface="Roboto Mono"/>
                <a:sym typeface="Roboto Mono"/>
              </a:rPr>
              <a:t>Neutral-Bearish</a:t>
            </a:r>
            <a:r>
              <a:rPr lang="zh-CN">
                <a:solidFill>
                  <a:schemeClr val="dk1"/>
                </a:solidFill>
              </a:rPr>
              <a:t> | Confidence: </a:t>
            </a:r>
            <a:r>
              <a:rPr b="1" lang="zh-CN">
                <a:solidFill>
                  <a:schemeClr val="dk1"/>
                </a:solidFill>
              </a:rPr>
              <a:t>7/10</a:t>
            </a:r>
            <a:r>
              <a:rPr lang="zh-CN">
                <a:solidFill>
                  <a:schemeClr val="dk1"/>
                </a:solidFill>
              </a:rPr>
              <a:t> | Cites systemic breakdown below 8/21 EMAs and valuation pressure from elevated 10Y yields (4.55%).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Llama3 (8b):</a:t>
            </a:r>
            <a:r>
              <a:rPr lang="zh-CN">
                <a:solidFill>
                  <a:schemeClr val="dk1"/>
                </a:solidFill>
              </a:rPr>
              <a:t> </a:t>
            </a:r>
            <a:r>
              <a:rPr lang="zh-CN">
                <a:solidFill>
                  <a:srgbClr val="188038"/>
                </a:solidFill>
                <a:latin typeface="Roboto Mono"/>
                <a:ea typeface="Roboto Mono"/>
                <a:cs typeface="Roboto Mono"/>
                <a:sym typeface="Roboto Mono"/>
              </a:rPr>
              <a:t>Bearish</a:t>
            </a:r>
            <a:r>
              <a:rPr lang="zh-CN">
                <a:solidFill>
                  <a:schemeClr val="dk1"/>
                </a:solidFill>
              </a:rPr>
              <a:t> | Confidence: </a:t>
            </a:r>
            <a:r>
              <a:rPr b="1" lang="zh-CN">
                <a:solidFill>
                  <a:schemeClr val="dk1"/>
                </a:solidFill>
              </a:rPr>
              <a:t>8/10</a:t>
            </a:r>
            <a:r>
              <a:rPr lang="zh-CN">
                <a:solidFill>
                  <a:schemeClr val="dk1"/>
                </a:solidFill>
              </a:rPr>
              <a:t> | Highlights midterm election year June seasonality overlays (-2.1% historical average) and Memorial Day week patterns.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Qwen2.5 (7b):</a:t>
            </a:r>
            <a:r>
              <a:rPr lang="zh-CN">
                <a:solidFill>
                  <a:schemeClr val="dk1"/>
                </a:solidFill>
              </a:rPr>
              <a:t> </a:t>
            </a:r>
            <a:r>
              <a:rPr lang="zh-CN">
                <a:solidFill>
                  <a:srgbClr val="188038"/>
                </a:solidFill>
                <a:latin typeface="Roboto Mono"/>
                <a:ea typeface="Roboto Mono"/>
                <a:cs typeface="Roboto Mono"/>
                <a:sym typeface="Roboto Mono"/>
              </a:rPr>
              <a:t>Neutral-Bearish</a:t>
            </a:r>
            <a:r>
              <a:rPr lang="zh-CN">
                <a:solidFill>
                  <a:schemeClr val="dk1"/>
                </a:solidFill>
              </a:rPr>
              <a:t> | Confidence: </a:t>
            </a:r>
            <a:r>
              <a:rPr b="1" lang="zh-CN">
                <a:solidFill>
                  <a:schemeClr val="dk1"/>
                </a:solidFill>
              </a:rPr>
              <a:t>6.5/10</a:t>
            </a:r>
            <a:r>
              <a:rPr lang="zh-CN">
                <a:solidFill>
                  <a:schemeClr val="dk1"/>
                </a:solidFill>
              </a:rPr>
              <a:t> | Identifies macro-technical confluence and potential geopolitical tail risk premium from Iran.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Mistral (7b):</a:t>
            </a:r>
            <a:r>
              <a:rPr lang="zh-CN">
                <a:solidFill>
                  <a:schemeClr val="dk1"/>
                </a:solidFill>
              </a:rPr>
              <a:t> </a:t>
            </a:r>
            <a:r>
              <a:rPr lang="zh-CN">
                <a:solidFill>
                  <a:srgbClr val="188038"/>
                </a:solidFill>
                <a:latin typeface="Roboto Mono"/>
                <a:ea typeface="Roboto Mono"/>
                <a:cs typeface="Roboto Mono"/>
                <a:sym typeface="Roboto Mono"/>
              </a:rPr>
              <a:t>Neutral</a:t>
            </a:r>
            <a:r>
              <a:rPr lang="zh-CN">
                <a:solidFill>
                  <a:schemeClr val="dk1"/>
                </a:solidFill>
              </a:rPr>
              <a:t> | Confidence: </a:t>
            </a:r>
            <a:r>
              <a:rPr b="1" lang="zh-CN">
                <a:solidFill>
                  <a:schemeClr val="dk1"/>
                </a:solidFill>
              </a:rPr>
              <a:t>6/10</a:t>
            </a:r>
            <a:r>
              <a:rPr lang="zh-CN">
                <a:solidFill>
                  <a:schemeClr val="dk1"/>
                </a:solidFill>
              </a:rPr>
              <a:t> | Recommends tactical downside hedging due to muted upside volatility post-options expiration.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4dc561b28_6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This week, our Human Score increased from </a:t>
            </a:r>
            <a:r>
              <a:rPr b="1" lang="zh-CN">
                <a:solidFill>
                  <a:schemeClr val="dk1"/>
                </a:solidFill>
              </a:rPr>
              <a:t>+2 to +4</a:t>
            </a:r>
            <a:r>
              <a:rPr lang="zh-CN">
                <a:solidFill>
                  <a:schemeClr val="dk1"/>
                </a:solidFill>
              </a:rPr>
              <a:t>, showing that market conditions have become more supportive than last week. The main positives were continued economic resilience, bullish technical momentum, and a more favorable July seasonal backdrop. The S&amp;P 500 and Russell 2000 remain above their 8-day and 21-day EMAs, while the Nasdaq 100 continues to recover. Technology also remains the market leader and continues to benefit from strong investor interest. However, rising Treasury yields, higher oil prices, and more hawkish Federal Reserve expectations still present important risks. Taking everything together, we maintained a </a:t>
            </a:r>
            <a:r>
              <a:rPr b="1" lang="zh-CN">
                <a:solidFill>
                  <a:schemeClr val="dk1"/>
                </a:solidFill>
              </a:rPr>
              <a:t>Neutral-Bullish outlook with stronger conviction than Week 25.</a:t>
            </a:r>
            <a:r>
              <a:rPr lang="zh-CN">
                <a:solidFill>
                  <a:schemeClr val="dk1"/>
                </a:solidFill>
              </a:rPr>
              <a:t> </a:t>
            </a:r>
            <a:endParaRPr/>
          </a:p>
        </p:txBody>
      </p:sp>
      <p:sp>
        <p:nvSpPr>
          <p:cNvPr id="234" name="Google Shape;234;g3f4dc561b28_6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4dc561b28_6_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Overall, our assessment remains </a:t>
            </a:r>
            <a:r>
              <a:rPr b="1" lang="zh-CN">
                <a:solidFill>
                  <a:schemeClr val="dk1"/>
                </a:solidFill>
              </a:rPr>
              <a:t>Neutral-Bullish</a:t>
            </a:r>
            <a:r>
              <a:rPr lang="zh-CN">
                <a:solidFill>
                  <a:schemeClr val="dk1"/>
                </a:solidFill>
              </a:rPr>
              <a:t> based on the combined Macro, Technical, and Almanac Agents. The strongest positives this week are resilient economic conditions, bullish technical momentum, and supportive July seasonality, especially for the Technology sector. However, we remain cautious because Treasury yields have increased, oil prices have risen, and markets are pricing a higher probability of future Federal Reserve tightening. We also consider the upcoming FOMC Minutes to be the key event that could shift market sentiment. While Technology leadership continues to support the market, these macro risks may still create short-term volatility. For that reason, we remain constructive, but not aggressively bullish. </a:t>
            </a:r>
            <a:endParaRPr>
              <a:solidFill>
                <a:schemeClr val="dk1"/>
              </a:solidFill>
            </a:endParaRPr>
          </a:p>
        </p:txBody>
      </p:sp>
      <p:sp>
        <p:nvSpPr>
          <p:cNvPr id="249" name="Google Shape;249;g3f4dc561b28_6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4dc561b28_7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f4dc561b28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53" name="Shape 53"/>
        <p:cNvGrpSpPr/>
        <p:nvPr/>
      </p:nvGrpSpPr>
      <p:grpSpPr>
        <a:xfrm>
          <a:off x="0" y="0"/>
          <a:ext cx="0" cy="0"/>
          <a:chOff x="0" y="0"/>
          <a:chExt cx="0" cy="0"/>
        </a:xfrm>
      </p:grpSpPr>
      <p:sp>
        <p:nvSpPr>
          <p:cNvPr id="54" name="Google Shape;54;p13"/>
          <p:cNvSpPr/>
          <p:nvPr/>
        </p:nvSpPr>
        <p:spPr>
          <a:xfrm>
            <a:off x="0" y="0"/>
            <a:ext cx="9144000" cy="1098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 name="Google Shape;55;p13"/>
          <p:cNvSpPr/>
          <p:nvPr/>
        </p:nvSpPr>
        <p:spPr>
          <a:xfrm>
            <a:off x="0" y="5010912"/>
            <a:ext cx="9144000" cy="1371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 name="Google Shape;56;p13"/>
          <p:cNvSpPr txBox="1"/>
          <p:nvPr/>
        </p:nvSpPr>
        <p:spPr>
          <a:xfrm>
            <a:off x="621811" y="1079000"/>
            <a:ext cx="3037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2000">
                <a:solidFill>
                  <a:srgbClr val="00B8A9"/>
                </a:solidFill>
                <a:latin typeface="Arial"/>
                <a:ea typeface="Arial"/>
                <a:cs typeface="Arial"/>
                <a:sym typeface="Arial"/>
              </a:rPr>
              <a:t>CP3405 TR2 2026 </a:t>
            </a:r>
            <a:endParaRPr b="1" sz="2000">
              <a:solidFill>
                <a:srgbClr val="00B8A9"/>
              </a:solidFill>
              <a:latin typeface="Arial"/>
              <a:ea typeface="Arial"/>
              <a:cs typeface="Arial"/>
              <a:sym typeface="Arial"/>
            </a:endParaRPr>
          </a:p>
        </p:txBody>
      </p:sp>
      <p:sp>
        <p:nvSpPr>
          <p:cNvPr id="57" name="Google Shape;57;p13"/>
          <p:cNvSpPr txBox="1"/>
          <p:nvPr/>
        </p:nvSpPr>
        <p:spPr>
          <a:xfrm>
            <a:off x="566928" y="1408176"/>
            <a:ext cx="15687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3000">
                <a:solidFill>
                  <a:srgbClr val="FFFFFF"/>
                </a:solidFill>
                <a:latin typeface="Arial"/>
                <a:ea typeface="Arial"/>
                <a:cs typeface="Arial"/>
                <a:sym typeface="Arial"/>
              </a:rPr>
              <a:t>Group 2</a:t>
            </a:r>
            <a:endParaRPr b="1" sz="3000">
              <a:solidFill>
                <a:srgbClr val="FFFFFF"/>
              </a:solidFill>
              <a:latin typeface="Arial"/>
              <a:ea typeface="Arial"/>
              <a:cs typeface="Arial"/>
              <a:sym typeface="Arial"/>
            </a:endParaRPr>
          </a:p>
        </p:txBody>
      </p:sp>
      <p:sp>
        <p:nvSpPr>
          <p:cNvPr id="58" name="Google Shape;58;p13"/>
          <p:cNvSpPr txBox="1"/>
          <p:nvPr/>
        </p:nvSpPr>
        <p:spPr>
          <a:xfrm>
            <a:off x="603497" y="2029975"/>
            <a:ext cx="13440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zh-CN" sz="1500">
                <a:solidFill>
                  <a:srgbClr val="C8D4E3"/>
                </a:solidFill>
                <a:latin typeface="Arial"/>
                <a:ea typeface="Arial"/>
                <a:cs typeface="Arial"/>
                <a:sym typeface="Arial"/>
              </a:rPr>
              <a:t>Sprint </a:t>
            </a:r>
            <a:r>
              <a:rPr lang="zh-CN" sz="1500">
                <a:solidFill>
                  <a:srgbClr val="C8D4E3"/>
                </a:solidFill>
              </a:rPr>
              <a:t>6</a:t>
            </a:r>
            <a:r>
              <a:rPr lang="zh-CN" sz="1500">
                <a:solidFill>
                  <a:srgbClr val="C8D4E3"/>
                </a:solidFill>
              </a:rPr>
              <a:t> - W28</a:t>
            </a:r>
            <a:r>
              <a:rPr b="0" lang="zh-CN" sz="1500">
                <a:solidFill>
                  <a:srgbClr val="C8D4E3"/>
                </a:solidFill>
                <a:latin typeface="Arial"/>
                <a:ea typeface="Arial"/>
                <a:cs typeface="Arial"/>
                <a:sym typeface="Arial"/>
              </a:rPr>
              <a:t> </a:t>
            </a:r>
            <a:endParaRPr b="0" sz="1500">
              <a:solidFill>
                <a:srgbClr val="C8D4E3"/>
              </a:solidFill>
              <a:latin typeface="Arial"/>
              <a:ea typeface="Arial"/>
              <a:cs typeface="Arial"/>
              <a:sym typeface="Arial"/>
            </a:endParaRPr>
          </a:p>
        </p:txBody>
      </p:sp>
      <p:sp>
        <p:nvSpPr>
          <p:cNvPr id="59" name="Google Shape;59;p13"/>
          <p:cNvSpPr/>
          <p:nvPr/>
        </p:nvSpPr>
        <p:spPr>
          <a:xfrm>
            <a:off x="621792" y="2642616"/>
            <a:ext cx="17832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The Bao Le</a:t>
            </a:r>
            <a:endParaRPr sz="1200">
              <a:solidFill>
                <a:schemeClr val="lt1"/>
              </a:solidFill>
              <a:latin typeface="Arial"/>
              <a:ea typeface="Arial"/>
              <a:cs typeface="Arial"/>
              <a:sym typeface="Arial"/>
            </a:endParaRPr>
          </a:p>
        </p:txBody>
      </p:sp>
      <p:sp>
        <p:nvSpPr>
          <p:cNvPr id="60" name="Google Shape;60;p13"/>
          <p:cNvSpPr/>
          <p:nvPr/>
        </p:nvSpPr>
        <p:spPr>
          <a:xfrm>
            <a:off x="4553702" y="3435854"/>
            <a:ext cx="1783200" cy="210300"/>
          </a:xfrm>
          <a:prstGeom prst="roundRect">
            <a:avLst>
              <a:gd fmla="val 16667" name="adj"/>
            </a:avLst>
          </a:prstGeom>
          <a:solidFill>
            <a:srgbClr val="45818E"/>
          </a:solidFill>
          <a:ln cap="flat" cmpd="sng" w="12700">
            <a:solidFill>
              <a:srgbClr val="45818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Kan Yijie</a:t>
            </a:r>
            <a:endParaRPr sz="1200">
              <a:solidFill>
                <a:schemeClr val="lt1"/>
              </a:solidFill>
              <a:latin typeface="Arial"/>
              <a:ea typeface="Arial"/>
              <a:cs typeface="Arial"/>
              <a:sym typeface="Arial"/>
            </a:endParaRPr>
          </a:p>
        </p:txBody>
      </p:sp>
      <p:sp>
        <p:nvSpPr>
          <p:cNvPr id="61" name="Google Shape;61;p13"/>
          <p:cNvSpPr/>
          <p:nvPr/>
        </p:nvSpPr>
        <p:spPr>
          <a:xfrm>
            <a:off x="4553712" y="3044941"/>
            <a:ext cx="1783200" cy="210300"/>
          </a:xfrm>
          <a:prstGeom prst="roundRect">
            <a:avLst>
              <a:gd fmla="val 16667" name="adj"/>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Hamzah Nutt</a:t>
            </a:r>
            <a:endParaRPr sz="1200">
              <a:solidFill>
                <a:schemeClr val="lt1"/>
              </a:solidFill>
              <a:latin typeface="Arial"/>
              <a:ea typeface="Arial"/>
              <a:cs typeface="Arial"/>
              <a:sym typeface="Arial"/>
            </a:endParaRPr>
          </a:p>
        </p:txBody>
      </p:sp>
      <p:sp>
        <p:nvSpPr>
          <p:cNvPr id="62" name="Google Shape;62;p13"/>
          <p:cNvSpPr/>
          <p:nvPr/>
        </p:nvSpPr>
        <p:spPr>
          <a:xfrm>
            <a:off x="621792" y="3044952"/>
            <a:ext cx="1783200" cy="2103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Wenhan Hu</a:t>
            </a:r>
            <a:endParaRPr sz="1200">
              <a:solidFill>
                <a:schemeClr val="lt1"/>
              </a:solidFill>
              <a:latin typeface="Arial"/>
              <a:ea typeface="Arial"/>
              <a:cs typeface="Arial"/>
              <a:sym typeface="Arial"/>
            </a:endParaRPr>
          </a:p>
        </p:txBody>
      </p:sp>
      <p:sp>
        <p:nvSpPr>
          <p:cNvPr id="63" name="Google Shape;63;p13"/>
          <p:cNvSpPr/>
          <p:nvPr/>
        </p:nvSpPr>
        <p:spPr>
          <a:xfrm>
            <a:off x="4553702" y="2642602"/>
            <a:ext cx="1783200" cy="2103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Hao Wang</a:t>
            </a:r>
            <a:endParaRPr sz="1200">
              <a:solidFill>
                <a:schemeClr val="lt1"/>
              </a:solidFill>
              <a:latin typeface="Arial"/>
              <a:ea typeface="Arial"/>
              <a:cs typeface="Arial"/>
              <a:sym typeface="Arial"/>
            </a:endParaRPr>
          </a:p>
        </p:txBody>
      </p:sp>
      <p:sp>
        <p:nvSpPr>
          <p:cNvPr id="64" name="Google Shape;64;p13"/>
          <p:cNvSpPr/>
          <p:nvPr/>
        </p:nvSpPr>
        <p:spPr>
          <a:xfrm>
            <a:off x="621812" y="3826765"/>
            <a:ext cx="1783200" cy="2103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Yu-Chu Lin</a:t>
            </a:r>
            <a:endParaRPr sz="1200">
              <a:solidFill>
                <a:schemeClr val="lt1"/>
              </a:solidFill>
              <a:latin typeface="Arial"/>
              <a:ea typeface="Arial"/>
              <a:cs typeface="Arial"/>
              <a:sym typeface="Arial"/>
            </a:endParaRPr>
          </a:p>
        </p:txBody>
      </p:sp>
      <p:sp>
        <p:nvSpPr>
          <p:cNvPr id="65" name="Google Shape;65;p13"/>
          <p:cNvSpPr/>
          <p:nvPr/>
        </p:nvSpPr>
        <p:spPr>
          <a:xfrm>
            <a:off x="2587742" y="3043801"/>
            <a:ext cx="1783200" cy="210300"/>
          </a:xfrm>
          <a:prstGeom prst="roundRect">
            <a:avLst>
              <a:gd fmla="val 16667" name="adj"/>
            </a:avLst>
          </a:prstGeom>
          <a:solidFill>
            <a:srgbClr val="2878E2"/>
          </a:solidFill>
          <a:ln cap="flat" cmpd="sng" w="12700">
            <a:solidFill>
              <a:srgbClr val="287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Guanyu Lu</a:t>
            </a:r>
            <a:endParaRPr sz="1200">
              <a:solidFill>
                <a:schemeClr val="lt1"/>
              </a:solidFill>
              <a:latin typeface="Arial"/>
              <a:ea typeface="Arial"/>
              <a:cs typeface="Arial"/>
              <a:sym typeface="Arial"/>
            </a:endParaRPr>
          </a:p>
        </p:txBody>
      </p:sp>
      <p:sp>
        <p:nvSpPr>
          <p:cNvPr id="66" name="Google Shape;66;p13"/>
          <p:cNvSpPr/>
          <p:nvPr/>
        </p:nvSpPr>
        <p:spPr>
          <a:xfrm>
            <a:off x="2587752" y="2642613"/>
            <a:ext cx="1783200" cy="210300"/>
          </a:xfrm>
          <a:prstGeom prst="roundRect">
            <a:avLst>
              <a:gd fmla="val 16667" name="adj"/>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Zheng Zaikun</a:t>
            </a:r>
            <a:endParaRPr sz="1200">
              <a:solidFill>
                <a:schemeClr val="lt1"/>
              </a:solidFill>
              <a:latin typeface="Arial"/>
              <a:ea typeface="Arial"/>
              <a:cs typeface="Arial"/>
              <a:sym typeface="Arial"/>
            </a:endParaRPr>
          </a:p>
        </p:txBody>
      </p:sp>
      <p:sp>
        <p:nvSpPr>
          <p:cNvPr id="67" name="Google Shape;67;p13"/>
          <p:cNvSpPr/>
          <p:nvPr/>
        </p:nvSpPr>
        <p:spPr>
          <a:xfrm>
            <a:off x="2587762" y="3435275"/>
            <a:ext cx="1783200" cy="210300"/>
          </a:xfrm>
          <a:prstGeom prst="roundRect">
            <a:avLst>
              <a:gd fmla="val 16667" name="adj"/>
            </a:avLst>
          </a:prstGeom>
          <a:solidFill>
            <a:srgbClr val="A64D79"/>
          </a:solidFill>
          <a:ln cap="flat" cmpd="sng" w="12700">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Swan Htet Zaw</a:t>
            </a:r>
            <a:endParaRPr sz="1200">
              <a:solidFill>
                <a:schemeClr val="lt1"/>
              </a:solidFill>
              <a:latin typeface="Arial"/>
              <a:ea typeface="Arial"/>
              <a:cs typeface="Arial"/>
              <a:sym typeface="Arial"/>
            </a:endParaRPr>
          </a:p>
        </p:txBody>
      </p:sp>
      <p:sp>
        <p:nvSpPr>
          <p:cNvPr id="68" name="Google Shape;68;p13"/>
          <p:cNvSpPr/>
          <p:nvPr/>
        </p:nvSpPr>
        <p:spPr>
          <a:xfrm>
            <a:off x="621792" y="3435852"/>
            <a:ext cx="1783200" cy="210300"/>
          </a:xfrm>
          <a:prstGeom prst="roundRect">
            <a:avLst>
              <a:gd fmla="val 16667" name="adj"/>
            </a:avLst>
          </a:prstGeom>
          <a:solidFill>
            <a:srgbClr val="5C6CFF"/>
          </a:solidFill>
          <a:ln cap="flat" cmpd="sng" w="12700">
            <a:solidFill>
              <a:srgbClr val="5C6C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latin typeface="Arial"/>
                <a:ea typeface="Arial"/>
                <a:cs typeface="Arial"/>
                <a:sym typeface="Arial"/>
              </a:rPr>
              <a:t>Lu Junwen</a:t>
            </a:r>
            <a:endParaRPr sz="1200">
              <a:solidFill>
                <a:schemeClr val="lt1"/>
              </a:solidFill>
              <a:latin typeface="Arial"/>
              <a:ea typeface="Arial"/>
              <a:cs typeface="Arial"/>
              <a:sym typeface="Arial"/>
            </a:endParaRPr>
          </a:p>
        </p:txBody>
      </p:sp>
      <p:sp>
        <p:nvSpPr>
          <p:cNvPr id="69" name="Google Shape;69;p13"/>
          <p:cNvSpPr/>
          <p:nvPr/>
        </p:nvSpPr>
        <p:spPr>
          <a:xfrm>
            <a:off x="2587752" y="3826752"/>
            <a:ext cx="1783200" cy="210300"/>
          </a:xfrm>
          <a:prstGeom prst="roundRect">
            <a:avLst>
              <a:gd fmla="val 16667" name="adj"/>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lang="zh-CN" sz="1200">
                <a:solidFill>
                  <a:schemeClr val="lt1"/>
                </a:solidFill>
              </a:rPr>
              <a:t>WuQin Yang</a:t>
            </a:r>
            <a:endParaRPr sz="1200">
              <a:solidFill>
                <a:schemeClr val="lt1"/>
              </a:solidFill>
            </a:endParaRPr>
          </a:p>
        </p:txBody>
      </p:sp>
      <p:grpSp>
        <p:nvGrpSpPr>
          <p:cNvPr id="70" name="Google Shape;70;p13"/>
          <p:cNvGrpSpPr/>
          <p:nvPr/>
        </p:nvGrpSpPr>
        <p:grpSpPr>
          <a:xfrm>
            <a:off x="6931235" y="388848"/>
            <a:ext cx="1986795" cy="1019329"/>
            <a:chOff x="6392111" y="726475"/>
            <a:chExt cx="2408529" cy="1235700"/>
          </a:xfrm>
        </p:grpSpPr>
        <p:sp>
          <p:nvSpPr>
            <p:cNvPr id="71" name="Google Shape;71;p13"/>
            <p:cNvSpPr/>
            <p:nvPr/>
          </p:nvSpPr>
          <p:spPr>
            <a:xfrm>
              <a:off x="6392175" y="726475"/>
              <a:ext cx="2408400" cy="1235700"/>
            </a:xfrm>
            <a:prstGeom prst="roundRect">
              <a:avLst>
                <a:gd fmla="val 16667" name="adj"/>
              </a:avLst>
            </a:prstGeom>
            <a:solidFill>
              <a:srgbClr val="F4F8FC"/>
            </a:solidFill>
            <a:ln cap="flat" cmpd="sng" w="7850">
              <a:solidFill>
                <a:schemeClr val="dk2"/>
              </a:solidFill>
              <a:prstDash val="solid"/>
              <a:round/>
              <a:headEnd len="sm" w="sm" type="none"/>
              <a:tailEnd len="sm" w="sm" type="none"/>
            </a:ln>
          </p:spPr>
          <p:txBody>
            <a:bodyPr anchorCtr="0" anchor="ctr" bIns="75425" lIns="75425" spcFirstLastPara="1" rIns="75425" wrap="square" tIns="75425">
              <a:noAutofit/>
            </a:bodyPr>
            <a:lstStyle/>
            <a:p>
              <a:pPr indent="0" lvl="0" marL="0" rtl="0" algn="ctr">
                <a:spcBef>
                  <a:spcPts val="0"/>
                </a:spcBef>
                <a:spcAft>
                  <a:spcPts val="0"/>
                </a:spcAft>
                <a:buNone/>
              </a:pPr>
              <a:r>
                <a:t/>
              </a:r>
              <a:endParaRPr sz="1155">
                <a:latin typeface="Calibri"/>
                <a:ea typeface="Calibri"/>
                <a:cs typeface="Calibri"/>
                <a:sym typeface="Calibri"/>
              </a:endParaRPr>
            </a:p>
          </p:txBody>
        </p:sp>
        <p:pic>
          <p:nvPicPr>
            <p:cNvPr id="72" name="Google Shape;72;p13" title="JCU-SINGAPORE-Logo-Horizontal-CMYK-768x394-1.png"/>
            <p:cNvPicPr preferRelativeResize="0"/>
            <p:nvPr/>
          </p:nvPicPr>
          <p:blipFill>
            <a:blip r:embed="rId3">
              <a:alphaModFix/>
            </a:blip>
            <a:stretch>
              <a:fillRect/>
            </a:stretch>
          </p:blipFill>
          <p:spPr>
            <a:xfrm>
              <a:off x="6392111" y="726514"/>
              <a:ext cx="2408529" cy="12356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76" name="Shape 76"/>
        <p:cNvGrpSpPr/>
        <p:nvPr/>
      </p:nvGrpSpPr>
      <p:grpSpPr>
        <a:xfrm>
          <a:off x="0" y="0"/>
          <a:ext cx="0" cy="0"/>
          <a:chOff x="0" y="0"/>
          <a:chExt cx="0" cy="0"/>
        </a:xfrm>
      </p:grpSpPr>
      <p:sp>
        <p:nvSpPr>
          <p:cNvPr id="77" name="Google Shape;77;p14"/>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 name="Google Shape;78;p14"/>
          <p:cNvSpPr/>
          <p:nvPr/>
        </p:nvSpPr>
        <p:spPr>
          <a:xfrm>
            <a:off x="0" y="640080"/>
            <a:ext cx="9144000" cy="366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 name="Google Shape;79;p14"/>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R1 Product Owner</a:t>
            </a:r>
            <a:endParaRPr/>
          </a:p>
        </p:txBody>
      </p:sp>
      <p:sp>
        <p:nvSpPr>
          <p:cNvPr id="80" name="Google Shape;80;p14"/>
          <p:cNvSpPr/>
          <p:nvPr/>
        </p:nvSpPr>
        <p:spPr>
          <a:xfrm>
            <a:off x="381775" y="870339"/>
            <a:ext cx="32919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2000"/>
              <a:buFont typeface="Arial"/>
              <a:buNone/>
            </a:pPr>
            <a:r>
              <a:rPr b="1" i="0" lang="zh-CN" sz="2000" u="none" cap="none" strike="noStrike">
                <a:solidFill>
                  <a:srgbClr val="071A34"/>
                </a:solidFill>
                <a:latin typeface="Arial"/>
                <a:ea typeface="Arial"/>
                <a:cs typeface="Arial"/>
                <a:sym typeface="Arial"/>
              </a:rPr>
              <a:t>Sprint goal statement</a:t>
            </a:r>
            <a:endParaRPr b="0" i="0" sz="2000" u="none" cap="none" strike="noStrike">
              <a:solidFill>
                <a:schemeClr val="dk1"/>
              </a:solidFill>
              <a:latin typeface="Arial"/>
              <a:ea typeface="Arial"/>
              <a:cs typeface="Arial"/>
              <a:sym typeface="Arial"/>
            </a:endParaRPr>
          </a:p>
        </p:txBody>
      </p:sp>
      <p:sp>
        <p:nvSpPr>
          <p:cNvPr id="81" name="Google Shape;81;p14"/>
          <p:cNvSpPr/>
          <p:nvPr/>
        </p:nvSpPr>
        <p:spPr>
          <a:xfrm>
            <a:off x="381765" y="1390901"/>
            <a:ext cx="1645800" cy="809400"/>
          </a:xfrm>
          <a:prstGeom prst="roundRect">
            <a:avLst>
              <a:gd fmla="val 1016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4"/>
          <p:cNvSpPr/>
          <p:nvPr/>
        </p:nvSpPr>
        <p:spPr>
          <a:xfrm>
            <a:off x="566931" y="1500060"/>
            <a:ext cx="1268700" cy="12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F8E"/>
              </a:buClr>
              <a:buSzPts val="700"/>
              <a:buFont typeface="Arial"/>
              <a:buNone/>
            </a:pPr>
            <a:r>
              <a:rPr b="1" i="0" lang="zh-CN" sz="700" u="none" cap="none" strike="noStrike">
                <a:solidFill>
                  <a:srgbClr val="5C6F8E"/>
                </a:solidFill>
                <a:latin typeface="Arial"/>
                <a:ea typeface="Arial"/>
                <a:cs typeface="Arial"/>
                <a:sym typeface="Arial"/>
              </a:rPr>
              <a:t>LAST WEEK CALIBRATION</a:t>
            </a:r>
            <a:endParaRPr b="0" i="0" sz="700" u="none" cap="none" strike="noStrike">
              <a:solidFill>
                <a:schemeClr val="dk1"/>
              </a:solidFill>
              <a:latin typeface="Arial"/>
              <a:ea typeface="Arial"/>
              <a:cs typeface="Arial"/>
              <a:sym typeface="Arial"/>
            </a:endParaRPr>
          </a:p>
        </p:txBody>
      </p:sp>
      <p:sp>
        <p:nvSpPr>
          <p:cNvPr id="83" name="Google Shape;83;p14"/>
          <p:cNvSpPr/>
          <p:nvPr/>
        </p:nvSpPr>
        <p:spPr>
          <a:xfrm>
            <a:off x="566931" y="1774949"/>
            <a:ext cx="126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45F5"/>
              </a:buClr>
              <a:buSzPts val="1900"/>
              <a:buFont typeface="Arial"/>
              <a:buNone/>
            </a:pPr>
            <a:r>
              <a:rPr b="1" lang="zh-CN" sz="1900">
                <a:solidFill>
                  <a:srgbClr val="7A45F5"/>
                </a:solidFill>
              </a:rPr>
              <a:t>N/A </a:t>
            </a:r>
            <a:endParaRPr b="0" i="0" sz="1900" u="none" cap="none" strike="noStrike">
              <a:solidFill>
                <a:schemeClr val="dk1"/>
              </a:solidFill>
              <a:latin typeface="Arial"/>
              <a:ea typeface="Arial"/>
              <a:cs typeface="Arial"/>
              <a:sym typeface="Arial"/>
            </a:endParaRPr>
          </a:p>
        </p:txBody>
      </p:sp>
      <p:sp>
        <p:nvSpPr>
          <p:cNvPr id="84" name="Google Shape;84;p14"/>
          <p:cNvSpPr/>
          <p:nvPr/>
        </p:nvSpPr>
        <p:spPr>
          <a:xfrm>
            <a:off x="2199135" y="1390901"/>
            <a:ext cx="1645800" cy="809400"/>
          </a:xfrm>
          <a:prstGeom prst="roundRect">
            <a:avLst>
              <a:gd fmla="val 1016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4"/>
          <p:cNvSpPr/>
          <p:nvPr/>
        </p:nvSpPr>
        <p:spPr>
          <a:xfrm>
            <a:off x="2384301" y="1500060"/>
            <a:ext cx="1200300" cy="12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F8E"/>
              </a:buClr>
              <a:buSzPts val="700"/>
              <a:buFont typeface="Arial"/>
              <a:buNone/>
            </a:pPr>
            <a:r>
              <a:rPr b="1" i="0" lang="zh-CN" sz="700" u="none" cap="none" strike="noStrike">
                <a:solidFill>
                  <a:srgbClr val="5C6F8E"/>
                </a:solidFill>
                <a:latin typeface="Arial"/>
                <a:ea typeface="Arial"/>
                <a:cs typeface="Arial"/>
                <a:sym typeface="Arial"/>
              </a:rPr>
              <a:t>PRIMARY QUESTION</a:t>
            </a:r>
            <a:endParaRPr b="0" i="0" sz="700" u="none" cap="none" strike="noStrike">
              <a:solidFill>
                <a:schemeClr val="dk1"/>
              </a:solidFill>
              <a:latin typeface="Arial"/>
              <a:ea typeface="Arial"/>
              <a:cs typeface="Arial"/>
              <a:sym typeface="Arial"/>
            </a:endParaRPr>
          </a:p>
        </p:txBody>
      </p:sp>
      <p:sp>
        <p:nvSpPr>
          <p:cNvPr id="86" name="Google Shape;86;p14"/>
          <p:cNvSpPr/>
          <p:nvPr/>
        </p:nvSpPr>
        <p:spPr>
          <a:xfrm>
            <a:off x="2384301" y="1740659"/>
            <a:ext cx="1166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75DD"/>
              </a:buClr>
              <a:buSzPts val="1600"/>
              <a:buFont typeface="Arial"/>
              <a:buNone/>
            </a:pPr>
            <a:r>
              <a:rPr b="1" lang="zh-CN" sz="1600">
                <a:solidFill>
                  <a:srgbClr val="2D75DD"/>
                </a:solidFill>
              </a:rPr>
              <a:t>End-to-End Automation </a:t>
            </a:r>
            <a:endParaRPr b="0" i="0" sz="1600" u="none" cap="none" strike="noStrike">
              <a:solidFill>
                <a:schemeClr val="dk1"/>
              </a:solidFill>
              <a:latin typeface="Arial"/>
              <a:ea typeface="Arial"/>
              <a:cs typeface="Arial"/>
              <a:sym typeface="Arial"/>
            </a:endParaRPr>
          </a:p>
        </p:txBody>
      </p:sp>
      <p:sp>
        <p:nvSpPr>
          <p:cNvPr id="87" name="Google Shape;87;p14"/>
          <p:cNvSpPr/>
          <p:nvPr/>
        </p:nvSpPr>
        <p:spPr>
          <a:xfrm>
            <a:off x="4023363" y="1390901"/>
            <a:ext cx="1220700" cy="809400"/>
          </a:xfrm>
          <a:prstGeom prst="roundRect">
            <a:avLst>
              <a:gd fmla="val 1016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14"/>
          <p:cNvSpPr/>
          <p:nvPr/>
        </p:nvSpPr>
        <p:spPr>
          <a:xfrm>
            <a:off x="4215387" y="1500060"/>
            <a:ext cx="685800" cy="12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F8E"/>
              </a:buClr>
              <a:buSzPts val="700"/>
              <a:buFont typeface="Arial"/>
              <a:buNone/>
            </a:pPr>
            <a:r>
              <a:rPr b="1" i="0" lang="zh-CN" sz="700" u="none" cap="none" strike="noStrike">
                <a:solidFill>
                  <a:srgbClr val="5C6F8E"/>
                </a:solidFill>
                <a:latin typeface="Arial"/>
                <a:ea typeface="Arial"/>
                <a:cs typeface="Arial"/>
                <a:sym typeface="Arial"/>
              </a:rPr>
              <a:t>Release no.</a:t>
            </a:r>
            <a:endParaRPr b="0" i="0" sz="700" u="none" cap="none" strike="noStrike">
              <a:solidFill>
                <a:schemeClr val="dk1"/>
              </a:solidFill>
              <a:latin typeface="Arial"/>
              <a:ea typeface="Arial"/>
              <a:cs typeface="Arial"/>
              <a:sym typeface="Arial"/>
            </a:endParaRPr>
          </a:p>
        </p:txBody>
      </p:sp>
      <p:sp>
        <p:nvSpPr>
          <p:cNvPr id="89" name="Google Shape;89;p14"/>
          <p:cNvSpPr/>
          <p:nvPr/>
        </p:nvSpPr>
        <p:spPr>
          <a:xfrm>
            <a:off x="4215387" y="1788665"/>
            <a:ext cx="6858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AF4A"/>
              </a:buClr>
              <a:buSzPts val="1800"/>
              <a:buFont typeface="Arial"/>
              <a:buNone/>
            </a:pPr>
            <a:r>
              <a:rPr b="1" i="0" lang="zh-CN" sz="1800" u="none" cap="none" strike="noStrike">
                <a:solidFill>
                  <a:srgbClr val="1EAF4A"/>
                </a:solidFill>
                <a:latin typeface="Arial"/>
                <a:ea typeface="Arial"/>
                <a:cs typeface="Arial"/>
                <a:sym typeface="Arial"/>
              </a:rPr>
              <a:t>W2</a:t>
            </a:r>
            <a:r>
              <a:rPr b="1" lang="zh-CN" sz="1800">
                <a:solidFill>
                  <a:srgbClr val="1EAF4A"/>
                </a:solidFill>
              </a:rPr>
              <a:t>8</a:t>
            </a:r>
            <a:endParaRPr b="0" i="0" sz="1800" u="none" cap="none" strike="noStrike">
              <a:solidFill>
                <a:schemeClr val="dk1"/>
              </a:solidFill>
              <a:latin typeface="Arial"/>
              <a:ea typeface="Arial"/>
              <a:cs typeface="Arial"/>
              <a:sym typeface="Arial"/>
            </a:endParaRPr>
          </a:p>
        </p:txBody>
      </p:sp>
      <p:sp>
        <p:nvSpPr>
          <p:cNvPr id="90" name="Google Shape;90;p14"/>
          <p:cNvSpPr/>
          <p:nvPr/>
        </p:nvSpPr>
        <p:spPr>
          <a:xfrm>
            <a:off x="470919" y="2453891"/>
            <a:ext cx="54900" cy="1454100"/>
          </a:xfrm>
          <a:prstGeom prst="rect">
            <a:avLst/>
          </a:prstGeom>
          <a:solidFill>
            <a:srgbClr val="7A45F5"/>
          </a:solidFill>
          <a:ln cap="flat" cmpd="sng" w="9525">
            <a:solidFill>
              <a:srgbClr val="7A45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4"/>
          <p:cNvSpPr/>
          <p:nvPr/>
        </p:nvSpPr>
        <p:spPr>
          <a:xfrm>
            <a:off x="525783" y="2447033"/>
            <a:ext cx="4800600" cy="1467600"/>
          </a:xfrm>
          <a:prstGeom prst="roundRect">
            <a:avLst>
              <a:gd fmla="val 5607"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4"/>
          <p:cNvSpPr/>
          <p:nvPr/>
        </p:nvSpPr>
        <p:spPr>
          <a:xfrm>
            <a:off x="772671" y="2610848"/>
            <a:ext cx="12345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i="0" lang="zh-CN" sz="1400" u="none" cap="none" strike="noStrike">
                <a:solidFill>
                  <a:srgbClr val="071A34"/>
                </a:solidFill>
                <a:latin typeface="Arial"/>
                <a:ea typeface="Arial"/>
                <a:cs typeface="Arial"/>
                <a:sym typeface="Arial"/>
              </a:rPr>
              <a:t>Sprint Goal</a:t>
            </a:r>
            <a:endParaRPr b="0" i="0" sz="1400" u="none" cap="none" strike="noStrike">
              <a:solidFill>
                <a:schemeClr val="dk1"/>
              </a:solidFill>
              <a:latin typeface="Arial"/>
              <a:ea typeface="Arial"/>
              <a:cs typeface="Arial"/>
              <a:sym typeface="Arial"/>
            </a:endParaRPr>
          </a:p>
        </p:txBody>
      </p:sp>
      <p:sp>
        <p:nvSpPr>
          <p:cNvPr id="93" name="Google Shape;93;p14"/>
          <p:cNvSpPr/>
          <p:nvPr/>
        </p:nvSpPr>
        <p:spPr>
          <a:xfrm>
            <a:off x="772671" y="2928739"/>
            <a:ext cx="4080600" cy="7545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071A34"/>
              </a:buClr>
              <a:buSzPts val="1200"/>
              <a:buFont typeface="Arial"/>
              <a:buNone/>
            </a:pPr>
            <a:r>
              <a:rPr lang="zh-CN" sz="1200">
                <a:solidFill>
                  <a:schemeClr val="dk2"/>
                </a:solidFill>
              </a:rPr>
              <a:t>Build and validate an automated W28 market prediction pipeline covering major indices, all 11 sectors, two LLM APIs, GitHub Actions, and the vW28 release tag. </a:t>
            </a:r>
            <a:endParaRPr b="0" i="0" sz="1200" u="none" cap="none" strike="noStrike">
              <a:solidFill>
                <a:schemeClr val="dk2"/>
              </a:solidFill>
              <a:latin typeface="Arial"/>
              <a:ea typeface="Arial"/>
              <a:cs typeface="Arial"/>
              <a:sym typeface="Arial"/>
            </a:endParaRPr>
          </a:p>
        </p:txBody>
      </p:sp>
      <p:sp>
        <p:nvSpPr>
          <p:cNvPr id="94" name="Google Shape;94;p14"/>
          <p:cNvSpPr/>
          <p:nvPr/>
        </p:nvSpPr>
        <p:spPr>
          <a:xfrm>
            <a:off x="5559555" y="1123439"/>
            <a:ext cx="54900" cy="3401700"/>
          </a:xfrm>
          <a:prstGeom prst="rect">
            <a:avLst/>
          </a:prstGeom>
          <a:solidFill>
            <a:srgbClr val="7A45F5"/>
          </a:solidFill>
          <a:ln cap="flat" cmpd="sng" w="9525">
            <a:solidFill>
              <a:srgbClr val="7A45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4"/>
          <p:cNvSpPr/>
          <p:nvPr/>
        </p:nvSpPr>
        <p:spPr>
          <a:xfrm>
            <a:off x="5614419" y="1116581"/>
            <a:ext cx="3182100" cy="3415200"/>
          </a:xfrm>
          <a:prstGeom prst="roundRect">
            <a:avLst>
              <a:gd fmla="val 2586"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4"/>
          <p:cNvSpPr/>
          <p:nvPr/>
        </p:nvSpPr>
        <p:spPr>
          <a:xfrm>
            <a:off x="5868165" y="1356611"/>
            <a:ext cx="13029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i="0" lang="zh-CN" sz="1400" u="none" cap="none" strike="noStrike">
                <a:solidFill>
                  <a:srgbClr val="071A34"/>
                </a:solidFill>
                <a:latin typeface="Arial"/>
                <a:ea typeface="Arial"/>
                <a:cs typeface="Arial"/>
                <a:sym typeface="Arial"/>
              </a:rPr>
              <a:t>Done Means</a:t>
            </a:r>
            <a:endParaRPr b="0" i="0" sz="1400" u="none" cap="none" strike="noStrike">
              <a:solidFill>
                <a:schemeClr val="dk1"/>
              </a:solidFill>
              <a:latin typeface="Arial"/>
              <a:ea typeface="Arial"/>
              <a:cs typeface="Arial"/>
              <a:sym typeface="Arial"/>
            </a:endParaRPr>
          </a:p>
        </p:txBody>
      </p:sp>
      <p:sp>
        <p:nvSpPr>
          <p:cNvPr id="97" name="Google Shape;97;p14"/>
          <p:cNvSpPr/>
          <p:nvPr/>
        </p:nvSpPr>
        <p:spPr>
          <a:xfrm>
            <a:off x="5833875" y="1651505"/>
            <a:ext cx="2674500" cy="2606100"/>
          </a:xfrm>
          <a:prstGeom prst="rect">
            <a:avLst/>
          </a:prstGeom>
          <a:noFill/>
          <a:ln>
            <a:noFill/>
          </a:ln>
        </p:spPr>
        <p:txBody>
          <a:bodyPr anchorCtr="0" anchor="t" bIns="200" lIns="200" spcFirstLastPara="1" rIns="200" wrap="square" tIns="200">
            <a:noAutofit/>
          </a:bodyPr>
          <a:lstStyle/>
          <a:p>
            <a:pPr indent="0" lvl="0" marL="0" rtl="0" algn="l">
              <a:lnSpc>
                <a:spcPct val="150000"/>
              </a:lnSpc>
              <a:spcBef>
                <a:spcPts val="0"/>
              </a:spcBef>
              <a:spcAft>
                <a:spcPts val="0"/>
              </a:spcAft>
              <a:buClr>
                <a:schemeClr val="dk1"/>
              </a:buClr>
              <a:buSzPts val="1100"/>
              <a:buFont typeface="Arial"/>
              <a:buNone/>
            </a:pPr>
            <a:r>
              <a:rPr lang="zh-CN" sz="1000">
                <a:solidFill>
                  <a:schemeClr val="dk2"/>
                </a:solidFill>
              </a:rPr>
              <a:t>Actual data covers SPX, NDX, IWM, and all 11 S&amp;P 500 sectors</a:t>
            </a:r>
            <a:endParaRPr sz="1000">
              <a:solidFill>
                <a:schemeClr val="dk2"/>
              </a:solidFill>
            </a:endParaRPr>
          </a:p>
          <a:p>
            <a:pPr indent="0" lvl="0" marL="0" rtl="0" algn="l">
              <a:lnSpc>
                <a:spcPct val="150000"/>
              </a:lnSpc>
              <a:spcBef>
                <a:spcPts val="0"/>
              </a:spcBef>
              <a:spcAft>
                <a:spcPts val="0"/>
              </a:spcAft>
              <a:buClr>
                <a:schemeClr val="dk1"/>
              </a:buClr>
              <a:buSzPts val="1100"/>
              <a:buFont typeface="Arial"/>
              <a:buNone/>
            </a:pPr>
            <a:r>
              <a:rPr lang="zh-CN" sz="1000">
                <a:solidFill>
                  <a:schemeClr val="dk2"/>
                </a:solidFill>
              </a:rPr>
              <a:t>Almanac, Macro, Technical, and Data agents produce structured outputs</a:t>
            </a:r>
            <a:endParaRPr sz="1000">
              <a:solidFill>
                <a:schemeClr val="dk2"/>
              </a:solidFill>
            </a:endParaRPr>
          </a:p>
          <a:p>
            <a:pPr indent="0" lvl="0" marL="0" rtl="0" algn="l">
              <a:lnSpc>
                <a:spcPct val="150000"/>
              </a:lnSpc>
              <a:spcBef>
                <a:spcPts val="0"/>
              </a:spcBef>
              <a:spcAft>
                <a:spcPts val="0"/>
              </a:spcAft>
              <a:buClr>
                <a:schemeClr val="dk1"/>
              </a:buClr>
              <a:buSzPts val="1100"/>
              <a:buFont typeface="Arial"/>
              <a:buNone/>
            </a:pPr>
            <a:r>
              <a:rPr lang="zh-CN" sz="1000">
                <a:solidFill>
                  <a:schemeClr val="dk2"/>
                </a:solidFill>
              </a:rPr>
              <a:t>At least two LLMs are called through APIs</a:t>
            </a:r>
            <a:endParaRPr sz="1000">
              <a:solidFill>
                <a:schemeClr val="dk2"/>
              </a:solidFill>
            </a:endParaRPr>
          </a:p>
          <a:p>
            <a:pPr indent="0" lvl="0" marL="0" rtl="0" algn="l">
              <a:lnSpc>
                <a:spcPct val="150000"/>
              </a:lnSpc>
              <a:spcBef>
                <a:spcPts val="0"/>
              </a:spcBef>
              <a:spcAft>
                <a:spcPts val="0"/>
              </a:spcAft>
              <a:buClr>
                <a:schemeClr val="dk1"/>
              </a:buClr>
              <a:buSzPts val="1100"/>
              <a:buFont typeface="Arial"/>
              <a:buNone/>
            </a:pPr>
            <a:r>
              <a:rPr lang="zh-CN" sz="1000">
                <a:solidFill>
                  <a:schemeClr val="dk2"/>
                </a:solidFill>
              </a:rPr>
              <a:t>Raw LLM responses are saved for comparison</a:t>
            </a:r>
            <a:endParaRPr sz="1000">
              <a:solidFill>
                <a:schemeClr val="dk2"/>
              </a:solidFill>
            </a:endParaRPr>
          </a:p>
          <a:p>
            <a:pPr indent="0" lvl="0" marL="0" rtl="0" algn="l">
              <a:lnSpc>
                <a:spcPct val="150000"/>
              </a:lnSpc>
              <a:spcBef>
                <a:spcPts val="0"/>
              </a:spcBef>
              <a:spcAft>
                <a:spcPts val="0"/>
              </a:spcAft>
              <a:buClr>
                <a:schemeClr val="dk1"/>
              </a:buClr>
              <a:buSzPts val="1100"/>
              <a:buFont typeface="Arial"/>
              <a:buNone/>
            </a:pPr>
            <a:r>
              <a:rPr lang="zh-CN" sz="1000">
                <a:solidFill>
                  <a:schemeClr val="dk2"/>
                </a:solidFill>
              </a:rPr>
              <a:t>The W28 prediction file is generated</a:t>
            </a:r>
            <a:endParaRPr sz="1000">
              <a:solidFill>
                <a:schemeClr val="dk2"/>
              </a:solidFill>
            </a:endParaRPr>
          </a:p>
          <a:p>
            <a:pPr indent="0" lvl="0" marL="0" rtl="0" algn="l">
              <a:lnSpc>
                <a:spcPct val="150000"/>
              </a:lnSpc>
              <a:spcBef>
                <a:spcPts val="0"/>
              </a:spcBef>
              <a:spcAft>
                <a:spcPts val="0"/>
              </a:spcAft>
              <a:buClr>
                <a:schemeClr val="dk1"/>
              </a:buClr>
              <a:buSzPts val="1100"/>
              <a:buFont typeface="Arial"/>
              <a:buNone/>
            </a:pPr>
            <a:r>
              <a:rPr lang="zh-CN" sz="1000">
                <a:solidFill>
                  <a:schemeClr val="dk2"/>
                </a:solidFill>
              </a:rPr>
              <a:t>Missing or invalid market data is validated</a:t>
            </a:r>
            <a:endParaRPr sz="1000">
              <a:solidFill>
                <a:schemeClr val="dk2"/>
              </a:solidFill>
            </a:endParaRPr>
          </a:p>
          <a:p>
            <a:pPr indent="0" lvl="0" marL="0" rtl="0" algn="l">
              <a:lnSpc>
                <a:spcPct val="150000"/>
              </a:lnSpc>
              <a:spcBef>
                <a:spcPts val="0"/>
              </a:spcBef>
              <a:spcAft>
                <a:spcPts val="0"/>
              </a:spcAft>
              <a:buClr>
                <a:schemeClr val="dk1"/>
              </a:buClr>
              <a:buSzPts val="1100"/>
              <a:buFont typeface="Arial"/>
              <a:buNone/>
            </a:pPr>
            <a:r>
              <a:rPr lang="zh-CN" sz="1000">
                <a:solidFill>
                  <a:schemeClr val="dk2"/>
                </a:solidFill>
              </a:rPr>
              <a:t>GitHub Actions workflow runs successfully</a:t>
            </a:r>
            <a:endParaRPr sz="1000">
              <a:solidFill>
                <a:schemeClr val="dk2"/>
              </a:solidFill>
            </a:endParaRPr>
          </a:p>
          <a:p>
            <a:pPr indent="0" lvl="0" marL="0" rtl="0" algn="l">
              <a:lnSpc>
                <a:spcPct val="150000"/>
              </a:lnSpc>
              <a:spcBef>
                <a:spcPts val="0"/>
              </a:spcBef>
              <a:spcAft>
                <a:spcPts val="0"/>
              </a:spcAft>
              <a:buClr>
                <a:schemeClr val="dk1"/>
              </a:buClr>
              <a:buSzPts val="1100"/>
              <a:buFont typeface="Arial"/>
              <a:buNone/>
            </a:pPr>
            <a:r>
              <a:rPr lang="zh-CN" sz="1000">
                <a:solidFill>
                  <a:schemeClr val="dk2"/>
                </a:solidFill>
              </a:rPr>
              <a:t>All required evidence is committed to GitHub</a:t>
            </a:r>
            <a:endParaRPr sz="1000">
              <a:solidFill>
                <a:schemeClr val="dk2"/>
              </a:solidFill>
            </a:endParaRPr>
          </a:p>
          <a:p>
            <a:pPr indent="0" lvl="0" marL="0" rtl="0" algn="l">
              <a:lnSpc>
                <a:spcPct val="150000"/>
              </a:lnSpc>
              <a:spcBef>
                <a:spcPts val="0"/>
              </a:spcBef>
              <a:spcAft>
                <a:spcPts val="0"/>
              </a:spcAft>
              <a:buClr>
                <a:schemeClr val="dk1"/>
              </a:buClr>
              <a:buSzPts val="1100"/>
              <a:buFont typeface="Arial"/>
              <a:buNone/>
            </a:pPr>
            <a:r>
              <a:rPr lang="zh-CN" sz="1000">
                <a:solidFill>
                  <a:schemeClr val="dk2"/>
                </a:solidFill>
              </a:rPr>
              <a:t>The correct vW28 release tag is created</a:t>
            </a:r>
            <a:endParaRPr sz="1000">
              <a:solidFill>
                <a:schemeClr val="dk2"/>
              </a:solidFill>
            </a:endParaRPr>
          </a:p>
          <a:p>
            <a:pPr indent="0" lvl="0" marL="0" marR="0" rtl="0" algn="l">
              <a:lnSpc>
                <a:spcPct val="150000"/>
              </a:lnSpc>
              <a:spcBef>
                <a:spcPts val="0"/>
              </a:spcBef>
              <a:spcAft>
                <a:spcPts val="0"/>
              </a:spcAft>
              <a:buClr>
                <a:srgbClr val="071A34"/>
              </a:buClr>
              <a:buSzPts val="900"/>
              <a:buFont typeface="Arial"/>
              <a:buNone/>
            </a:pPr>
            <a:r>
              <a:t/>
            </a:r>
            <a:endParaRPr sz="1000">
              <a:solidFill>
                <a:schemeClr val="dk2"/>
              </a:solidFill>
            </a:endParaRPr>
          </a:p>
        </p:txBody>
      </p:sp>
      <p:sp>
        <p:nvSpPr>
          <p:cNvPr id="98" name="Google Shape;98;p14"/>
          <p:cNvSpPr/>
          <p:nvPr/>
        </p:nvSpPr>
        <p:spPr>
          <a:xfrm>
            <a:off x="2788920" y="201168"/>
            <a:ext cx="23316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b="1" lang="zh-CN" sz="1200">
                <a:solidFill>
                  <a:srgbClr val="FFFFFF"/>
                </a:solidFill>
              </a:rPr>
              <a:t>Sprint Goal Board</a:t>
            </a:r>
            <a:endParaRPr sz="12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02" name="Shape 102"/>
        <p:cNvGrpSpPr/>
        <p:nvPr/>
      </p:nvGrpSpPr>
      <p:grpSpPr>
        <a:xfrm>
          <a:off x="0" y="0"/>
          <a:ext cx="0" cy="0"/>
          <a:chOff x="0" y="0"/>
          <a:chExt cx="0" cy="0"/>
        </a:xfrm>
      </p:grpSpPr>
      <p:sp>
        <p:nvSpPr>
          <p:cNvPr id="103" name="Google Shape;103;p15"/>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15"/>
          <p:cNvSpPr/>
          <p:nvPr/>
        </p:nvSpPr>
        <p:spPr>
          <a:xfrm>
            <a:off x="0" y="640080"/>
            <a:ext cx="9144000" cy="366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15"/>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R1 Product Owner</a:t>
            </a:r>
            <a:endParaRPr/>
          </a:p>
        </p:txBody>
      </p:sp>
      <p:sp>
        <p:nvSpPr>
          <p:cNvPr id="106" name="Google Shape;106;p15"/>
          <p:cNvSpPr/>
          <p:nvPr/>
        </p:nvSpPr>
        <p:spPr>
          <a:xfrm>
            <a:off x="356616" y="774954"/>
            <a:ext cx="30174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800"/>
              <a:buFont typeface="Arial"/>
              <a:buNone/>
            </a:pPr>
            <a:r>
              <a:rPr b="1" i="0" lang="zh-CN" sz="1800" u="none" cap="none" strike="noStrike">
                <a:solidFill>
                  <a:srgbClr val="071A34"/>
                </a:solidFill>
                <a:latin typeface="Arial"/>
                <a:ea typeface="Arial"/>
                <a:cs typeface="Arial"/>
                <a:sym typeface="Arial"/>
              </a:rPr>
              <a:t>W2</a:t>
            </a:r>
            <a:r>
              <a:rPr b="1" lang="zh-CN" sz="1800">
                <a:solidFill>
                  <a:srgbClr val="071A34"/>
                </a:solidFill>
              </a:rPr>
              <a:t>8</a:t>
            </a:r>
            <a:r>
              <a:rPr b="1" i="0" lang="zh-CN" sz="1800" u="none" cap="none" strike="noStrike">
                <a:solidFill>
                  <a:srgbClr val="071A34"/>
                </a:solidFill>
                <a:latin typeface="Arial"/>
                <a:ea typeface="Arial"/>
                <a:cs typeface="Arial"/>
                <a:sym typeface="Arial"/>
              </a:rPr>
              <a:t> forecast contract</a:t>
            </a:r>
            <a:endParaRPr b="0" i="0" sz="1800" u="none" cap="none" strike="noStrike">
              <a:solidFill>
                <a:schemeClr val="dk1"/>
              </a:solidFill>
              <a:latin typeface="Arial"/>
              <a:ea typeface="Arial"/>
              <a:cs typeface="Arial"/>
              <a:sym typeface="Arial"/>
            </a:endParaRPr>
          </a:p>
        </p:txBody>
      </p:sp>
      <p:sp>
        <p:nvSpPr>
          <p:cNvPr id="107" name="Google Shape;107;p15"/>
          <p:cNvSpPr/>
          <p:nvPr/>
        </p:nvSpPr>
        <p:spPr>
          <a:xfrm>
            <a:off x="356621" y="1076500"/>
            <a:ext cx="74400" cy="1162200"/>
          </a:xfrm>
          <a:prstGeom prst="rect">
            <a:avLst/>
          </a:prstGeom>
          <a:solidFill>
            <a:srgbClr val="1EAF4A"/>
          </a:solidFill>
          <a:ln cap="flat" cmpd="sng" w="12900">
            <a:solidFill>
              <a:srgbClr val="1EAF4A"/>
            </a:solidFill>
            <a:prstDash val="solid"/>
            <a:round/>
            <a:headEnd len="sm" w="sm" type="none"/>
            <a:tailEnd len="sm" w="sm" type="none"/>
          </a:ln>
        </p:spPr>
        <p:txBody>
          <a:bodyPr anchorCtr="0" anchor="ctr" bIns="92950" lIns="92950" spcFirstLastPara="1" rIns="92950" wrap="square" tIns="92950">
            <a:noAutofit/>
          </a:bodyPr>
          <a:lstStyle/>
          <a:p>
            <a:pPr indent="0" lvl="0" marL="0" rtl="0" algn="l">
              <a:spcBef>
                <a:spcPts val="0"/>
              </a:spcBef>
              <a:spcAft>
                <a:spcPts val="0"/>
              </a:spcAft>
              <a:buNone/>
            </a:pPr>
            <a:r>
              <a:t/>
            </a:r>
            <a:endParaRPr/>
          </a:p>
        </p:txBody>
      </p:sp>
      <p:sp>
        <p:nvSpPr>
          <p:cNvPr id="108" name="Google Shape;108;p15"/>
          <p:cNvSpPr/>
          <p:nvPr/>
        </p:nvSpPr>
        <p:spPr>
          <a:xfrm>
            <a:off x="430989" y="1067204"/>
            <a:ext cx="2603100" cy="1180500"/>
          </a:xfrm>
          <a:prstGeom prst="roundRect">
            <a:avLst>
              <a:gd fmla="val 9449" name="adj"/>
            </a:avLst>
          </a:prstGeom>
          <a:solidFill>
            <a:srgbClr val="FFFFFF"/>
          </a:solidFill>
          <a:ln cap="flat" cmpd="sng" w="12900">
            <a:solidFill>
              <a:srgbClr val="D8E2EC"/>
            </a:solidFill>
            <a:prstDash val="solid"/>
            <a:round/>
            <a:headEnd len="sm" w="sm" type="none"/>
            <a:tailEnd len="sm" w="sm" type="none"/>
          </a:ln>
          <a:effectLst>
            <a:outerShdw blurRad="25822" rotWithShape="0" algn="bl" dir="2700000" dist="51645">
              <a:srgbClr val="000000">
                <a:alpha val="14900"/>
              </a:srgbClr>
            </a:outerShdw>
          </a:effectLst>
        </p:spPr>
        <p:txBody>
          <a:bodyPr anchorCtr="0" anchor="ctr" bIns="92950" lIns="92950" spcFirstLastPara="1" rIns="92950" wrap="square" tIns="92950">
            <a:noAutofit/>
          </a:bodyPr>
          <a:lstStyle/>
          <a:p>
            <a:pPr indent="0" lvl="0" marL="0" rtl="0" algn="l">
              <a:spcBef>
                <a:spcPts val="0"/>
              </a:spcBef>
              <a:spcAft>
                <a:spcPts val="0"/>
              </a:spcAft>
              <a:buNone/>
            </a:pPr>
            <a:r>
              <a:t/>
            </a:r>
            <a:endParaRPr/>
          </a:p>
        </p:txBody>
      </p:sp>
      <p:sp>
        <p:nvSpPr>
          <p:cNvPr id="109" name="Google Shape;109;p15"/>
          <p:cNvSpPr/>
          <p:nvPr/>
        </p:nvSpPr>
        <p:spPr>
          <a:xfrm>
            <a:off x="607614" y="1271715"/>
            <a:ext cx="2286900" cy="23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91"/>
              <a:buFont typeface="Arial"/>
              <a:buNone/>
            </a:pPr>
            <a:r>
              <a:rPr b="1" lang="zh-CN" sz="1491">
                <a:solidFill>
                  <a:srgbClr val="071A34"/>
                </a:solidFill>
              </a:rPr>
              <a:t>SPX | ^GSPC proxy </a:t>
            </a:r>
            <a:endParaRPr b="0" i="0" sz="1491" u="none" cap="none" strike="noStrike">
              <a:solidFill>
                <a:schemeClr val="dk1"/>
              </a:solidFill>
              <a:latin typeface="Arial"/>
              <a:ea typeface="Arial"/>
              <a:cs typeface="Arial"/>
              <a:sym typeface="Arial"/>
            </a:endParaRPr>
          </a:p>
        </p:txBody>
      </p:sp>
      <p:sp>
        <p:nvSpPr>
          <p:cNvPr id="110" name="Google Shape;110;p15"/>
          <p:cNvSpPr/>
          <p:nvPr/>
        </p:nvSpPr>
        <p:spPr>
          <a:xfrm>
            <a:off x="607614" y="1643555"/>
            <a:ext cx="2286900" cy="585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491"/>
              <a:buFont typeface="Arial"/>
              <a:buNone/>
            </a:pPr>
            <a:r>
              <a:rPr b="1" lang="zh-CN" sz="1491">
                <a:solidFill>
                  <a:schemeClr val="dk1"/>
                </a:solidFill>
              </a:rPr>
              <a:t>Direction:</a:t>
            </a:r>
            <a:r>
              <a:rPr lang="zh-CN" sz="1491">
                <a:solidFill>
                  <a:schemeClr val="dk1"/>
                </a:solidFill>
              </a:rPr>
              <a:t> Up</a:t>
            </a:r>
            <a:endParaRPr sz="1491">
              <a:solidFill>
                <a:schemeClr val="dk1"/>
              </a:solidFill>
            </a:endParaRPr>
          </a:p>
          <a:p>
            <a:pPr indent="0" lvl="0" marL="0" rtl="0" algn="l">
              <a:spcBef>
                <a:spcPts val="0"/>
              </a:spcBef>
              <a:spcAft>
                <a:spcPts val="0"/>
              </a:spcAft>
              <a:buClr>
                <a:schemeClr val="dk1"/>
              </a:buClr>
              <a:buSzPts val="1491"/>
              <a:buFont typeface="Arial"/>
              <a:buNone/>
            </a:pPr>
            <a:r>
              <a:rPr b="1" lang="zh-CN" sz="1491">
                <a:solidFill>
                  <a:schemeClr val="dk1"/>
                </a:solidFill>
              </a:rPr>
              <a:t>Range:</a:t>
            </a:r>
            <a:r>
              <a:rPr lang="zh-CN" sz="1491">
                <a:solidFill>
                  <a:schemeClr val="dk1"/>
                </a:solidFill>
              </a:rPr>
              <a:t> +0.2% to +1.0%</a:t>
            </a:r>
            <a:endParaRPr sz="1491">
              <a:solidFill>
                <a:schemeClr val="dk1"/>
              </a:solidFill>
            </a:endParaRPr>
          </a:p>
          <a:p>
            <a:pPr indent="0" lvl="0" marL="0" rtl="0" algn="l">
              <a:spcBef>
                <a:spcPts val="0"/>
              </a:spcBef>
              <a:spcAft>
                <a:spcPts val="0"/>
              </a:spcAft>
              <a:buClr>
                <a:schemeClr val="dk1"/>
              </a:buClr>
              <a:buSzPts val="1491"/>
              <a:buFont typeface="Arial"/>
              <a:buNone/>
            </a:pPr>
            <a:r>
              <a:rPr b="1" lang="zh-CN" sz="1491">
                <a:solidFill>
                  <a:schemeClr val="dk1"/>
                </a:solidFill>
              </a:rPr>
              <a:t>Confidence:</a:t>
            </a:r>
            <a:r>
              <a:rPr lang="zh-CN" sz="1491">
                <a:solidFill>
                  <a:schemeClr val="dk1"/>
                </a:solidFill>
              </a:rPr>
              <a:t> Medium </a:t>
            </a:r>
            <a:endParaRPr sz="1084">
              <a:solidFill>
                <a:srgbClr val="071A34"/>
              </a:solidFill>
            </a:endParaRPr>
          </a:p>
          <a:p>
            <a:pPr indent="0" lvl="0" marL="0" marR="0" rtl="0" algn="l">
              <a:spcBef>
                <a:spcPts val="0"/>
              </a:spcBef>
              <a:spcAft>
                <a:spcPts val="0"/>
              </a:spcAft>
              <a:buClr>
                <a:srgbClr val="071A34"/>
              </a:buClr>
              <a:buSzPts val="1084"/>
              <a:buFont typeface="Arial"/>
              <a:buNone/>
            </a:pPr>
            <a:r>
              <a:t/>
            </a:r>
            <a:endParaRPr sz="1084">
              <a:solidFill>
                <a:srgbClr val="071A34"/>
              </a:solidFill>
            </a:endParaRPr>
          </a:p>
        </p:txBody>
      </p:sp>
      <p:sp>
        <p:nvSpPr>
          <p:cNvPr id="111" name="Google Shape;111;p15"/>
          <p:cNvSpPr/>
          <p:nvPr/>
        </p:nvSpPr>
        <p:spPr>
          <a:xfrm>
            <a:off x="3254090" y="2358729"/>
            <a:ext cx="73200" cy="1144200"/>
          </a:xfrm>
          <a:prstGeom prst="rect">
            <a:avLst/>
          </a:prstGeom>
          <a:solidFill>
            <a:srgbClr val="E53935"/>
          </a:solidFill>
          <a:ln cap="flat" cmpd="sng" w="12700">
            <a:solidFill>
              <a:srgbClr val="E53935"/>
            </a:solidFill>
            <a:prstDash val="solid"/>
            <a:round/>
            <a:headEnd len="sm" w="sm" type="none"/>
            <a:tailEnd len="sm" w="sm" type="none"/>
          </a:ln>
        </p:spPr>
        <p:txBody>
          <a:bodyPr anchorCtr="0" anchor="ctr" bIns="91500" lIns="91500" spcFirstLastPara="1" rIns="91500" wrap="square" tIns="91500">
            <a:noAutofit/>
          </a:bodyPr>
          <a:lstStyle/>
          <a:p>
            <a:pPr indent="0" lvl="0" marL="0" rtl="0" algn="l">
              <a:spcBef>
                <a:spcPts val="0"/>
              </a:spcBef>
              <a:spcAft>
                <a:spcPts val="0"/>
              </a:spcAft>
              <a:buNone/>
            </a:pPr>
            <a:r>
              <a:t/>
            </a:r>
            <a:endParaRPr/>
          </a:p>
        </p:txBody>
      </p:sp>
      <p:sp>
        <p:nvSpPr>
          <p:cNvPr id="112" name="Google Shape;112;p15"/>
          <p:cNvSpPr/>
          <p:nvPr/>
        </p:nvSpPr>
        <p:spPr>
          <a:xfrm>
            <a:off x="3327305" y="2349577"/>
            <a:ext cx="2562600" cy="1162200"/>
          </a:xfrm>
          <a:prstGeom prst="roundRect">
            <a:avLst>
              <a:gd fmla="val 9449" name="adj"/>
            </a:avLst>
          </a:prstGeom>
          <a:solidFill>
            <a:srgbClr val="FFFFFF"/>
          </a:solidFill>
          <a:ln cap="flat" cmpd="sng" w="12700">
            <a:solidFill>
              <a:srgbClr val="D8E2EC"/>
            </a:solidFill>
            <a:prstDash val="solid"/>
            <a:round/>
            <a:headEnd len="sm" w="sm" type="none"/>
            <a:tailEnd len="sm" w="sm" type="none"/>
          </a:ln>
          <a:effectLst>
            <a:outerShdw blurRad="25422" rotWithShape="0" algn="bl" dir="2700000" dist="50844">
              <a:srgbClr val="000000">
                <a:alpha val="14900"/>
              </a:srgbClr>
            </a:outerShdw>
          </a:effectLst>
        </p:spPr>
        <p:txBody>
          <a:bodyPr anchorCtr="0" anchor="ctr" bIns="91500" lIns="91500" spcFirstLastPara="1" rIns="91500" wrap="square" tIns="91500">
            <a:noAutofit/>
          </a:bodyPr>
          <a:lstStyle/>
          <a:p>
            <a:pPr indent="0" lvl="0" marL="0" rtl="0" algn="l">
              <a:spcBef>
                <a:spcPts val="0"/>
              </a:spcBef>
              <a:spcAft>
                <a:spcPts val="0"/>
              </a:spcAft>
              <a:buNone/>
            </a:pPr>
            <a:r>
              <a:t/>
            </a:r>
            <a:endParaRPr/>
          </a:p>
        </p:txBody>
      </p:sp>
      <p:sp>
        <p:nvSpPr>
          <p:cNvPr id="113" name="Google Shape;113;p15"/>
          <p:cNvSpPr/>
          <p:nvPr/>
        </p:nvSpPr>
        <p:spPr>
          <a:xfrm>
            <a:off x="3501189" y="2550918"/>
            <a:ext cx="2251500" cy="22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68"/>
              <a:buFont typeface="Arial"/>
              <a:buNone/>
            </a:pPr>
            <a:r>
              <a:rPr b="1" lang="zh-CN" sz="1468">
                <a:solidFill>
                  <a:srgbClr val="071A34"/>
                </a:solidFill>
              </a:rPr>
              <a:t>IWM | IWM proxy </a:t>
            </a:r>
            <a:endParaRPr b="0" i="0" sz="1468" u="none" cap="none" strike="noStrike">
              <a:solidFill>
                <a:schemeClr val="dk1"/>
              </a:solidFill>
              <a:latin typeface="Arial"/>
              <a:ea typeface="Arial"/>
              <a:cs typeface="Arial"/>
              <a:sym typeface="Arial"/>
            </a:endParaRPr>
          </a:p>
        </p:txBody>
      </p:sp>
      <p:sp>
        <p:nvSpPr>
          <p:cNvPr id="114" name="Google Shape;114;p15"/>
          <p:cNvSpPr/>
          <p:nvPr/>
        </p:nvSpPr>
        <p:spPr>
          <a:xfrm>
            <a:off x="3501189" y="2916993"/>
            <a:ext cx="2251500" cy="576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zh-CN" sz="1100">
                <a:solidFill>
                  <a:schemeClr val="dk1"/>
                </a:solidFill>
              </a:rPr>
              <a:t>Direction:</a:t>
            </a:r>
            <a:r>
              <a:rPr lang="zh-CN" sz="1100">
                <a:solidFill>
                  <a:schemeClr val="dk1"/>
                </a:solidFill>
              </a:rPr>
              <a:t> Neutral → Down</a:t>
            </a:r>
            <a:endParaRPr sz="1100">
              <a:solidFill>
                <a:schemeClr val="dk1"/>
              </a:solidFill>
            </a:endParaRPr>
          </a:p>
          <a:p>
            <a:pPr indent="0" lvl="0" marL="0" rtl="0" algn="l">
              <a:spcBef>
                <a:spcPts val="0"/>
              </a:spcBef>
              <a:spcAft>
                <a:spcPts val="0"/>
              </a:spcAft>
              <a:buClr>
                <a:schemeClr val="dk1"/>
              </a:buClr>
              <a:buSzPts val="1100"/>
              <a:buFont typeface="Arial"/>
              <a:buNone/>
            </a:pPr>
            <a:r>
              <a:rPr b="1" lang="zh-CN" sz="1100">
                <a:solidFill>
                  <a:schemeClr val="dk1"/>
                </a:solidFill>
              </a:rPr>
              <a:t>Range:</a:t>
            </a:r>
            <a:r>
              <a:rPr lang="zh-CN" sz="1100">
                <a:solidFill>
                  <a:schemeClr val="dk1"/>
                </a:solidFill>
              </a:rPr>
              <a:t> -0.8% to +0.4%</a:t>
            </a:r>
            <a:endParaRPr sz="1100">
              <a:solidFill>
                <a:schemeClr val="dk1"/>
              </a:solidFill>
            </a:endParaRPr>
          </a:p>
          <a:p>
            <a:pPr indent="0" lvl="0" marL="0" rtl="0" algn="l">
              <a:spcBef>
                <a:spcPts val="0"/>
              </a:spcBef>
              <a:spcAft>
                <a:spcPts val="0"/>
              </a:spcAft>
              <a:buClr>
                <a:schemeClr val="dk1"/>
              </a:buClr>
              <a:buSzPts val="1468"/>
              <a:buFont typeface="Arial"/>
              <a:buNone/>
            </a:pPr>
            <a:r>
              <a:rPr b="1" lang="zh-CN" sz="1100">
                <a:solidFill>
                  <a:schemeClr val="dk1"/>
                </a:solidFill>
              </a:rPr>
              <a:t>Confidence:</a:t>
            </a:r>
            <a:r>
              <a:rPr lang="zh-CN" sz="1100">
                <a:solidFill>
                  <a:schemeClr val="dk1"/>
                </a:solidFill>
              </a:rPr>
              <a:t> Low </a:t>
            </a:r>
            <a:endParaRPr sz="1068">
              <a:solidFill>
                <a:srgbClr val="071A34"/>
              </a:solidFill>
            </a:endParaRPr>
          </a:p>
          <a:p>
            <a:pPr indent="0" lvl="0" marL="0" marR="0" rtl="0" algn="l">
              <a:spcBef>
                <a:spcPts val="0"/>
              </a:spcBef>
              <a:spcAft>
                <a:spcPts val="0"/>
              </a:spcAft>
              <a:buClr>
                <a:srgbClr val="071A34"/>
              </a:buClr>
              <a:buSzPts val="1068"/>
              <a:buFont typeface="Arial"/>
              <a:buNone/>
            </a:pPr>
            <a:r>
              <a:t/>
            </a:r>
            <a:endParaRPr sz="1068">
              <a:solidFill>
                <a:srgbClr val="071A34"/>
              </a:solidFill>
            </a:endParaRPr>
          </a:p>
        </p:txBody>
      </p:sp>
      <p:sp>
        <p:nvSpPr>
          <p:cNvPr id="115" name="Google Shape;115;p15"/>
          <p:cNvSpPr/>
          <p:nvPr/>
        </p:nvSpPr>
        <p:spPr>
          <a:xfrm>
            <a:off x="6254627" y="1271823"/>
            <a:ext cx="74400" cy="1162200"/>
          </a:xfrm>
          <a:prstGeom prst="rect">
            <a:avLst/>
          </a:prstGeom>
          <a:solidFill>
            <a:srgbClr val="FFB52A"/>
          </a:solidFill>
          <a:ln cap="flat" cmpd="sng" w="12900">
            <a:solidFill>
              <a:srgbClr val="FFB52A"/>
            </a:solidFill>
            <a:prstDash val="solid"/>
            <a:round/>
            <a:headEnd len="sm" w="sm" type="none"/>
            <a:tailEnd len="sm" w="sm" type="none"/>
          </a:ln>
        </p:spPr>
        <p:txBody>
          <a:bodyPr anchorCtr="0" anchor="ctr" bIns="92950" lIns="92950" spcFirstLastPara="1" rIns="92950" wrap="square" tIns="92950">
            <a:noAutofit/>
          </a:bodyPr>
          <a:lstStyle/>
          <a:p>
            <a:pPr indent="0" lvl="0" marL="0" rtl="0" algn="l">
              <a:spcBef>
                <a:spcPts val="0"/>
              </a:spcBef>
              <a:spcAft>
                <a:spcPts val="0"/>
              </a:spcAft>
              <a:buNone/>
            </a:pPr>
            <a:r>
              <a:t/>
            </a:r>
            <a:endParaRPr/>
          </a:p>
        </p:txBody>
      </p:sp>
      <p:sp>
        <p:nvSpPr>
          <p:cNvPr id="116" name="Google Shape;116;p15"/>
          <p:cNvSpPr/>
          <p:nvPr/>
        </p:nvSpPr>
        <p:spPr>
          <a:xfrm>
            <a:off x="6347669" y="1220502"/>
            <a:ext cx="2602800" cy="1180500"/>
          </a:xfrm>
          <a:prstGeom prst="roundRect">
            <a:avLst>
              <a:gd fmla="val 9449" name="adj"/>
            </a:avLst>
          </a:prstGeom>
          <a:solidFill>
            <a:srgbClr val="FFFFFF"/>
          </a:solidFill>
          <a:ln cap="flat" cmpd="sng" w="12900">
            <a:solidFill>
              <a:srgbClr val="D8E2EC"/>
            </a:solidFill>
            <a:prstDash val="solid"/>
            <a:round/>
            <a:headEnd len="sm" w="sm" type="none"/>
            <a:tailEnd len="sm" w="sm" type="none"/>
          </a:ln>
          <a:effectLst>
            <a:outerShdw blurRad="25822" rotWithShape="0" algn="bl" dir="2700000" dist="51644">
              <a:srgbClr val="000000">
                <a:alpha val="14900"/>
              </a:srgbClr>
            </a:outerShdw>
          </a:effectLst>
        </p:spPr>
        <p:txBody>
          <a:bodyPr anchorCtr="0" anchor="ctr" bIns="92950" lIns="92950" spcFirstLastPara="1" rIns="92950" wrap="square" tIns="92950">
            <a:noAutofit/>
          </a:bodyPr>
          <a:lstStyle/>
          <a:p>
            <a:pPr indent="0" lvl="0" marL="0" rtl="0" algn="l">
              <a:spcBef>
                <a:spcPts val="0"/>
              </a:spcBef>
              <a:spcAft>
                <a:spcPts val="0"/>
              </a:spcAft>
              <a:buClr>
                <a:schemeClr val="dk1"/>
              </a:buClr>
              <a:buSzPts val="1100"/>
              <a:buFont typeface="Arial"/>
              <a:buNone/>
            </a:pPr>
            <a:r>
              <a:rPr b="1" lang="zh-CN" sz="1491">
                <a:solidFill>
                  <a:schemeClr val="dk1"/>
                </a:solidFill>
              </a:rPr>
              <a:t>Direction:</a:t>
            </a:r>
            <a:r>
              <a:rPr lang="zh-CN" sz="1491">
                <a:solidFill>
                  <a:schemeClr val="dk1"/>
                </a:solidFill>
              </a:rPr>
              <a:t> Up</a:t>
            </a:r>
            <a:endParaRPr sz="1491">
              <a:solidFill>
                <a:schemeClr val="dk1"/>
              </a:solidFill>
            </a:endParaRPr>
          </a:p>
          <a:p>
            <a:pPr indent="0" lvl="0" marL="0" rtl="0" algn="l">
              <a:spcBef>
                <a:spcPts val="0"/>
              </a:spcBef>
              <a:spcAft>
                <a:spcPts val="0"/>
              </a:spcAft>
              <a:buClr>
                <a:schemeClr val="dk1"/>
              </a:buClr>
              <a:buSzPts val="1100"/>
              <a:buFont typeface="Arial"/>
              <a:buNone/>
            </a:pPr>
            <a:r>
              <a:rPr b="1" lang="zh-CN" sz="1491">
                <a:solidFill>
                  <a:schemeClr val="dk1"/>
                </a:solidFill>
              </a:rPr>
              <a:t>Range:</a:t>
            </a:r>
            <a:r>
              <a:rPr lang="zh-CN" sz="1491">
                <a:solidFill>
                  <a:schemeClr val="dk1"/>
                </a:solidFill>
              </a:rPr>
              <a:t> +0.3% to +1.5%</a:t>
            </a:r>
            <a:endParaRPr sz="1491">
              <a:solidFill>
                <a:schemeClr val="dk1"/>
              </a:solidFill>
            </a:endParaRPr>
          </a:p>
          <a:p>
            <a:pPr indent="0" lvl="0" marL="0" rtl="0" algn="l">
              <a:spcBef>
                <a:spcPts val="0"/>
              </a:spcBef>
              <a:spcAft>
                <a:spcPts val="0"/>
              </a:spcAft>
              <a:buNone/>
            </a:pPr>
            <a:r>
              <a:rPr b="1" lang="zh-CN" sz="1491">
                <a:solidFill>
                  <a:schemeClr val="dk1"/>
                </a:solidFill>
              </a:rPr>
              <a:t>Confidence:</a:t>
            </a:r>
            <a:r>
              <a:rPr lang="zh-CN" sz="1491">
                <a:solidFill>
                  <a:schemeClr val="dk1"/>
                </a:solidFill>
              </a:rPr>
              <a:t> Medium </a:t>
            </a:r>
            <a:endParaRPr sz="1898"/>
          </a:p>
        </p:txBody>
      </p:sp>
      <p:sp>
        <p:nvSpPr>
          <p:cNvPr id="117" name="Google Shape;117;p15"/>
          <p:cNvSpPr/>
          <p:nvPr/>
        </p:nvSpPr>
        <p:spPr>
          <a:xfrm>
            <a:off x="6505617" y="1271814"/>
            <a:ext cx="2286900" cy="23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91"/>
              <a:buFont typeface="Arial"/>
              <a:buNone/>
            </a:pPr>
            <a:r>
              <a:rPr b="1" lang="zh-CN" sz="1491">
                <a:solidFill>
                  <a:srgbClr val="071A34"/>
                </a:solidFill>
              </a:rPr>
              <a:t>NDX | ^NDX proxy </a:t>
            </a:r>
            <a:endParaRPr b="0" i="0" sz="1491" u="none" cap="none" strike="noStrike">
              <a:solidFill>
                <a:schemeClr val="dk1"/>
              </a:solidFill>
              <a:latin typeface="Arial"/>
              <a:ea typeface="Arial"/>
              <a:cs typeface="Arial"/>
              <a:sym typeface="Arial"/>
            </a:endParaRPr>
          </a:p>
        </p:txBody>
      </p:sp>
      <p:sp>
        <p:nvSpPr>
          <p:cNvPr id="118" name="Google Shape;118;p15"/>
          <p:cNvSpPr/>
          <p:nvPr/>
        </p:nvSpPr>
        <p:spPr>
          <a:xfrm>
            <a:off x="377200" y="3720549"/>
            <a:ext cx="54900" cy="1162500"/>
          </a:xfrm>
          <a:prstGeom prst="rect">
            <a:avLst/>
          </a:prstGeom>
          <a:solidFill>
            <a:srgbClr val="7A45F5"/>
          </a:solidFill>
          <a:ln cap="flat" cmpd="sng" w="9525">
            <a:solidFill>
              <a:srgbClr val="7A45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15"/>
          <p:cNvSpPr/>
          <p:nvPr/>
        </p:nvSpPr>
        <p:spPr>
          <a:xfrm>
            <a:off x="432064" y="3711675"/>
            <a:ext cx="4128600" cy="1180500"/>
          </a:xfrm>
          <a:prstGeom prst="roundRect">
            <a:avLst>
              <a:gd fmla="val 9023"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5"/>
          <p:cNvSpPr/>
          <p:nvPr/>
        </p:nvSpPr>
        <p:spPr>
          <a:xfrm>
            <a:off x="630918" y="3768325"/>
            <a:ext cx="2910600" cy="15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200"/>
              <a:buFont typeface="Arial"/>
              <a:buNone/>
            </a:pPr>
            <a:r>
              <a:rPr b="1" i="0" lang="zh-CN" sz="1200" u="none" cap="none" strike="noStrike">
                <a:solidFill>
                  <a:srgbClr val="071A34"/>
                </a:solidFill>
                <a:latin typeface="Arial"/>
                <a:ea typeface="Arial"/>
                <a:cs typeface="Arial"/>
                <a:sym typeface="Arial"/>
              </a:rPr>
              <a:t>Assumptions / Risk Trigger</a:t>
            </a:r>
            <a:endParaRPr b="0" i="0" sz="1200" u="none" cap="none" strike="noStrike">
              <a:solidFill>
                <a:schemeClr val="dk1"/>
              </a:solidFill>
              <a:latin typeface="Arial"/>
              <a:ea typeface="Arial"/>
              <a:cs typeface="Arial"/>
              <a:sym typeface="Arial"/>
            </a:endParaRPr>
          </a:p>
        </p:txBody>
      </p:sp>
      <p:sp>
        <p:nvSpPr>
          <p:cNvPr id="121" name="Google Shape;121;p15"/>
          <p:cNvSpPr/>
          <p:nvPr/>
        </p:nvSpPr>
        <p:spPr>
          <a:xfrm>
            <a:off x="644775" y="4182675"/>
            <a:ext cx="3703200" cy="658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zh-CN" sz="1000">
                <a:solidFill>
                  <a:srgbClr val="071A34"/>
                </a:solidFill>
              </a:rPr>
              <a:t>1. Assumption: Final W28 calls combine Almanac, Macro,</a:t>
            </a:r>
            <a:endParaRPr sz="1000">
              <a:solidFill>
                <a:srgbClr val="071A34"/>
              </a:solidFill>
            </a:endParaRPr>
          </a:p>
          <a:p>
            <a:pPr indent="0" lvl="0" marL="0" rtl="0" algn="l">
              <a:lnSpc>
                <a:spcPct val="115000"/>
              </a:lnSpc>
              <a:spcBef>
                <a:spcPts val="0"/>
              </a:spcBef>
              <a:spcAft>
                <a:spcPts val="0"/>
              </a:spcAft>
              <a:buClr>
                <a:schemeClr val="dk1"/>
              </a:buClr>
              <a:buSzPts val="1100"/>
              <a:buFont typeface="Arial"/>
              <a:buNone/>
            </a:pPr>
            <a:r>
              <a:rPr lang="zh-CN" sz="1000">
                <a:solidFill>
                  <a:srgbClr val="071A34"/>
                </a:solidFill>
              </a:rPr>
              <a:t>Technical, and latest market evidence.</a:t>
            </a:r>
            <a:endParaRPr sz="1000">
              <a:solidFill>
                <a:srgbClr val="071A34"/>
              </a:solidFill>
            </a:endParaRPr>
          </a:p>
          <a:p>
            <a:pPr indent="0" lvl="0" marL="0" rtl="0" algn="l">
              <a:lnSpc>
                <a:spcPct val="115000"/>
              </a:lnSpc>
              <a:spcBef>
                <a:spcPts val="0"/>
              </a:spcBef>
              <a:spcAft>
                <a:spcPts val="0"/>
              </a:spcAft>
              <a:buClr>
                <a:schemeClr val="dk1"/>
              </a:buClr>
              <a:buSzPts val="1100"/>
              <a:buFont typeface="Arial"/>
              <a:buNone/>
            </a:pPr>
            <a:r>
              <a:rPr lang="zh-CN" sz="1000">
                <a:solidFill>
                  <a:srgbClr val="071A34"/>
                </a:solidFill>
              </a:rPr>
              <a:t>2. Risk trigger: Hawkish FOMC signals, sharply rising</a:t>
            </a:r>
            <a:endParaRPr sz="1000">
              <a:solidFill>
                <a:srgbClr val="071A34"/>
              </a:solidFill>
            </a:endParaRPr>
          </a:p>
          <a:p>
            <a:pPr indent="0" lvl="0" marL="0" rtl="0" algn="l">
              <a:lnSpc>
                <a:spcPct val="115000"/>
              </a:lnSpc>
              <a:spcBef>
                <a:spcPts val="0"/>
              </a:spcBef>
              <a:spcAft>
                <a:spcPts val="0"/>
              </a:spcAft>
              <a:buClr>
                <a:schemeClr val="dk1"/>
              </a:buClr>
              <a:buSzPts val="1100"/>
              <a:buFont typeface="Arial"/>
              <a:buNone/>
            </a:pPr>
            <a:r>
              <a:rPr lang="zh-CN" sz="1000">
                <a:solidFill>
                  <a:srgbClr val="071A34"/>
                </a:solidFill>
              </a:rPr>
              <a:t>Treasury yields, or a break below key technical support</a:t>
            </a:r>
            <a:endParaRPr sz="1000">
              <a:solidFill>
                <a:srgbClr val="071A34"/>
              </a:solidFill>
            </a:endParaRPr>
          </a:p>
          <a:p>
            <a:pPr indent="0" lvl="0" marL="0" rtl="0" algn="l">
              <a:lnSpc>
                <a:spcPct val="115000"/>
              </a:lnSpc>
              <a:spcBef>
                <a:spcPts val="0"/>
              </a:spcBef>
              <a:spcAft>
                <a:spcPts val="0"/>
              </a:spcAft>
              <a:buClr>
                <a:schemeClr val="dk1"/>
              </a:buClr>
              <a:buSzPts val="1100"/>
              <a:buFont typeface="Arial"/>
              <a:buNone/>
            </a:pPr>
            <a:r>
              <a:rPr lang="zh-CN" sz="1000">
                <a:solidFill>
                  <a:srgbClr val="071A34"/>
                </a:solidFill>
              </a:rPr>
              <a:t>may invalidate the forecast.</a:t>
            </a:r>
            <a:endParaRPr sz="1000">
              <a:solidFill>
                <a:srgbClr val="071A34"/>
              </a:solidFill>
            </a:endParaRPr>
          </a:p>
          <a:p>
            <a:pPr indent="0" lvl="0" marL="0" marR="0" rtl="0" algn="l">
              <a:lnSpc>
                <a:spcPct val="115000"/>
              </a:lnSpc>
              <a:spcBef>
                <a:spcPts val="0"/>
              </a:spcBef>
              <a:spcAft>
                <a:spcPts val="0"/>
              </a:spcAft>
              <a:buClr>
                <a:srgbClr val="071A34"/>
              </a:buClr>
              <a:buSzPts val="800"/>
              <a:buFont typeface="Arial"/>
              <a:buNone/>
            </a:pPr>
            <a:r>
              <a:t/>
            </a:r>
            <a:endParaRPr sz="1000">
              <a:solidFill>
                <a:srgbClr val="071A34"/>
              </a:solidFill>
            </a:endParaRPr>
          </a:p>
        </p:txBody>
      </p:sp>
      <p:sp>
        <p:nvSpPr>
          <p:cNvPr id="122" name="Google Shape;122;p15"/>
          <p:cNvSpPr/>
          <p:nvPr/>
        </p:nvSpPr>
        <p:spPr>
          <a:xfrm>
            <a:off x="4903465" y="3720549"/>
            <a:ext cx="54900" cy="1162500"/>
          </a:xfrm>
          <a:prstGeom prst="rect">
            <a:avLst/>
          </a:prstGeom>
          <a:solidFill>
            <a:srgbClr val="1EAF4A"/>
          </a:solidFill>
          <a:ln cap="flat" cmpd="sng" w="9525">
            <a:solidFill>
              <a:srgbClr val="1EAF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5"/>
          <p:cNvSpPr/>
          <p:nvPr/>
        </p:nvSpPr>
        <p:spPr>
          <a:xfrm>
            <a:off x="4958329" y="3711675"/>
            <a:ext cx="3799500" cy="1180500"/>
          </a:xfrm>
          <a:prstGeom prst="roundRect">
            <a:avLst>
              <a:gd fmla="val 9023"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5"/>
          <p:cNvSpPr/>
          <p:nvPr/>
        </p:nvSpPr>
        <p:spPr>
          <a:xfrm>
            <a:off x="5157216" y="3768326"/>
            <a:ext cx="1097400" cy="15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200"/>
              <a:buFont typeface="Arial"/>
              <a:buNone/>
            </a:pPr>
            <a:r>
              <a:rPr b="1" i="0" lang="zh-CN" sz="1200" u="none" cap="none" strike="noStrike">
                <a:solidFill>
                  <a:srgbClr val="071A34"/>
                </a:solidFill>
                <a:latin typeface="Arial"/>
                <a:ea typeface="Arial"/>
                <a:cs typeface="Arial"/>
                <a:sym typeface="Arial"/>
              </a:rPr>
              <a:t>Evidence Lock</a:t>
            </a:r>
            <a:endParaRPr b="0" i="0" sz="1200" u="none" cap="none" strike="noStrike">
              <a:solidFill>
                <a:schemeClr val="dk1"/>
              </a:solidFill>
              <a:latin typeface="Arial"/>
              <a:ea typeface="Arial"/>
              <a:cs typeface="Arial"/>
              <a:sym typeface="Arial"/>
            </a:endParaRPr>
          </a:p>
        </p:txBody>
      </p:sp>
      <p:sp>
        <p:nvSpPr>
          <p:cNvPr id="125" name="Google Shape;125;p15"/>
          <p:cNvSpPr/>
          <p:nvPr/>
        </p:nvSpPr>
        <p:spPr>
          <a:xfrm>
            <a:off x="5157225" y="4075250"/>
            <a:ext cx="3410100" cy="658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SzPts val="1100"/>
              <a:buFont typeface="Arial"/>
              <a:buNone/>
            </a:pPr>
            <a:r>
              <a:rPr lang="zh-CN" sz="1000">
                <a:solidFill>
                  <a:srgbClr val="071A34"/>
                </a:solidFill>
              </a:rPr>
              <a:t>Almanac: bullish XLK/XLU; bearish XLE/XLB</a:t>
            </a:r>
            <a:endParaRPr sz="1000">
              <a:solidFill>
                <a:srgbClr val="071A34"/>
              </a:solidFill>
            </a:endParaRPr>
          </a:p>
          <a:p>
            <a:pPr indent="0" lvl="0" marL="0" rtl="0" algn="l">
              <a:lnSpc>
                <a:spcPct val="150000"/>
              </a:lnSpc>
              <a:spcBef>
                <a:spcPts val="0"/>
              </a:spcBef>
              <a:spcAft>
                <a:spcPts val="0"/>
              </a:spcAft>
              <a:buClr>
                <a:schemeClr val="dk1"/>
              </a:buClr>
              <a:buSzPts val="1100"/>
              <a:buFont typeface="Arial"/>
              <a:buNone/>
            </a:pPr>
            <a:r>
              <a:rPr lang="zh-CN" sz="1000">
                <a:solidFill>
                  <a:srgbClr val="071A34"/>
                </a:solidFill>
              </a:rPr>
              <a:t>Macro: neutral to moderately bullish</a:t>
            </a:r>
            <a:endParaRPr sz="1000">
              <a:solidFill>
                <a:srgbClr val="071A34"/>
              </a:solidFill>
            </a:endParaRPr>
          </a:p>
          <a:p>
            <a:pPr indent="0" lvl="0" marL="0" rtl="0" algn="l">
              <a:lnSpc>
                <a:spcPct val="150000"/>
              </a:lnSpc>
              <a:spcBef>
                <a:spcPts val="0"/>
              </a:spcBef>
              <a:spcAft>
                <a:spcPts val="0"/>
              </a:spcAft>
              <a:buClr>
                <a:schemeClr val="dk1"/>
              </a:buClr>
              <a:buSzPts val="1100"/>
              <a:buFont typeface="Arial"/>
              <a:buNone/>
            </a:pPr>
            <a:r>
              <a:rPr lang="zh-CN" sz="1000">
                <a:solidFill>
                  <a:srgbClr val="071A34"/>
                </a:solidFill>
              </a:rPr>
              <a:t>Technical: SPX and NDX bullish; IWM slightly bearish</a:t>
            </a:r>
            <a:endParaRPr sz="1000">
              <a:solidFill>
                <a:srgbClr val="071A34"/>
              </a:solidFill>
            </a:endParaRPr>
          </a:p>
          <a:p>
            <a:pPr indent="0" lvl="0" marL="0" rtl="0" algn="l">
              <a:lnSpc>
                <a:spcPct val="150000"/>
              </a:lnSpc>
              <a:spcBef>
                <a:spcPts val="0"/>
              </a:spcBef>
              <a:spcAft>
                <a:spcPts val="0"/>
              </a:spcAft>
              <a:buNone/>
            </a:pPr>
            <a:r>
              <a:rPr lang="zh-CN" sz="1000">
                <a:solidFill>
                  <a:srgbClr val="071A34"/>
                </a:solidFill>
              </a:rPr>
              <a:t>Final prediction: Neutral-Bullish </a:t>
            </a:r>
            <a:endParaRPr sz="1000">
              <a:solidFill>
                <a:srgbClr val="071A34"/>
              </a:solidFill>
            </a:endParaRPr>
          </a:p>
        </p:txBody>
      </p:sp>
      <p:sp>
        <p:nvSpPr>
          <p:cNvPr id="126" name="Google Shape;126;p15"/>
          <p:cNvSpPr/>
          <p:nvPr/>
        </p:nvSpPr>
        <p:spPr>
          <a:xfrm>
            <a:off x="2788920" y="201168"/>
            <a:ext cx="23316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800"/>
              <a:buFont typeface="Arial"/>
              <a:buNone/>
            </a:pPr>
            <a:r>
              <a:rPr b="1" lang="zh-CN" sz="1200">
                <a:solidFill>
                  <a:srgbClr val="FFFFFF"/>
                </a:solidFill>
              </a:rPr>
              <a:t>Forecast Contract</a:t>
            </a:r>
            <a:endParaRPr i="0" sz="1200" u="none" cap="none" strike="noStrike">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30" name="Shape 130"/>
        <p:cNvGrpSpPr/>
        <p:nvPr/>
      </p:nvGrpSpPr>
      <p:grpSpPr>
        <a:xfrm>
          <a:off x="0" y="0"/>
          <a:ext cx="0" cy="0"/>
          <a:chOff x="0" y="0"/>
          <a:chExt cx="0" cy="0"/>
        </a:xfrm>
      </p:grpSpPr>
      <p:sp>
        <p:nvSpPr>
          <p:cNvPr id="131" name="Google Shape;131;p1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16"/>
          <p:cNvSpPr/>
          <p:nvPr/>
        </p:nvSpPr>
        <p:spPr>
          <a:xfrm>
            <a:off x="0" y="640080"/>
            <a:ext cx="9144000" cy="366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1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R1 Product Owner</a:t>
            </a:r>
            <a:endParaRPr/>
          </a:p>
        </p:txBody>
      </p:sp>
      <p:sp>
        <p:nvSpPr>
          <p:cNvPr id="134" name="Google Shape;134;p16"/>
          <p:cNvSpPr/>
          <p:nvPr/>
        </p:nvSpPr>
        <p:spPr>
          <a:xfrm>
            <a:off x="2788920" y="201168"/>
            <a:ext cx="23316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800"/>
              <a:buFont typeface="Arial"/>
              <a:buNone/>
            </a:pPr>
            <a:r>
              <a:rPr b="1" lang="zh-CN" sz="1200">
                <a:solidFill>
                  <a:srgbClr val="FFFFFF"/>
                </a:solidFill>
              </a:rPr>
              <a:t>Forecast Contract</a:t>
            </a:r>
            <a:endParaRPr i="0" sz="1200" u="none" cap="none" strike="noStrike">
              <a:solidFill>
                <a:srgbClr val="FFFFFF"/>
              </a:solidFill>
            </a:endParaRPr>
          </a:p>
        </p:txBody>
      </p:sp>
      <p:graphicFrame>
        <p:nvGraphicFramePr>
          <p:cNvPr id="135" name="Google Shape;135;p16"/>
          <p:cNvGraphicFramePr/>
          <p:nvPr/>
        </p:nvGraphicFramePr>
        <p:xfrm>
          <a:off x="219825" y="746963"/>
          <a:ext cx="3000000" cy="3000000"/>
        </p:xfrm>
        <a:graphic>
          <a:graphicData uri="http://schemas.openxmlformats.org/drawingml/2006/table">
            <a:tbl>
              <a:tblPr>
                <a:noFill/>
                <a:tableStyleId>{E6DC92A4-AD73-4E53-A7EA-90CB50100382}</a:tableStyleId>
              </a:tblPr>
              <a:tblGrid>
                <a:gridCol w="2736175"/>
                <a:gridCol w="742250"/>
                <a:gridCol w="1804725"/>
                <a:gridCol w="1775625"/>
                <a:gridCol w="1499075"/>
              </a:tblGrid>
              <a:tr h="356125">
                <a:tc>
                  <a:txBody>
                    <a:bodyPr/>
                    <a:lstStyle/>
                    <a:p>
                      <a:pPr indent="0" lvl="0" marL="0" rtl="0" algn="ctr">
                        <a:lnSpc>
                          <a:spcPct val="115000"/>
                        </a:lnSpc>
                        <a:spcBef>
                          <a:spcPts val="0"/>
                        </a:spcBef>
                        <a:spcAft>
                          <a:spcPts val="0"/>
                        </a:spcAft>
                        <a:buNone/>
                      </a:pPr>
                      <a:r>
                        <a:rPr b="1" lang="zh-CN" sz="1300"/>
                        <a:t>Sector</a:t>
                      </a:r>
                      <a:endParaRPr b="1" sz="1300"/>
                    </a:p>
                  </a:txBody>
                  <a:tcPr marT="91425" marB="91425" marR="91425" marL="91425"/>
                </a:tc>
                <a:tc>
                  <a:txBody>
                    <a:bodyPr/>
                    <a:lstStyle/>
                    <a:p>
                      <a:pPr indent="0" lvl="0" marL="0" rtl="0" algn="ctr">
                        <a:lnSpc>
                          <a:spcPct val="115000"/>
                        </a:lnSpc>
                        <a:spcBef>
                          <a:spcPts val="0"/>
                        </a:spcBef>
                        <a:spcAft>
                          <a:spcPts val="0"/>
                        </a:spcAft>
                        <a:buNone/>
                      </a:pPr>
                      <a:r>
                        <a:rPr b="1" lang="zh-CN" sz="1300"/>
                        <a:t>Ticker</a:t>
                      </a:r>
                      <a:endParaRPr b="1" sz="1300"/>
                    </a:p>
                  </a:txBody>
                  <a:tcPr marT="91425" marB="91425" marR="91425" marL="91425"/>
                </a:tc>
                <a:tc>
                  <a:txBody>
                    <a:bodyPr/>
                    <a:lstStyle/>
                    <a:p>
                      <a:pPr indent="0" lvl="0" marL="0" rtl="0" algn="ctr">
                        <a:lnSpc>
                          <a:spcPct val="115000"/>
                        </a:lnSpc>
                        <a:spcBef>
                          <a:spcPts val="0"/>
                        </a:spcBef>
                        <a:spcAft>
                          <a:spcPts val="0"/>
                        </a:spcAft>
                        <a:buNone/>
                      </a:pPr>
                      <a:r>
                        <a:rPr b="1" lang="zh-CN" sz="1300"/>
                        <a:t>Direction</a:t>
                      </a:r>
                      <a:endParaRPr b="1" sz="1300"/>
                    </a:p>
                  </a:txBody>
                  <a:tcPr marT="91425" marB="91425" marR="91425" marL="91425"/>
                </a:tc>
                <a:tc>
                  <a:txBody>
                    <a:bodyPr/>
                    <a:lstStyle/>
                    <a:p>
                      <a:pPr indent="0" lvl="0" marL="0" rtl="0" algn="ctr">
                        <a:lnSpc>
                          <a:spcPct val="115000"/>
                        </a:lnSpc>
                        <a:spcBef>
                          <a:spcPts val="0"/>
                        </a:spcBef>
                        <a:spcAft>
                          <a:spcPts val="0"/>
                        </a:spcAft>
                        <a:buNone/>
                      </a:pPr>
                      <a:r>
                        <a:rPr b="1" lang="zh-CN" sz="1300"/>
                        <a:t>Forecast Range</a:t>
                      </a:r>
                      <a:endParaRPr b="1" sz="1300"/>
                    </a:p>
                  </a:txBody>
                  <a:tcPr marT="91425" marB="91425" marR="91425" marL="91425"/>
                </a:tc>
                <a:tc>
                  <a:txBody>
                    <a:bodyPr/>
                    <a:lstStyle/>
                    <a:p>
                      <a:pPr indent="0" lvl="0" marL="0" rtl="0" algn="ctr">
                        <a:lnSpc>
                          <a:spcPct val="115000"/>
                        </a:lnSpc>
                        <a:spcBef>
                          <a:spcPts val="0"/>
                        </a:spcBef>
                        <a:spcAft>
                          <a:spcPts val="0"/>
                        </a:spcAft>
                        <a:buNone/>
                      </a:pPr>
                      <a:r>
                        <a:rPr b="1" lang="zh-CN" sz="1300"/>
                        <a:t>Confidence</a:t>
                      </a:r>
                      <a:endParaRPr b="1" sz="1300"/>
                    </a:p>
                  </a:txBody>
                  <a:tcPr marT="91425" marB="91425" marR="91425" marL="91425"/>
                </a:tc>
              </a:tr>
              <a:tr h="322575">
                <a:tc>
                  <a:txBody>
                    <a:bodyPr/>
                    <a:lstStyle/>
                    <a:p>
                      <a:pPr indent="0" lvl="0" marL="0" rtl="0" algn="l">
                        <a:spcBef>
                          <a:spcPts val="0"/>
                        </a:spcBef>
                        <a:spcAft>
                          <a:spcPts val="0"/>
                        </a:spcAft>
                        <a:buNone/>
                      </a:pPr>
                      <a:r>
                        <a:rPr lang="zh-CN" sz="900"/>
                        <a:t>Technology</a:t>
                      </a:r>
                      <a:endParaRPr sz="900"/>
                    </a:p>
                  </a:txBody>
                  <a:tcPr marT="91425" marB="91425" marR="91425" marL="91425"/>
                </a:tc>
                <a:tc>
                  <a:txBody>
                    <a:bodyPr/>
                    <a:lstStyle/>
                    <a:p>
                      <a:pPr indent="0" lvl="0" marL="0" rtl="0" algn="l">
                        <a:spcBef>
                          <a:spcPts val="0"/>
                        </a:spcBef>
                        <a:spcAft>
                          <a:spcPts val="0"/>
                        </a:spcAft>
                        <a:buNone/>
                      </a:pPr>
                      <a:r>
                        <a:rPr lang="zh-CN" sz="900"/>
                        <a:t>XLK</a:t>
                      </a:r>
                      <a:endParaRPr sz="900"/>
                    </a:p>
                  </a:txBody>
                  <a:tcPr marT="91425" marB="91425" marR="91425" marL="91425"/>
                </a:tc>
                <a:tc>
                  <a:txBody>
                    <a:bodyPr/>
                    <a:lstStyle/>
                    <a:p>
                      <a:pPr indent="0" lvl="0" marL="0" rtl="0" algn="l">
                        <a:spcBef>
                          <a:spcPts val="0"/>
                        </a:spcBef>
                        <a:spcAft>
                          <a:spcPts val="0"/>
                        </a:spcAft>
                        <a:buNone/>
                      </a:pPr>
                      <a:r>
                        <a:rPr lang="zh-CN" sz="900"/>
                        <a:t>Up</a:t>
                      </a:r>
                      <a:endParaRPr sz="900"/>
                    </a:p>
                  </a:txBody>
                  <a:tcPr marT="91425" marB="91425" marR="91425" marL="91425"/>
                </a:tc>
                <a:tc>
                  <a:txBody>
                    <a:bodyPr/>
                    <a:lstStyle/>
                    <a:p>
                      <a:pPr indent="0" lvl="0" marL="0" rtl="0" algn="l">
                        <a:spcBef>
                          <a:spcPts val="0"/>
                        </a:spcBef>
                        <a:spcAft>
                          <a:spcPts val="0"/>
                        </a:spcAft>
                        <a:buNone/>
                      </a:pPr>
                      <a:r>
                        <a:rPr lang="zh-CN" sz="900"/>
                        <a:t>+0.5% to +1.8%</a:t>
                      </a:r>
                      <a:endParaRPr sz="900"/>
                    </a:p>
                  </a:txBody>
                  <a:tcPr marT="91425" marB="91425" marR="91425" marL="91425"/>
                </a:tc>
                <a:tc>
                  <a:txBody>
                    <a:bodyPr/>
                    <a:lstStyle/>
                    <a:p>
                      <a:pPr indent="0" lvl="0" marL="0" rtl="0" algn="l">
                        <a:spcBef>
                          <a:spcPts val="0"/>
                        </a:spcBef>
                        <a:spcAft>
                          <a:spcPts val="0"/>
                        </a:spcAft>
                        <a:buNone/>
                      </a:pPr>
                      <a:r>
                        <a:rPr lang="zh-CN" sz="900"/>
                        <a:t>Medium-High</a:t>
                      </a:r>
                      <a:endParaRPr sz="900"/>
                    </a:p>
                  </a:txBody>
                  <a:tcPr marT="91425" marB="91425" marR="91425" marL="91425"/>
                </a:tc>
              </a:tr>
              <a:tr h="322575">
                <a:tc>
                  <a:txBody>
                    <a:bodyPr/>
                    <a:lstStyle/>
                    <a:p>
                      <a:pPr indent="0" lvl="0" marL="0" rtl="0" algn="l">
                        <a:spcBef>
                          <a:spcPts val="0"/>
                        </a:spcBef>
                        <a:spcAft>
                          <a:spcPts val="0"/>
                        </a:spcAft>
                        <a:buNone/>
                      </a:pPr>
                      <a:r>
                        <a:rPr lang="zh-CN" sz="900"/>
                        <a:t>Communication Services</a:t>
                      </a:r>
                      <a:endParaRPr sz="900"/>
                    </a:p>
                  </a:txBody>
                  <a:tcPr marT="91425" marB="91425" marR="91425" marL="91425"/>
                </a:tc>
                <a:tc>
                  <a:txBody>
                    <a:bodyPr/>
                    <a:lstStyle/>
                    <a:p>
                      <a:pPr indent="0" lvl="0" marL="0" rtl="0" algn="l">
                        <a:spcBef>
                          <a:spcPts val="0"/>
                        </a:spcBef>
                        <a:spcAft>
                          <a:spcPts val="0"/>
                        </a:spcAft>
                        <a:buNone/>
                      </a:pPr>
                      <a:r>
                        <a:rPr lang="zh-CN" sz="900"/>
                        <a:t>XLC</a:t>
                      </a:r>
                      <a:endParaRPr sz="900"/>
                    </a:p>
                  </a:txBody>
                  <a:tcPr marT="91425" marB="91425" marR="91425" marL="91425"/>
                </a:tc>
                <a:tc>
                  <a:txBody>
                    <a:bodyPr/>
                    <a:lstStyle/>
                    <a:p>
                      <a:pPr indent="0" lvl="0" marL="0" rtl="0" algn="l">
                        <a:spcBef>
                          <a:spcPts val="0"/>
                        </a:spcBef>
                        <a:spcAft>
                          <a:spcPts val="0"/>
                        </a:spcAft>
                        <a:buNone/>
                      </a:pPr>
                      <a:r>
                        <a:rPr lang="zh-CN" sz="900"/>
                        <a:t>Up</a:t>
                      </a:r>
                      <a:endParaRPr sz="900"/>
                    </a:p>
                  </a:txBody>
                  <a:tcPr marT="91425" marB="91425" marR="91425" marL="91425"/>
                </a:tc>
                <a:tc>
                  <a:txBody>
                    <a:bodyPr/>
                    <a:lstStyle/>
                    <a:p>
                      <a:pPr indent="0" lvl="0" marL="0" rtl="0" algn="l">
                        <a:spcBef>
                          <a:spcPts val="0"/>
                        </a:spcBef>
                        <a:spcAft>
                          <a:spcPts val="0"/>
                        </a:spcAft>
                        <a:buNone/>
                      </a:pPr>
                      <a:r>
                        <a:rPr lang="zh-CN" sz="900"/>
                        <a:t>+0.3% to +1.5%</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r h="322575">
                <a:tc>
                  <a:txBody>
                    <a:bodyPr/>
                    <a:lstStyle/>
                    <a:p>
                      <a:pPr indent="0" lvl="0" marL="0" rtl="0" algn="l">
                        <a:spcBef>
                          <a:spcPts val="0"/>
                        </a:spcBef>
                        <a:spcAft>
                          <a:spcPts val="0"/>
                        </a:spcAft>
                        <a:buNone/>
                      </a:pPr>
                      <a:r>
                        <a:rPr lang="zh-CN" sz="900"/>
                        <a:t>Consumer Discretionary</a:t>
                      </a:r>
                      <a:endParaRPr sz="900"/>
                    </a:p>
                  </a:txBody>
                  <a:tcPr marT="91425" marB="91425" marR="91425" marL="91425"/>
                </a:tc>
                <a:tc>
                  <a:txBody>
                    <a:bodyPr/>
                    <a:lstStyle/>
                    <a:p>
                      <a:pPr indent="0" lvl="0" marL="0" rtl="0" algn="l">
                        <a:spcBef>
                          <a:spcPts val="0"/>
                        </a:spcBef>
                        <a:spcAft>
                          <a:spcPts val="0"/>
                        </a:spcAft>
                        <a:buNone/>
                      </a:pPr>
                      <a:r>
                        <a:rPr lang="zh-CN" sz="900"/>
                        <a:t>XLY</a:t>
                      </a:r>
                      <a:endParaRPr sz="900"/>
                    </a:p>
                  </a:txBody>
                  <a:tcPr marT="91425" marB="91425" marR="91425" marL="91425"/>
                </a:tc>
                <a:tc>
                  <a:txBody>
                    <a:bodyPr/>
                    <a:lstStyle/>
                    <a:p>
                      <a:pPr indent="0" lvl="0" marL="0" rtl="0" algn="l">
                        <a:spcBef>
                          <a:spcPts val="0"/>
                        </a:spcBef>
                        <a:spcAft>
                          <a:spcPts val="0"/>
                        </a:spcAft>
                        <a:buNone/>
                      </a:pPr>
                      <a:r>
                        <a:rPr lang="zh-CN" sz="900"/>
                        <a:t>Neutral</a:t>
                      </a:r>
                      <a:endParaRPr sz="900"/>
                    </a:p>
                  </a:txBody>
                  <a:tcPr marT="91425" marB="91425" marR="91425" marL="91425"/>
                </a:tc>
                <a:tc>
                  <a:txBody>
                    <a:bodyPr/>
                    <a:lstStyle/>
                    <a:p>
                      <a:pPr indent="0" lvl="0" marL="0" rtl="0" algn="l">
                        <a:spcBef>
                          <a:spcPts val="0"/>
                        </a:spcBef>
                        <a:spcAft>
                          <a:spcPts val="0"/>
                        </a:spcAft>
                        <a:buNone/>
                      </a:pPr>
                      <a:r>
                        <a:rPr lang="zh-CN" sz="900"/>
                        <a:t>-0.5% to +0.8%</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r h="322575">
                <a:tc>
                  <a:txBody>
                    <a:bodyPr/>
                    <a:lstStyle/>
                    <a:p>
                      <a:pPr indent="0" lvl="0" marL="0" rtl="0" algn="l">
                        <a:spcBef>
                          <a:spcPts val="0"/>
                        </a:spcBef>
                        <a:spcAft>
                          <a:spcPts val="0"/>
                        </a:spcAft>
                        <a:buNone/>
                      </a:pPr>
                      <a:r>
                        <a:rPr lang="zh-CN" sz="900"/>
                        <a:t>Financials</a:t>
                      </a:r>
                      <a:endParaRPr sz="900"/>
                    </a:p>
                  </a:txBody>
                  <a:tcPr marT="91425" marB="91425" marR="91425" marL="91425"/>
                </a:tc>
                <a:tc>
                  <a:txBody>
                    <a:bodyPr/>
                    <a:lstStyle/>
                    <a:p>
                      <a:pPr indent="0" lvl="0" marL="0" rtl="0" algn="l">
                        <a:spcBef>
                          <a:spcPts val="0"/>
                        </a:spcBef>
                        <a:spcAft>
                          <a:spcPts val="0"/>
                        </a:spcAft>
                        <a:buNone/>
                      </a:pPr>
                      <a:r>
                        <a:rPr lang="zh-CN" sz="900"/>
                        <a:t>XLF</a:t>
                      </a:r>
                      <a:endParaRPr sz="900"/>
                    </a:p>
                  </a:txBody>
                  <a:tcPr marT="91425" marB="91425" marR="91425" marL="91425"/>
                </a:tc>
                <a:tc>
                  <a:txBody>
                    <a:bodyPr/>
                    <a:lstStyle/>
                    <a:p>
                      <a:pPr indent="0" lvl="0" marL="0" rtl="0" algn="l">
                        <a:spcBef>
                          <a:spcPts val="0"/>
                        </a:spcBef>
                        <a:spcAft>
                          <a:spcPts val="0"/>
                        </a:spcAft>
                        <a:buNone/>
                      </a:pPr>
                      <a:r>
                        <a:rPr lang="zh-CN" sz="900"/>
                        <a:t>Neutral → Up</a:t>
                      </a:r>
                      <a:endParaRPr sz="900"/>
                    </a:p>
                  </a:txBody>
                  <a:tcPr marT="91425" marB="91425" marR="91425" marL="91425"/>
                </a:tc>
                <a:tc>
                  <a:txBody>
                    <a:bodyPr/>
                    <a:lstStyle/>
                    <a:p>
                      <a:pPr indent="0" lvl="0" marL="0" rtl="0" algn="l">
                        <a:spcBef>
                          <a:spcPts val="0"/>
                        </a:spcBef>
                        <a:spcAft>
                          <a:spcPts val="0"/>
                        </a:spcAft>
                        <a:buNone/>
                      </a:pPr>
                      <a:r>
                        <a:rPr lang="zh-CN" sz="900"/>
                        <a:t>-0.4% to +0.8%</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r h="322575">
                <a:tc>
                  <a:txBody>
                    <a:bodyPr/>
                    <a:lstStyle/>
                    <a:p>
                      <a:pPr indent="0" lvl="0" marL="0" rtl="0" algn="l">
                        <a:spcBef>
                          <a:spcPts val="0"/>
                        </a:spcBef>
                        <a:spcAft>
                          <a:spcPts val="0"/>
                        </a:spcAft>
                        <a:buNone/>
                      </a:pPr>
                      <a:r>
                        <a:rPr lang="zh-CN" sz="900"/>
                        <a:t>Health Care</a:t>
                      </a:r>
                      <a:endParaRPr sz="900"/>
                    </a:p>
                  </a:txBody>
                  <a:tcPr marT="91425" marB="91425" marR="91425" marL="91425"/>
                </a:tc>
                <a:tc>
                  <a:txBody>
                    <a:bodyPr/>
                    <a:lstStyle/>
                    <a:p>
                      <a:pPr indent="0" lvl="0" marL="0" rtl="0" algn="l">
                        <a:spcBef>
                          <a:spcPts val="0"/>
                        </a:spcBef>
                        <a:spcAft>
                          <a:spcPts val="0"/>
                        </a:spcAft>
                        <a:buNone/>
                      </a:pPr>
                      <a:r>
                        <a:rPr lang="zh-CN" sz="900"/>
                        <a:t>XLV</a:t>
                      </a:r>
                      <a:endParaRPr sz="900"/>
                    </a:p>
                  </a:txBody>
                  <a:tcPr marT="91425" marB="91425" marR="91425" marL="91425"/>
                </a:tc>
                <a:tc>
                  <a:txBody>
                    <a:bodyPr/>
                    <a:lstStyle/>
                    <a:p>
                      <a:pPr indent="0" lvl="0" marL="0" rtl="0" algn="l">
                        <a:spcBef>
                          <a:spcPts val="0"/>
                        </a:spcBef>
                        <a:spcAft>
                          <a:spcPts val="0"/>
                        </a:spcAft>
                        <a:buNone/>
                      </a:pPr>
                      <a:r>
                        <a:rPr lang="zh-CN" sz="900"/>
                        <a:t>Down</a:t>
                      </a:r>
                      <a:endParaRPr sz="900"/>
                    </a:p>
                  </a:txBody>
                  <a:tcPr marT="91425" marB="91425" marR="91425" marL="91425"/>
                </a:tc>
                <a:tc>
                  <a:txBody>
                    <a:bodyPr/>
                    <a:lstStyle/>
                    <a:p>
                      <a:pPr indent="0" lvl="0" marL="0" rtl="0" algn="l">
                        <a:spcBef>
                          <a:spcPts val="0"/>
                        </a:spcBef>
                        <a:spcAft>
                          <a:spcPts val="0"/>
                        </a:spcAft>
                        <a:buNone/>
                      </a:pPr>
                      <a:r>
                        <a:rPr lang="zh-CN" sz="900"/>
                        <a:t>-1.2% to +0.2%</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r h="322575">
                <a:tc>
                  <a:txBody>
                    <a:bodyPr/>
                    <a:lstStyle/>
                    <a:p>
                      <a:pPr indent="0" lvl="0" marL="0" rtl="0" algn="l">
                        <a:spcBef>
                          <a:spcPts val="0"/>
                        </a:spcBef>
                        <a:spcAft>
                          <a:spcPts val="0"/>
                        </a:spcAft>
                        <a:buNone/>
                      </a:pPr>
                      <a:r>
                        <a:rPr lang="zh-CN" sz="900"/>
                        <a:t>Consumer Staples</a:t>
                      </a:r>
                      <a:endParaRPr sz="900"/>
                    </a:p>
                  </a:txBody>
                  <a:tcPr marT="91425" marB="91425" marR="91425" marL="91425"/>
                </a:tc>
                <a:tc>
                  <a:txBody>
                    <a:bodyPr/>
                    <a:lstStyle/>
                    <a:p>
                      <a:pPr indent="0" lvl="0" marL="0" rtl="0" algn="l">
                        <a:spcBef>
                          <a:spcPts val="0"/>
                        </a:spcBef>
                        <a:spcAft>
                          <a:spcPts val="0"/>
                        </a:spcAft>
                        <a:buNone/>
                      </a:pPr>
                      <a:r>
                        <a:rPr lang="zh-CN" sz="900"/>
                        <a:t>XLP</a:t>
                      </a:r>
                      <a:endParaRPr sz="900"/>
                    </a:p>
                  </a:txBody>
                  <a:tcPr marT="91425" marB="91425" marR="91425" marL="91425"/>
                </a:tc>
                <a:tc>
                  <a:txBody>
                    <a:bodyPr/>
                    <a:lstStyle/>
                    <a:p>
                      <a:pPr indent="0" lvl="0" marL="0" rtl="0" algn="l">
                        <a:spcBef>
                          <a:spcPts val="0"/>
                        </a:spcBef>
                        <a:spcAft>
                          <a:spcPts val="0"/>
                        </a:spcAft>
                        <a:buNone/>
                      </a:pPr>
                      <a:r>
                        <a:rPr lang="zh-CN" sz="900"/>
                        <a:t>Neutral → Down</a:t>
                      </a:r>
                      <a:endParaRPr sz="900"/>
                    </a:p>
                  </a:txBody>
                  <a:tcPr marT="91425" marB="91425" marR="91425" marL="91425"/>
                </a:tc>
                <a:tc>
                  <a:txBody>
                    <a:bodyPr/>
                    <a:lstStyle/>
                    <a:p>
                      <a:pPr indent="0" lvl="0" marL="0" rtl="0" algn="l">
                        <a:spcBef>
                          <a:spcPts val="0"/>
                        </a:spcBef>
                        <a:spcAft>
                          <a:spcPts val="0"/>
                        </a:spcAft>
                        <a:buNone/>
                      </a:pPr>
                      <a:r>
                        <a:rPr lang="zh-CN" sz="900"/>
                        <a:t>-0.8% to +0.4%</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r h="322575">
                <a:tc>
                  <a:txBody>
                    <a:bodyPr/>
                    <a:lstStyle/>
                    <a:p>
                      <a:pPr indent="0" lvl="0" marL="0" rtl="0" algn="l">
                        <a:spcBef>
                          <a:spcPts val="0"/>
                        </a:spcBef>
                        <a:spcAft>
                          <a:spcPts val="0"/>
                        </a:spcAft>
                        <a:buNone/>
                      </a:pPr>
                      <a:r>
                        <a:rPr lang="zh-CN" sz="900"/>
                        <a:t>Energy</a:t>
                      </a:r>
                      <a:endParaRPr sz="900"/>
                    </a:p>
                  </a:txBody>
                  <a:tcPr marT="91425" marB="91425" marR="91425" marL="91425"/>
                </a:tc>
                <a:tc>
                  <a:txBody>
                    <a:bodyPr/>
                    <a:lstStyle/>
                    <a:p>
                      <a:pPr indent="0" lvl="0" marL="0" rtl="0" algn="l">
                        <a:spcBef>
                          <a:spcPts val="0"/>
                        </a:spcBef>
                        <a:spcAft>
                          <a:spcPts val="0"/>
                        </a:spcAft>
                        <a:buNone/>
                      </a:pPr>
                      <a:r>
                        <a:rPr lang="zh-CN" sz="900"/>
                        <a:t>XLE</a:t>
                      </a:r>
                      <a:endParaRPr sz="900"/>
                    </a:p>
                  </a:txBody>
                  <a:tcPr marT="91425" marB="91425" marR="91425" marL="91425"/>
                </a:tc>
                <a:tc>
                  <a:txBody>
                    <a:bodyPr/>
                    <a:lstStyle/>
                    <a:p>
                      <a:pPr indent="0" lvl="0" marL="0" rtl="0" algn="l">
                        <a:spcBef>
                          <a:spcPts val="0"/>
                        </a:spcBef>
                        <a:spcAft>
                          <a:spcPts val="0"/>
                        </a:spcAft>
                        <a:buNone/>
                      </a:pPr>
                      <a:r>
                        <a:rPr lang="zh-CN" sz="900"/>
                        <a:t>Neutral → Up</a:t>
                      </a:r>
                      <a:endParaRPr sz="900"/>
                    </a:p>
                  </a:txBody>
                  <a:tcPr marT="91425" marB="91425" marR="91425" marL="91425"/>
                </a:tc>
                <a:tc>
                  <a:txBody>
                    <a:bodyPr/>
                    <a:lstStyle/>
                    <a:p>
                      <a:pPr indent="0" lvl="0" marL="0" rtl="0" algn="l">
                        <a:spcBef>
                          <a:spcPts val="0"/>
                        </a:spcBef>
                        <a:spcAft>
                          <a:spcPts val="0"/>
                        </a:spcAft>
                        <a:buNone/>
                      </a:pPr>
                      <a:r>
                        <a:rPr lang="zh-CN" sz="900"/>
                        <a:t>-0.5% to +1.8%</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r h="322575">
                <a:tc>
                  <a:txBody>
                    <a:bodyPr/>
                    <a:lstStyle/>
                    <a:p>
                      <a:pPr indent="0" lvl="0" marL="0" rtl="0" algn="l">
                        <a:spcBef>
                          <a:spcPts val="0"/>
                        </a:spcBef>
                        <a:spcAft>
                          <a:spcPts val="0"/>
                        </a:spcAft>
                        <a:buNone/>
                      </a:pPr>
                      <a:r>
                        <a:rPr lang="zh-CN" sz="900"/>
                        <a:t>Utilities</a:t>
                      </a:r>
                      <a:endParaRPr sz="900"/>
                    </a:p>
                  </a:txBody>
                  <a:tcPr marT="91425" marB="91425" marR="91425" marL="91425"/>
                </a:tc>
                <a:tc>
                  <a:txBody>
                    <a:bodyPr/>
                    <a:lstStyle/>
                    <a:p>
                      <a:pPr indent="0" lvl="0" marL="0" rtl="0" algn="l">
                        <a:spcBef>
                          <a:spcPts val="0"/>
                        </a:spcBef>
                        <a:spcAft>
                          <a:spcPts val="0"/>
                        </a:spcAft>
                        <a:buNone/>
                      </a:pPr>
                      <a:r>
                        <a:rPr lang="zh-CN" sz="900"/>
                        <a:t>XLU</a:t>
                      </a:r>
                      <a:endParaRPr sz="900"/>
                    </a:p>
                  </a:txBody>
                  <a:tcPr marT="91425" marB="91425" marR="91425" marL="91425"/>
                </a:tc>
                <a:tc>
                  <a:txBody>
                    <a:bodyPr/>
                    <a:lstStyle/>
                    <a:p>
                      <a:pPr indent="0" lvl="0" marL="0" rtl="0" algn="l">
                        <a:spcBef>
                          <a:spcPts val="0"/>
                        </a:spcBef>
                        <a:spcAft>
                          <a:spcPts val="0"/>
                        </a:spcAft>
                        <a:buNone/>
                      </a:pPr>
                      <a:r>
                        <a:rPr lang="zh-CN" sz="900"/>
                        <a:t>Neutral</a:t>
                      </a:r>
                      <a:endParaRPr sz="900"/>
                    </a:p>
                  </a:txBody>
                  <a:tcPr marT="91425" marB="91425" marR="91425" marL="91425"/>
                </a:tc>
                <a:tc>
                  <a:txBody>
                    <a:bodyPr/>
                    <a:lstStyle/>
                    <a:p>
                      <a:pPr indent="0" lvl="0" marL="0" rtl="0" algn="l">
                        <a:spcBef>
                          <a:spcPts val="0"/>
                        </a:spcBef>
                        <a:spcAft>
                          <a:spcPts val="0"/>
                        </a:spcAft>
                        <a:buNone/>
                      </a:pPr>
                      <a:r>
                        <a:rPr lang="zh-CN" sz="900"/>
                        <a:t>-0.6% to +0.6%</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r h="322575">
                <a:tc>
                  <a:txBody>
                    <a:bodyPr/>
                    <a:lstStyle/>
                    <a:p>
                      <a:pPr indent="0" lvl="0" marL="0" rtl="0" algn="l">
                        <a:spcBef>
                          <a:spcPts val="0"/>
                        </a:spcBef>
                        <a:spcAft>
                          <a:spcPts val="0"/>
                        </a:spcAft>
                        <a:buNone/>
                      </a:pPr>
                      <a:r>
                        <a:rPr lang="zh-CN" sz="900"/>
                        <a:t>Industrials</a:t>
                      </a:r>
                      <a:endParaRPr sz="900"/>
                    </a:p>
                  </a:txBody>
                  <a:tcPr marT="91425" marB="91425" marR="91425" marL="91425"/>
                </a:tc>
                <a:tc>
                  <a:txBody>
                    <a:bodyPr/>
                    <a:lstStyle/>
                    <a:p>
                      <a:pPr indent="0" lvl="0" marL="0" rtl="0" algn="l">
                        <a:spcBef>
                          <a:spcPts val="0"/>
                        </a:spcBef>
                        <a:spcAft>
                          <a:spcPts val="0"/>
                        </a:spcAft>
                        <a:buNone/>
                      </a:pPr>
                      <a:r>
                        <a:rPr lang="zh-CN" sz="900"/>
                        <a:t>XLI</a:t>
                      </a:r>
                      <a:endParaRPr sz="900"/>
                    </a:p>
                  </a:txBody>
                  <a:tcPr marT="91425" marB="91425" marR="91425" marL="91425"/>
                </a:tc>
                <a:tc>
                  <a:txBody>
                    <a:bodyPr/>
                    <a:lstStyle/>
                    <a:p>
                      <a:pPr indent="0" lvl="0" marL="0" rtl="0" algn="l">
                        <a:spcBef>
                          <a:spcPts val="0"/>
                        </a:spcBef>
                        <a:spcAft>
                          <a:spcPts val="0"/>
                        </a:spcAft>
                        <a:buNone/>
                      </a:pPr>
                      <a:r>
                        <a:rPr lang="zh-CN" sz="900"/>
                        <a:t>Down</a:t>
                      </a:r>
                      <a:endParaRPr sz="900"/>
                    </a:p>
                  </a:txBody>
                  <a:tcPr marT="91425" marB="91425" marR="91425" marL="91425"/>
                </a:tc>
                <a:tc>
                  <a:txBody>
                    <a:bodyPr/>
                    <a:lstStyle/>
                    <a:p>
                      <a:pPr indent="0" lvl="0" marL="0" rtl="0" algn="l">
                        <a:spcBef>
                          <a:spcPts val="0"/>
                        </a:spcBef>
                        <a:spcAft>
                          <a:spcPts val="0"/>
                        </a:spcAft>
                        <a:buNone/>
                      </a:pPr>
                      <a:r>
                        <a:rPr lang="zh-CN" sz="900"/>
                        <a:t>-1.0% to +0.3%</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r h="322575">
                <a:tc>
                  <a:txBody>
                    <a:bodyPr/>
                    <a:lstStyle/>
                    <a:p>
                      <a:pPr indent="0" lvl="0" marL="0" rtl="0" algn="l">
                        <a:spcBef>
                          <a:spcPts val="0"/>
                        </a:spcBef>
                        <a:spcAft>
                          <a:spcPts val="0"/>
                        </a:spcAft>
                        <a:buNone/>
                      </a:pPr>
                      <a:r>
                        <a:rPr lang="zh-CN" sz="900"/>
                        <a:t>Materials</a:t>
                      </a:r>
                      <a:endParaRPr sz="900"/>
                    </a:p>
                  </a:txBody>
                  <a:tcPr marT="91425" marB="91425" marR="91425" marL="91425"/>
                </a:tc>
                <a:tc>
                  <a:txBody>
                    <a:bodyPr/>
                    <a:lstStyle/>
                    <a:p>
                      <a:pPr indent="0" lvl="0" marL="0" rtl="0" algn="l">
                        <a:spcBef>
                          <a:spcPts val="0"/>
                        </a:spcBef>
                        <a:spcAft>
                          <a:spcPts val="0"/>
                        </a:spcAft>
                        <a:buNone/>
                      </a:pPr>
                      <a:r>
                        <a:rPr lang="zh-CN" sz="900"/>
                        <a:t>XLB</a:t>
                      </a:r>
                      <a:endParaRPr sz="900"/>
                    </a:p>
                  </a:txBody>
                  <a:tcPr marT="91425" marB="91425" marR="91425" marL="91425"/>
                </a:tc>
                <a:tc>
                  <a:txBody>
                    <a:bodyPr/>
                    <a:lstStyle/>
                    <a:p>
                      <a:pPr indent="0" lvl="0" marL="0" rtl="0" algn="l">
                        <a:spcBef>
                          <a:spcPts val="0"/>
                        </a:spcBef>
                        <a:spcAft>
                          <a:spcPts val="0"/>
                        </a:spcAft>
                        <a:buNone/>
                      </a:pPr>
                      <a:r>
                        <a:rPr lang="zh-CN" sz="900"/>
                        <a:t>Down</a:t>
                      </a:r>
                      <a:endParaRPr sz="900"/>
                    </a:p>
                  </a:txBody>
                  <a:tcPr marT="91425" marB="91425" marR="91425" marL="91425"/>
                </a:tc>
                <a:tc>
                  <a:txBody>
                    <a:bodyPr/>
                    <a:lstStyle/>
                    <a:p>
                      <a:pPr indent="0" lvl="0" marL="0" rtl="0" algn="l">
                        <a:spcBef>
                          <a:spcPts val="0"/>
                        </a:spcBef>
                        <a:spcAft>
                          <a:spcPts val="0"/>
                        </a:spcAft>
                        <a:buNone/>
                      </a:pPr>
                      <a:r>
                        <a:rPr lang="zh-CN" sz="900"/>
                        <a:t>-1.3% to +0.2%</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r h="322575">
                <a:tc>
                  <a:txBody>
                    <a:bodyPr/>
                    <a:lstStyle/>
                    <a:p>
                      <a:pPr indent="0" lvl="0" marL="0" rtl="0" algn="l">
                        <a:spcBef>
                          <a:spcPts val="0"/>
                        </a:spcBef>
                        <a:spcAft>
                          <a:spcPts val="0"/>
                        </a:spcAft>
                        <a:buNone/>
                      </a:pPr>
                      <a:r>
                        <a:rPr lang="zh-CN" sz="900"/>
                        <a:t>Real Estate</a:t>
                      </a:r>
                      <a:endParaRPr sz="900"/>
                    </a:p>
                  </a:txBody>
                  <a:tcPr marT="91425" marB="91425" marR="91425" marL="91425"/>
                </a:tc>
                <a:tc>
                  <a:txBody>
                    <a:bodyPr/>
                    <a:lstStyle/>
                    <a:p>
                      <a:pPr indent="0" lvl="0" marL="0" rtl="0" algn="l">
                        <a:spcBef>
                          <a:spcPts val="0"/>
                        </a:spcBef>
                        <a:spcAft>
                          <a:spcPts val="0"/>
                        </a:spcAft>
                        <a:buNone/>
                      </a:pPr>
                      <a:r>
                        <a:rPr lang="zh-CN" sz="900"/>
                        <a:t>XLRE</a:t>
                      </a:r>
                      <a:endParaRPr sz="900"/>
                    </a:p>
                  </a:txBody>
                  <a:tcPr marT="91425" marB="91425" marR="91425" marL="91425"/>
                </a:tc>
                <a:tc>
                  <a:txBody>
                    <a:bodyPr/>
                    <a:lstStyle/>
                    <a:p>
                      <a:pPr indent="0" lvl="0" marL="0" rtl="0" algn="l">
                        <a:spcBef>
                          <a:spcPts val="0"/>
                        </a:spcBef>
                        <a:spcAft>
                          <a:spcPts val="0"/>
                        </a:spcAft>
                        <a:buNone/>
                      </a:pPr>
                      <a:r>
                        <a:rPr lang="zh-CN" sz="900"/>
                        <a:t>Neutral → Down</a:t>
                      </a:r>
                      <a:endParaRPr sz="900"/>
                    </a:p>
                  </a:txBody>
                  <a:tcPr marT="91425" marB="91425" marR="91425" marL="91425"/>
                </a:tc>
                <a:tc>
                  <a:txBody>
                    <a:bodyPr/>
                    <a:lstStyle/>
                    <a:p>
                      <a:pPr indent="0" lvl="0" marL="0" rtl="0" algn="l">
                        <a:spcBef>
                          <a:spcPts val="0"/>
                        </a:spcBef>
                        <a:spcAft>
                          <a:spcPts val="0"/>
                        </a:spcAft>
                        <a:buNone/>
                      </a:pPr>
                      <a:r>
                        <a:rPr lang="zh-CN" sz="900"/>
                        <a:t>-0.8% to +0.4%</a:t>
                      </a:r>
                      <a:endParaRPr sz="900"/>
                    </a:p>
                  </a:txBody>
                  <a:tcPr marT="91425" marB="91425" marR="91425" marL="91425"/>
                </a:tc>
                <a:tc>
                  <a:txBody>
                    <a:bodyPr/>
                    <a:lstStyle/>
                    <a:p>
                      <a:pPr indent="0" lvl="0" marL="0" rtl="0" algn="l">
                        <a:spcBef>
                          <a:spcPts val="0"/>
                        </a:spcBef>
                        <a:spcAft>
                          <a:spcPts val="0"/>
                        </a:spcAft>
                        <a:buNone/>
                      </a:pPr>
                      <a:r>
                        <a:rPr lang="zh-CN" sz="900"/>
                        <a:t>Medium</a:t>
                      </a:r>
                      <a:endParaRPr sz="900"/>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39" name="Shape 139"/>
        <p:cNvGrpSpPr/>
        <p:nvPr/>
      </p:nvGrpSpPr>
      <p:grpSpPr>
        <a:xfrm>
          <a:off x="0" y="0"/>
          <a:ext cx="0" cy="0"/>
          <a:chOff x="0" y="0"/>
          <a:chExt cx="0" cy="0"/>
        </a:xfrm>
      </p:grpSpPr>
      <p:sp>
        <p:nvSpPr>
          <p:cNvPr id="140" name="Google Shape;140;p17"/>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17"/>
          <p:cNvSpPr/>
          <p:nvPr/>
        </p:nvSpPr>
        <p:spPr>
          <a:xfrm>
            <a:off x="0" y="640080"/>
            <a:ext cx="9144000" cy="366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17"/>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a:t>
            </a:r>
            <a:r>
              <a:rPr b="1" lang="zh-CN" sz="1500">
                <a:solidFill>
                  <a:srgbClr val="FFFFFF"/>
                </a:solidFill>
              </a:rPr>
              <a:t>6</a:t>
            </a:r>
            <a:r>
              <a:rPr b="1" lang="zh-CN" sz="1500">
                <a:solidFill>
                  <a:srgbClr val="FFFFFF"/>
                </a:solidFill>
                <a:latin typeface="Arial"/>
                <a:ea typeface="Arial"/>
                <a:cs typeface="Arial"/>
                <a:sym typeface="Arial"/>
              </a:rPr>
              <a:t> Data Lead</a:t>
            </a:r>
            <a:endParaRPr/>
          </a:p>
        </p:txBody>
      </p:sp>
      <p:pic>
        <p:nvPicPr>
          <p:cNvPr id="143" name="Google Shape;143;p17"/>
          <p:cNvPicPr preferRelativeResize="0"/>
          <p:nvPr/>
        </p:nvPicPr>
        <p:blipFill>
          <a:blip r:embed="rId3">
            <a:alphaModFix/>
          </a:blip>
          <a:stretch>
            <a:fillRect/>
          </a:stretch>
        </p:blipFill>
        <p:spPr>
          <a:xfrm>
            <a:off x="0" y="-1"/>
            <a:ext cx="9144001" cy="514623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47" name="Shape 147"/>
        <p:cNvGrpSpPr/>
        <p:nvPr/>
      </p:nvGrpSpPr>
      <p:grpSpPr>
        <a:xfrm>
          <a:off x="0" y="0"/>
          <a:ext cx="0" cy="0"/>
          <a:chOff x="0" y="0"/>
          <a:chExt cx="0" cy="0"/>
        </a:xfrm>
      </p:grpSpPr>
      <p:sp>
        <p:nvSpPr>
          <p:cNvPr id="148" name="Google Shape;148;p1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18"/>
          <p:cNvSpPr/>
          <p:nvPr/>
        </p:nvSpPr>
        <p:spPr>
          <a:xfrm>
            <a:off x="0" y="640080"/>
            <a:ext cx="9144000" cy="36600"/>
          </a:xfrm>
          <a:prstGeom prst="rect">
            <a:avLst/>
          </a:prstGeom>
          <a:solidFill>
            <a:srgbClr val="F2B8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18"/>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R3 Almanac Lead</a:t>
            </a:r>
            <a:endParaRPr/>
          </a:p>
        </p:txBody>
      </p:sp>
      <p:sp>
        <p:nvSpPr>
          <p:cNvPr id="151" name="Google Shape;151;p18"/>
          <p:cNvSpPr/>
          <p:nvPr/>
        </p:nvSpPr>
        <p:spPr>
          <a:xfrm>
            <a:off x="618275" y="1052138"/>
            <a:ext cx="3520500" cy="1314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18"/>
          <p:cNvSpPr txBox="1"/>
          <p:nvPr/>
        </p:nvSpPr>
        <p:spPr>
          <a:xfrm>
            <a:off x="754375" y="747476"/>
            <a:ext cx="3291900" cy="3156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zh-CN" sz="1450">
                <a:solidFill>
                  <a:schemeClr val="dk1"/>
                </a:solidFill>
              </a:rPr>
              <a:t>Dynamic Thesis</a:t>
            </a:r>
            <a:endParaRPr b="1">
              <a:solidFill>
                <a:schemeClr val="dk1"/>
              </a:solidFill>
            </a:endParaRPr>
          </a:p>
        </p:txBody>
      </p:sp>
      <p:sp>
        <p:nvSpPr>
          <p:cNvPr id="153" name="Google Shape;153;p18"/>
          <p:cNvSpPr txBox="1"/>
          <p:nvPr/>
        </p:nvSpPr>
        <p:spPr>
          <a:xfrm>
            <a:off x="732575" y="1201538"/>
            <a:ext cx="3291900" cy="101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1200">
                <a:solidFill>
                  <a:schemeClr val="dk1"/>
                </a:solidFill>
              </a:rPr>
              <a:t>Strategic seasonal evaluation for </a:t>
            </a:r>
            <a:r>
              <a:rPr b="1" lang="zh-CN" sz="1200">
                <a:solidFill>
                  <a:schemeClr val="dk1"/>
                </a:solidFill>
              </a:rPr>
              <a:t>W28</a:t>
            </a:r>
            <a:r>
              <a:rPr lang="zh-CN" sz="1200">
                <a:solidFill>
                  <a:schemeClr val="dk1"/>
                </a:solidFill>
              </a:rPr>
              <a:t> aligns with historical July parameters. Focus deployment vectors toward Tech proxies (XLK) while mitigating exposures in traditionally stagnant Midterm vectors.</a:t>
            </a:r>
            <a:endParaRPr sz="1600">
              <a:solidFill>
                <a:schemeClr val="dk1"/>
              </a:solidFill>
            </a:endParaRPr>
          </a:p>
        </p:txBody>
      </p:sp>
      <p:sp>
        <p:nvSpPr>
          <p:cNvPr id="154" name="Google Shape;154;p18"/>
          <p:cNvSpPr/>
          <p:nvPr/>
        </p:nvSpPr>
        <p:spPr>
          <a:xfrm>
            <a:off x="4588750" y="1399075"/>
            <a:ext cx="2094900" cy="1443900"/>
          </a:xfrm>
          <a:prstGeom prst="roundRect">
            <a:avLst>
              <a:gd fmla="val 16667" name="adj"/>
            </a:avLst>
          </a:prstGeom>
          <a:solidFill>
            <a:srgbClr val="FFFFFF"/>
          </a:solidFill>
          <a:ln cap="flat" cmpd="sng" w="28575">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18"/>
          <p:cNvSpPr txBox="1"/>
          <p:nvPr/>
        </p:nvSpPr>
        <p:spPr>
          <a:xfrm>
            <a:off x="4572000" y="744775"/>
            <a:ext cx="3823800" cy="315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450">
                <a:solidFill>
                  <a:srgbClr val="08172E"/>
                </a:solidFill>
              </a:rPr>
              <a:t>Sector Strategy Matrix (25-Yr Baseline)</a:t>
            </a:r>
            <a:endParaRPr sz="1700"/>
          </a:p>
        </p:txBody>
      </p:sp>
      <p:sp>
        <p:nvSpPr>
          <p:cNvPr id="156" name="Google Shape;156;p18"/>
          <p:cNvSpPr/>
          <p:nvPr/>
        </p:nvSpPr>
        <p:spPr>
          <a:xfrm>
            <a:off x="4577200" y="3118075"/>
            <a:ext cx="2118000" cy="1443900"/>
          </a:xfrm>
          <a:prstGeom prst="roundRect">
            <a:avLst>
              <a:gd fmla="val 16667" name="adj"/>
            </a:avLst>
          </a:prstGeom>
          <a:solidFill>
            <a:srgbClr val="FFFFFF"/>
          </a:solidFill>
          <a:ln cap="flat" cmpd="sng" w="28575">
            <a:solidFill>
              <a:srgbClr val="CC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18"/>
          <p:cNvSpPr/>
          <p:nvPr/>
        </p:nvSpPr>
        <p:spPr>
          <a:xfrm>
            <a:off x="6925375" y="1399075"/>
            <a:ext cx="2094900" cy="1443900"/>
          </a:xfrm>
          <a:prstGeom prst="roundRect">
            <a:avLst>
              <a:gd fmla="val 16667" name="adj"/>
            </a:avLst>
          </a:prstGeom>
          <a:solidFill>
            <a:srgbClr val="FFFFFF"/>
          </a:solidFill>
          <a:ln cap="flat" cmpd="sng" w="28575">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18"/>
          <p:cNvSpPr/>
          <p:nvPr/>
        </p:nvSpPr>
        <p:spPr>
          <a:xfrm>
            <a:off x="6925375" y="3118075"/>
            <a:ext cx="2094900" cy="1443900"/>
          </a:xfrm>
          <a:prstGeom prst="roundRect">
            <a:avLst>
              <a:gd fmla="val 16667" name="adj"/>
            </a:avLst>
          </a:prstGeom>
          <a:solidFill>
            <a:srgbClr val="FFFFFF"/>
          </a:solidFill>
          <a:ln cap="flat" cmpd="sng" w="28575">
            <a:solidFill>
              <a:srgbClr val="CC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18"/>
          <p:cNvSpPr txBox="1"/>
          <p:nvPr/>
        </p:nvSpPr>
        <p:spPr>
          <a:xfrm>
            <a:off x="4668650" y="1416200"/>
            <a:ext cx="74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800">
                <a:solidFill>
                  <a:schemeClr val="dk1"/>
                </a:solidFill>
              </a:rPr>
              <a:t>XLK</a:t>
            </a:r>
            <a:endParaRPr b="1" sz="1800">
              <a:solidFill>
                <a:schemeClr val="dk1"/>
              </a:solidFill>
            </a:endParaRPr>
          </a:p>
        </p:txBody>
      </p:sp>
      <p:sp>
        <p:nvSpPr>
          <p:cNvPr id="160" name="Google Shape;160;p18"/>
          <p:cNvSpPr txBox="1"/>
          <p:nvPr/>
        </p:nvSpPr>
        <p:spPr>
          <a:xfrm>
            <a:off x="4668650" y="1703638"/>
            <a:ext cx="102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100">
                <a:solidFill>
                  <a:schemeClr val="dk2"/>
                </a:solidFill>
              </a:rPr>
              <a:t>Technology</a:t>
            </a:r>
            <a:endParaRPr sz="1100">
              <a:solidFill>
                <a:schemeClr val="dk2"/>
              </a:solidFill>
            </a:endParaRPr>
          </a:p>
        </p:txBody>
      </p:sp>
      <p:sp>
        <p:nvSpPr>
          <p:cNvPr id="161" name="Google Shape;161;p18"/>
          <p:cNvSpPr txBox="1"/>
          <p:nvPr/>
        </p:nvSpPr>
        <p:spPr>
          <a:xfrm>
            <a:off x="4668650" y="2267150"/>
            <a:ext cx="102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600">
                <a:solidFill>
                  <a:srgbClr val="6AA84F"/>
                </a:solidFill>
              </a:rPr>
              <a:t>+10.87%</a:t>
            </a:r>
            <a:endParaRPr b="1" sz="1600">
              <a:solidFill>
                <a:srgbClr val="6AA84F"/>
              </a:solidFill>
            </a:endParaRPr>
          </a:p>
        </p:txBody>
      </p:sp>
      <p:sp>
        <p:nvSpPr>
          <p:cNvPr id="162" name="Google Shape;162;p18"/>
          <p:cNvSpPr txBox="1"/>
          <p:nvPr/>
        </p:nvSpPr>
        <p:spPr>
          <a:xfrm>
            <a:off x="5941025" y="1416200"/>
            <a:ext cx="695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600">
                <a:solidFill>
                  <a:srgbClr val="6AA84F"/>
                </a:solidFill>
              </a:rPr>
              <a:t>Long</a:t>
            </a:r>
            <a:endParaRPr b="1" sz="1600">
              <a:solidFill>
                <a:srgbClr val="6AA84F"/>
              </a:solidFill>
            </a:endParaRPr>
          </a:p>
        </p:txBody>
      </p:sp>
      <p:sp>
        <p:nvSpPr>
          <p:cNvPr id="163" name="Google Shape;163;p18"/>
          <p:cNvSpPr txBox="1"/>
          <p:nvPr/>
        </p:nvSpPr>
        <p:spPr>
          <a:xfrm>
            <a:off x="5764550" y="2291013"/>
            <a:ext cx="9306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CN" sz="900">
                <a:solidFill>
                  <a:schemeClr val="dk2"/>
                </a:solidFill>
              </a:rPr>
              <a:t>Mid March to Mid July</a:t>
            </a:r>
            <a:endParaRPr sz="900">
              <a:solidFill>
                <a:schemeClr val="dk2"/>
              </a:solidFill>
            </a:endParaRPr>
          </a:p>
        </p:txBody>
      </p:sp>
      <p:sp>
        <p:nvSpPr>
          <p:cNvPr id="164" name="Google Shape;164;p18"/>
          <p:cNvSpPr txBox="1"/>
          <p:nvPr/>
        </p:nvSpPr>
        <p:spPr>
          <a:xfrm>
            <a:off x="6999050" y="3436925"/>
            <a:ext cx="883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100">
                <a:solidFill>
                  <a:schemeClr val="dk2"/>
                </a:solidFill>
              </a:rPr>
              <a:t>Materials</a:t>
            </a:r>
            <a:endParaRPr sz="1100">
              <a:solidFill>
                <a:schemeClr val="dk2"/>
              </a:solidFill>
            </a:endParaRPr>
          </a:p>
        </p:txBody>
      </p:sp>
      <p:sp>
        <p:nvSpPr>
          <p:cNvPr id="165" name="Google Shape;165;p18"/>
          <p:cNvSpPr txBox="1"/>
          <p:nvPr/>
        </p:nvSpPr>
        <p:spPr>
          <a:xfrm>
            <a:off x="6999050" y="1416200"/>
            <a:ext cx="74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800">
                <a:solidFill>
                  <a:schemeClr val="dk1"/>
                </a:solidFill>
              </a:rPr>
              <a:t>XLU</a:t>
            </a:r>
            <a:endParaRPr b="1" sz="1800">
              <a:solidFill>
                <a:schemeClr val="dk1"/>
              </a:solidFill>
            </a:endParaRPr>
          </a:p>
        </p:txBody>
      </p:sp>
      <p:sp>
        <p:nvSpPr>
          <p:cNvPr id="166" name="Google Shape;166;p18"/>
          <p:cNvSpPr txBox="1"/>
          <p:nvPr/>
        </p:nvSpPr>
        <p:spPr>
          <a:xfrm>
            <a:off x="6999050" y="3118075"/>
            <a:ext cx="74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800">
                <a:solidFill>
                  <a:schemeClr val="dk1"/>
                </a:solidFill>
              </a:rPr>
              <a:t>XLB</a:t>
            </a:r>
            <a:endParaRPr b="1" sz="1800">
              <a:solidFill>
                <a:schemeClr val="dk1"/>
              </a:solidFill>
            </a:endParaRPr>
          </a:p>
        </p:txBody>
      </p:sp>
      <p:sp>
        <p:nvSpPr>
          <p:cNvPr id="167" name="Google Shape;167;p18"/>
          <p:cNvSpPr txBox="1"/>
          <p:nvPr/>
        </p:nvSpPr>
        <p:spPr>
          <a:xfrm>
            <a:off x="4668650" y="3137763"/>
            <a:ext cx="74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800">
                <a:solidFill>
                  <a:schemeClr val="dk1"/>
                </a:solidFill>
              </a:rPr>
              <a:t>XLE</a:t>
            </a:r>
            <a:endParaRPr b="1" sz="1800">
              <a:solidFill>
                <a:schemeClr val="dk1"/>
              </a:solidFill>
            </a:endParaRPr>
          </a:p>
        </p:txBody>
      </p:sp>
      <p:sp>
        <p:nvSpPr>
          <p:cNvPr id="168" name="Google Shape;168;p18"/>
          <p:cNvSpPr txBox="1"/>
          <p:nvPr/>
        </p:nvSpPr>
        <p:spPr>
          <a:xfrm>
            <a:off x="4668650" y="3436913"/>
            <a:ext cx="102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100">
                <a:solidFill>
                  <a:schemeClr val="dk2"/>
                </a:solidFill>
              </a:rPr>
              <a:t>Energy</a:t>
            </a:r>
            <a:endParaRPr sz="1100">
              <a:solidFill>
                <a:schemeClr val="dk2"/>
              </a:solidFill>
            </a:endParaRPr>
          </a:p>
        </p:txBody>
      </p:sp>
      <p:sp>
        <p:nvSpPr>
          <p:cNvPr id="169" name="Google Shape;169;p18"/>
          <p:cNvSpPr txBox="1"/>
          <p:nvPr/>
        </p:nvSpPr>
        <p:spPr>
          <a:xfrm>
            <a:off x="6999050" y="1711288"/>
            <a:ext cx="102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100">
                <a:solidFill>
                  <a:schemeClr val="dk2"/>
                </a:solidFill>
              </a:rPr>
              <a:t>Utilities</a:t>
            </a:r>
            <a:endParaRPr sz="1100">
              <a:solidFill>
                <a:schemeClr val="dk2"/>
              </a:solidFill>
            </a:endParaRPr>
          </a:p>
        </p:txBody>
      </p:sp>
      <p:sp>
        <p:nvSpPr>
          <p:cNvPr id="170" name="Google Shape;170;p18"/>
          <p:cNvSpPr txBox="1"/>
          <p:nvPr/>
        </p:nvSpPr>
        <p:spPr>
          <a:xfrm>
            <a:off x="6999050" y="4039000"/>
            <a:ext cx="102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600">
                <a:solidFill>
                  <a:srgbClr val="CC0000"/>
                </a:solidFill>
              </a:rPr>
              <a:t>-5.10%</a:t>
            </a:r>
            <a:endParaRPr b="1" sz="1600">
              <a:solidFill>
                <a:srgbClr val="CC0000"/>
              </a:solidFill>
            </a:endParaRPr>
          </a:p>
        </p:txBody>
      </p:sp>
      <p:sp>
        <p:nvSpPr>
          <p:cNvPr id="171" name="Google Shape;171;p18"/>
          <p:cNvSpPr txBox="1"/>
          <p:nvPr/>
        </p:nvSpPr>
        <p:spPr>
          <a:xfrm>
            <a:off x="4668650" y="4039000"/>
            <a:ext cx="102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600">
                <a:solidFill>
                  <a:srgbClr val="CC0000"/>
                </a:solidFill>
              </a:rPr>
              <a:t>-5.67%</a:t>
            </a:r>
            <a:endParaRPr b="1" sz="1600">
              <a:solidFill>
                <a:srgbClr val="CC0000"/>
              </a:solidFill>
            </a:endParaRPr>
          </a:p>
        </p:txBody>
      </p:sp>
      <p:sp>
        <p:nvSpPr>
          <p:cNvPr id="172" name="Google Shape;172;p18"/>
          <p:cNvSpPr txBox="1"/>
          <p:nvPr/>
        </p:nvSpPr>
        <p:spPr>
          <a:xfrm>
            <a:off x="6999050" y="2282438"/>
            <a:ext cx="102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600">
                <a:solidFill>
                  <a:srgbClr val="6AA84F"/>
                </a:solidFill>
              </a:rPr>
              <a:t>+9.32%</a:t>
            </a:r>
            <a:endParaRPr b="1" sz="1600">
              <a:solidFill>
                <a:srgbClr val="6AA84F"/>
              </a:solidFill>
            </a:endParaRPr>
          </a:p>
        </p:txBody>
      </p:sp>
      <p:sp>
        <p:nvSpPr>
          <p:cNvPr id="173" name="Google Shape;173;p18"/>
          <p:cNvSpPr txBox="1"/>
          <p:nvPr/>
        </p:nvSpPr>
        <p:spPr>
          <a:xfrm>
            <a:off x="8187275" y="3196425"/>
            <a:ext cx="742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zh-CN" sz="1600">
                <a:solidFill>
                  <a:srgbClr val="CC0000"/>
                </a:solidFill>
              </a:rPr>
              <a:t>Short</a:t>
            </a:r>
            <a:endParaRPr b="1" sz="1600">
              <a:solidFill>
                <a:srgbClr val="CC0000"/>
              </a:solidFill>
            </a:endParaRPr>
          </a:p>
          <a:p>
            <a:pPr indent="0" lvl="0" marL="0" rtl="0" algn="l">
              <a:spcBef>
                <a:spcPts val="0"/>
              </a:spcBef>
              <a:spcAft>
                <a:spcPts val="0"/>
              </a:spcAft>
              <a:buNone/>
            </a:pPr>
            <a:r>
              <a:t/>
            </a:r>
            <a:endParaRPr b="1" sz="1600">
              <a:solidFill>
                <a:srgbClr val="6AA84F"/>
              </a:solidFill>
            </a:endParaRPr>
          </a:p>
        </p:txBody>
      </p:sp>
      <p:sp>
        <p:nvSpPr>
          <p:cNvPr id="174" name="Google Shape;174;p18"/>
          <p:cNvSpPr txBox="1"/>
          <p:nvPr/>
        </p:nvSpPr>
        <p:spPr>
          <a:xfrm>
            <a:off x="8234075" y="1431500"/>
            <a:ext cx="695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600">
                <a:solidFill>
                  <a:srgbClr val="6AA84F"/>
                </a:solidFill>
              </a:rPr>
              <a:t>Long</a:t>
            </a:r>
            <a:endParaRPr b="1" sz="1600">
              <a:solidFill>
                <a:srgbClr val="6AA84F"/>
              </a:solidFill>
            </a:endParaRPr>
          </a:p>
        </p:txBody>
      </p:sp>
      <p:sp>
        <p:nvSpPr>
          <p:cNvPr id="175" name="Google Shape;175;p18"/>
          <p:cNvSpPr txBox="1"/>
          <p:nvPr/>
        </p:nvSpPr>
        <p:spPr>
          <a:xfrm>
            <a:off x="5880950" y="3196425"/>
            <a:ext cx="74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600">
                <a:solidFill>
                  <a:srgbClr val="CC0000"/>
                </a:solidFill>
              </a:rPr>
              <a:t>Short</a:t>
            </a:r>
            <a:endParaRPr b="1" sz="1600">
              <a:solidFill>
                <a:srgbClr val="CC0000"/>
              </a:solidFill>
            </a:endParaRPr>
          </a:p>
        </p:txBody>
      </p:sp>
      <p:sp>
        <p:nvSpPr>
          <p:cNvPr id="176" name="Google Shape;176;p18"/>
          <p:cNvSpPr txBox="1"/>
          <p:nvPr/>
        </p:nvSpPr>
        <p:spPr>
          <a:xfrm>
            <a:off x="8024150" y="4063575"/>
            <a:ext cx="9306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CN" sz="900">
                <a:solidFill>
                  <a:schemeClr val="dk2"/>
                </a:solidFill>
              </a:rPr>
              <a:t>Mid May to Mid Oct</a:t>
            </a:r>
            <a:endParaRPr sz="900">
              <a:solidFill>
                <a:schemeClr val="dk2"/>
              </a:solidFill>
            </a:endParaRPr>
          </a:p>
        </p:txBody>
      </p:sp>
      <p:sp>
        <p:nvSpPr>
          <p:cNvPr id="177" name="Google Shape;177;p18"/>
          <p:cNvSpPr txBox="1"/>
          <p:nvPr/>
        </p:nvSpPr>
        <p:spPr>
          <a:xfrm>
            <a:off x="5764550" y="4071225"/>
            <a:ext cx="9306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CN" sz="900">
                <a:solidFill>
                  <a:schemeClr val="dk2"/>
                </a:solidFill>
              </a:rPr>
              <a:t>Early June to Late Aug</a:t>
            </a:r>
            <a:endParaRPr sz="900">
              <a:solidFill>
                <a:schemeClr val="dk2"/>
              </a:solidFill>
            </a:endParaRPr>
          </a:p>
        </p:txBody>
      </p:sp>
      <p:sp>
        <p:nvSpPr>
          <p:cNvPr id="178" name="Google Shape;178;p18"/>
          <p:cNvSpPr txBox="1"/>
          <p:nvPr/>
        </p:nvSpPr>
        <p:spPr>
          <a:xfrm>
            <a:off x="8024150" y="2298663"/>
            <a:ext cx="9306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CN" sz="900">
                <a:solidFill>
                  <a:schemeClr val="dk2"/>
                </a:solidFill>
              </a:rPr>
              <a:t>Mid March to Early Oct</a:t>
            </a:r>
            <a:endParaRPr sz="900">
              <a:solidFill>
                <a:schemeClr val="dk2"/>
              </a:solidFill>
            </a:endParaRPr>
          </a:p>
        </p:txBody>
      </p:sp>
      <p:sp>
        <p:nvSpPr>
          <p:cNvPr id="179" name="Google Shape;179;p18"/>
          <p:cNvSpPr txBox="1"/>
          <p:nvPr/>
        </p:nvSpPr>
        <p:spPr>
          <a:xfrm>
            <a:off x="697225" y="2355825"/>
            <a:ext cx="3406200" cy="4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450">
                <a:solidFill>
                  <a:schemeClr val="dk1"/>
                </a:solidFill>
              </a:rPr>
              <a:t>Index Performance Baseline</a:t>
            </a:r>
            <a:endParaRPr>
              <a:solidFill>
                <a:schemeClr val="dk2"/>
              </a:solidFill>
            </a:endParaRPr>
          </a:p>
        </p:txBody>
      </p:sp>
      <p:sp>
        <p:nvSpPr>
          <p:cNvPr id="180" name="Google Shape;180;p18"/>
          <p:cNvSpPr/>
          <p:nvPr/>
        </p:nvSpPr>
        <p:spPr>
          <a:xfrm>
            <a:off x="640075" y="2752725"/>
            <a:ext cx="3520500" cy="23907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181" name="Google Shape;181;p18"/>
          <p:cNvGraphicFramePr/>
          <p:nvPr/>
        </p:nvGraphicFramePr>
        <p:xfrm>
          <a:off x="754375" y="2967750"/>
          <a:ext cx="3000000" cy="3000000"/>
        </p:xfrm>
        <a:graphic>
          <a:graphicData uri="http://schemas.openxmlformats.org/drawingml/2006/table">
            <a:tbl>
              <a:tblPr>
                <a:noFill/>
                <a:tableStyleId>{5C11B4D0-DC67-440D-AFD1-FEC4C2251340}</a:tableStyleId>
              </a:tblPr>
              <a:tblGrid>
                <a:gridCol w="822975"/>
                <a:gridCol w="822975"/>
                <a:gridCol w="822975"/>
                <a:gridCol w="822975"/>
              </a:tblGrid>
              <a:tr h="437875">
                <a:tc>
                  <a:txBody>
                    <a:bodyPr/>
                    <a:lstStyle/>
                    <a:p>
                      <a:pPr indent="0" lvl="0" marL="0" rtl="0" algn="l">
                        <a:spcBef>
                          <a:spcPts val="0"/>
                        </a:spcBef>
                        <a:spcAft>
                          <a:spcPts val="0"/>
                        </a:spcAft>
                        <a:buNone/>
                      </a:pPr>
                      <a:r>
                        <a:rPr b="1" lang="zh-CN" sz="900"/>
                        <a:t>Index</a:t>
                      </a:r>
                      <a:endParaRPr b="1" sz="900"/>
                    </a:p>
                  </a:txBody>
                  <a:tcPr marT="91425" marB="91425" marR="91425" marL="91425"/>
                </a:tc>
                <a:tc>
                  <a:txBody>
                    <a:bodyPr/>
                    <a:lstStyle/>
                    <a:p>
                      <a:pPr indent="0" lvl="0" marL="0" rtl="0" algn="l">
                        <a:spcBef>
                          <a:spcPts val="0"/>
                        </a:spcBef>
                        <a:spcAft>
                          <a:spcPts val="0"/>
                        </a:spcAft>
                        <a:buNone/>
                      </a:pPr>
                      <a:r>
                        <a:rPr b="1" lang="zh-CN" sz="900"/>
                        <a:t>Rank</a:t>
                      </a:r>
                      <a:endParaRPr b="1" sz="900"/>
                    </a:p>
                  </a:txBody>
                  <a:tcPr marT="91425" marB="91425" marR="91425" marL="91425"/>
                </a:tc>
                <a:tc>
                  <a:txBody>
                    <a:bodyPr/>
                    <a:lstStyle/>
                    <a:p>
                      <a:pPr indent="0" lvl="0" marL="0" rtl="0" algn="l">
                        <a:spcBef>
                          <a:spcPts val="0"/>
                        </a:spcBef>
                        <a:spcAft>
                          <a:spcPts val="0"/>
                        </a:spcAft>
                        <a:buNone/>
                      </a:pPr>
                      <a:r>
                        <a:rPr b="1" lang="zh-CN" sz="900"/>
                        <a:t>Normal</a:t>
                      </a:r>
                      <a:endParaRPr b="1" sz="900"/>
                    </a:p>
                  </a:txBody>
                  <a:tcPr marT="91425" marB="91425" marR="91425" marL="91425"/>
                </a:tc>
                <a:tc>
                  <a:txBody>
                    <a:bodyPr/>
                    <a:lstStyle/>
                    <a:p>
                      <a:pPr indent="0" lvl="0" marL="0" rtl="0" algn="l">
                        <a:spcBef>
                          <a:spcPts val="0"/>
                        </a:spcBef>
                        <a:spcAft>
                          <a:spcPts val="0"/>
                        </a:spcAft>
                        <a:buNone/>
                      </a:pPr>
                      <a:r>
                        <a:rPr b="1" lang="zh-CN" sz="900"/>
                        <a:t>Midterm</a:t>
                      </a:r>
                      <a:endParaRPr b="1" sz="900"/>
                    </a:p>
                  </a:txBody>
                  <a:tcPr marT="91425" marB="91425" marR="91425" marL="91425"/>
                </a:tc>
              </a:tr>
              <a:tr h="551700">
                <a:tc>
                  <a:txBody>
                    <a:bodyPr/>
                    <a:lstStyle/>
                    <a:p>
                      <a:pPr indent="0" lvl="0" marL="0" rtl="0" algn="l">
                        <a:spcBef>
                          <a:spcPts val="0"/>
                        </a:spcBef>
                        <a:spcAft>
                          <a:spcPts val="0"/>
                        </a:spcAft>
                        <a:buNone/>
                      </a:pPr>
                      <a:r>
                        <a:rPr b="1" lang="zh-CN" sz="900"/>
                        <a:t>S&amp;P 500 (SPX)</a:t>
                      </a:r>
                      <a:endParaRPr b="1" sz="900"/>
                    </a:p>
                  </a:txBody>
                  <a:tcPr marT="91425" marB="91425" marR="91425" marL="91425"/>
                </a:tc>
                <a:tc>
                  <a:txBody>
                    <a:bodyPr/>
                    <a:lstStyle/>
                    <a:p>
                      <a:pPr indent="0" lvl="0" marL="0" rtl="0" algn="l">
                        <a:spcBef>
                          <a:spcPts val="0"/>
                        </a:spcBef>
                        <a:spcAft>
                          <a:spcPts val="0"/>
                        </a:spcAft>
                        <a:buNone/>
                      </a:pPr>
                      <a:r>
                        <a:rPr lang="zh-CN" sz="900"/>
                        <a:t>4</a:t>
                      </a:r>
                      <a:endParaRPr sz="900"/>
                    </a:p>
                  </a:txBody>
                  <a:tcPr marT="91425" marB="91425" marR="91425" marL="91425"/>
                </a:tc>
                <a:tc>
                  <a:txBody>
                    <a:bodyPr/>
                    <a:lstStyle/>
                    <a:p>
                      <a:pPr indent="0" lvl="0" marL="0" rtl="0" algn="l">
                        <a:spcBef>
                          <a:spcPts val="0"/>
                        </a:spcBef>
                        <a:spcAft>
                          <a:spcPts val="0"/>
                        </a:spcAft>
                        <a:buNone/>
                      </a:pPr>
                      <a:r>
                        <a:rPr b="1" lang="zh-CN" sz="900">
                          <a:solidFill>
                            <a:srgbClr val="38761D"/>
                          </a:solidFill>
                        </a:rPr>
                        <a:t>+1.3%</a:t>
                      </a:r>
                      <a:endParaRPr b="1" sz="900">
                        <a:solidFill>
                          <a:srgbClr val="38761D"/>
                        </a:solidFill>
                      </a:endParaRPr>
                    </a:p>
                  </a:txBody>
                  <a:tcPr marT="91425" marB="91425" marR="91425" marL="91425"/>
                </a:tc>
                <a:tc>
                  <a:txBody>
                    <a:bodyPr/>
                    <a:lstStyle/>
                    <a:p>
                      <a:pPr indent="0" lvl="0" marL="0" rtl="0" algn="l">
                        <a:spcBef>
                          <a:spcPts val="0"/>
                        </a:spcBef>
                        <a:spcAft>
                          <a:spcPts val="0"/>
                        </a:spcAft>
                        <a:buNone/>
                      </a:pPr>
                      <a:r>
                        <a:rPr b="1" lang="zh-CN" sz="900">
                          <a:solidFill>
                            <a:srgbClr val="38761D"/>
                          </a:solidFill>
                        </a:rPr>
                        <a:t>+1.3%</a:t>
                      </a:r>
                      <a:endParaRPr b="1" sz="900">
                        <a:solidFill>
                          <a:srgbClr val="38761D"/>
                        </a:solidFill>
                      </a:endParaRPr>
                    </a:p>
                  </a:txBody>
                  <a:tcPr marT="91425" marB="91425" marR="91425" marL="91425"/>
                </a:tc>
              </a:tr>
              <a:tr h="448250">
                <a:tc>
                  <a:txBody>
                    <a:bodyPr/>
                    <a:lstStyle/>
                    <a:p>
                      <a:pPr indent="0" lvl="0" marL="0" rtl="0" algn="l">
                        <a:spcBef>
                          <a:spcPts val="0"/>
                        </a:spcBef>
                        <a:spcAft>
                          <a:spcPts val="0"/>
                        </a:spcAft>
                        <a:buNone/>
                      </a:pPr>
                      <a:r>
                        <a:rPr b="1" lang="zh-CN" sz="900"/>
                        <a:t>NASDAQ (NDX)</a:t>
                      </a:r>
                      <a:endParaRPr b="1" sz="900"/>
                    </a:p>
                  </a:txBody>
                  <a:tcPr marT="91425" marB="91425" marR="91425" marL="91425"/>
                </a:tc>
                <a:tc>
                  <a:txBody>
                    <a:bodyPr/>
                    <a:lstStyle/>
                    <a:p>
                      <a:pPr indent="0" lvl="0" marL="0" rtl="0" algn="l">
                        <a:spcBef>
                          <a:spcPts val="0"/>
                        </a:spcBef>
                        <a:spcAft>
                          <a:spcPts val="0"/>
                        </a:spcAft>
                        <a:buNone/>
                      </a:pPr>
                      <a:r>
                        <a:rPr lang="zh-CN" sz="900"/>
                        <a:t>7</a:t>
                      </a:r>
                      <a:endParaRPr sz="900"/>
                    </a:p>
                  </a:txBody>
                  <a:tcPr marT="91425" marB="91425" marR="91425" marL="91425"/>
                </a:tc>
                <a:tc>
                  <a:txBody>
                    <a:bodyPr/>
                    <a:lstStyle/>
                    <a:p>
                      <a:pPr indent="0" lvl="0" marL="0" rtl="0" algn="l">
                        <a:spcBef>
                          <a:spcPts val="0"/>
                        </a:spcBef>
                        <a:spcAft>
                          <a:spcPts val="0"/>
                        </a:spcAft>
                        <a:buNone/>
                      </a:pPr>
                      <a:r>
                        <a:rPr b="1" lang="zh-CN" sz="900">
                          <a:solidFill>
                            <a:srgbClr val="38761D"/>
                          </a:solidFill>
                        </a:rPr>
                        <a:t>+0.9%</a:t>
                      </a:r>
                      <a:endParaRPr b="1" sz="900">
                        <a:solidFill>
                          <a:srgbClr val="38761D"/>
                        </a:solidFill>
                      </a:endParaRPr>
                    </a:p>
                  </a:txBody>
                  <a:tcPr marT="91425" marB="91425" marR="91425" marL="91425"/>
                </a:tc>
                <a:tc>
                  <a:txBody>
                    <a:bodyPr/>
                    <a:lstStyle/>
                    <a:p>
                      <a:pPr indent="0" lvl="0" marL="0" rtl="0" algn="l">
                        <a:spcBef>
                          <a:spcPts val="0"/>
                        </a:spcBef>
                        <a:spcAft>
                          <a:spcPts val="0"/>
                        </a:spcAft>
                        <a:buNone/>
                      </a:pPr>
                      <a:r>
                        <a:rPr b="1" lang="zh-CN" sz="900">
                          <a:solidFill>
                            <a:srgbClr val="CC0000"/>
                          </a:solidFill>
                        </a:rPr>
                        <a:t>-0.8%</a:t>
                      </a:r>
                      <a:endParaRPr b="1" sz="900">
                        <a:solidFill>
                          <a:srgbClr val="CC0000"/>
                        </a:solidFill>
                      </a:endParaRPr>
                    </a:p>
                  </a:txBody>
                  <a:tcPr marT="91425" marB="91425" marR="91425" marL="91425"/>
                </a:tc>
              </a:tr>
              <a:tr h="428500">
                <a:tc>
                  <a:txBody>
                    <a:bodyPr/>
                    <a:lstStyle/>
                    <a:p>
                      <a:pPr indent="0" lvl="0" marL="0" rtl="0" algn="l">
                        <a:spcBef>
                          <a:spcPts val="0"/>
                        </a:spcBef>
                        <a:spcAft>
                          <a:spcPts val="0"/>
                        </a:spcAft>
                        <a:buNone/>
                      </a:pPr>
                      <a:r>
                        <a:rPr b="1" lang="zh-CN" sz="900"/>
                        <a:t>Russell 2000 (IWM)</a:t>
                      </a:r>
                      <a:endParaRPr b="1" sz="900"/>
                    </a:p>
                  </a:txBody>
                  <a:tcPr marT="91425" marB="91425" marR="91425" marL="91425"/>
                </a:tc>
                <a:tc>
                  <a:txBody>
                    <a:bodyPr/>
                    <a:lstStyle/>
                    <a:p>
                      <a:pPr indent="0" lvl="0" marL="0" rtl="0" algn="l">
                        <a:spcBef>
                          <a:spcPts val="0"/>
                        </a:spcBef>
                        <a:spcAft>
                          <a:spcPts val="0"/>
                        </a:spcAft>
                        <a:buNone/>
                      </a:pPr>
                      <a:r>
                        <a:rPr lang="zh-CN" sz="900"/>
                        <a:t>9</a:t>
                      </a:r>
                      <a:endParaRPr sz="900"/>
                    </a:p>
                  </a:txBody>
                  <a:tcPr marT="91425" marB="91425" marR="91425" marL="91425"/>
                </a:tc>
                <a:tc>
                  <a:txBody>
                    <a:bodyPr/>
                    <a:lstStyle/>
                    <a:p>
                      <a:pPr indent="0" lvl="0" marL="0" rtl="0" algn="l">
                        <a:spcBef>
                          <a:spcPts val="0"/>
                        </a:spcBef>
                        <a:spcAft>
                          <a:spcPts val="0"/>
                        </a:spcAft>
                        <a:buNone/>
                      </a:pPr>
                      <a:r>
                        <a:rPr b="1" lang="zh-CN" sz="900">
                          <a:solidFill>
                            <a:srgbClr val="38761D"/>
                          </a:solidFill>
                        </a:rPr>
                        <a:t>+0.4%</a:t>
                      </a:r>
                      <a:endParaRPr b="1" sz="900">
                        <a:solidFill>
                          <a:srgbClr val="38761D"/>
                        </a:solidFill>
                      </a:endParaRPr>
                    </a:p>
                  </a:txBody>
                  <a:tcPr marT="91425" marB="91425" marR="91425" marL="91425"/>
                </a:tc>
                <a:tc>
                  <a:txBody>
                    <a:bodyPr/>
                    <a:lstStyle/>
                    <a:p>
                      <a:pPr indent="0" lvl="0" marL="0" rtl="0" algn="l">
                        <a:spcBef>
                          <a:spcPts val="0"/>
                        </a:spcBef>
                        <a:spcAft>
                          <a:spcPts val="0"/>
                        </a:spcAft>
                        <a:buNone/>
                      </a:pPr>
                      <a:r>
                        <a:rPr b="1" lang="zh-CN" sz="900">
                          <a:solidFill>
                            <a:srgbClr val="CC0000"/>
                          </a:solidFill>
                        </a:rPr>
                        <a:t>-2.5%</a:t>
                      </a:r>
                      <a:endParaRPr b="1" sz="900">
                        <a:solidFill>
                          <a:srgbClr val="CC0000"/>
                        </a:solidFill>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19" title="R4.png"/>
          <p:cNvPicPr preferRelativeResize="0"/>
          <p:nvPr/>
        </p:nvPicPr>
        <p:blipFill>
          <a:blip r:embed="rId3">
            <a:alphaModFix/>
          </a:blip>
          <a:stretch>
            <a:fillRect/>
          </a:stretch>
        </p:blipFill>
        <p:spPr>
          <a:xfrm>
            <a:off x="0" y="-1375"/>
            <a:ext cx="9144001" cy="51462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90" name="Shape 190"/>
        <p:cNvGrpSpPr/>
        <p:nvPr/>
      </p:nvGrpSpPr>
      <p:grpSpPr>
        <a:xfrm>
          <a:off x="0" y="0"/>
          <a:ext cx="0" cy="0"/>
          <a:chOff x="0" y="0"/>
          <a:chExt cx="0" cy="0"/>
        </a:xfrm>
      </p:grpSpPr>
      <p:sp>
        <p:nvSpPr>
          <p:cNvPr id="191" name="Google Shape;191;p20"/>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20"/>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20"/>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R5 Technical Lead</a:t>
            </a:r>
            <a:endParaRPr/>
          </a:p>
        </p:txBody>
      </p:sp>
      <p:sp>
        <p:nvSpPr>
          <p:cNvPr id="194" name="Google Shape;194;p20"/>
          <p:cNvSpPr/>
          <p:nvPr/>
        </p:nvSpPr>
        <p:spPr>
          <a:xfrm>
            <a:off x="5373930" y="1123439"/>
            <a:ext cx="54900" cy="3401700"/>
          </a:xfrm>
          <a:prstGeom prst="rect">
            <a:avLst/>
          </a:prstGeom>
          <a:solidFill>
            <a:srgbClr val="2FB344"/>
          </a:solidFill>
          <a:ln cap="flat" cmpd="sng" w="9525">
            <a:solidFill>
              <a:srgbClr val="2FB3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5" name="Google Shape;195;p20"/>
          <p:cNvSpPr/>
          <p:nvPr/>
        </p:nvSpPr>
        <p:spPr>
          <a:xfrm>
            <a:off x="5428794" y="1116581"/>
            <a:ext cx="3182100" cy="3415200"/>
          </a:xfrm>
          <a:prstGeom prst="roundRect">
            <a:avLst>
              <a:gd fmla="val 2586"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20"/>
          <p:cNvSpPr/>
          <p:nvPr/>
        </p:nvSpPr>
        <p:spPr>
          <a:xfrm>
            <a:off x="5682549" y="1356600"/>
            <a:ext cx="23133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lang="zh-CN">
                <a:solidFill>
                  <a:srgbClr val="071A34"/>
                </a:solidFill>
              </a:rPr>
              <a:t>S&amp;P 500 (SPX)</a:t>
            </a:r>
            <a:endParaRPr b="0" i="0" sz="1400" u="none" cap="none" strike="noStrike">
              <a:solidFill>
                <a:schemeClr val="dk1"/>
              </a:solidFill>
              <a:latin typeface="Arial"/>
              <a:ea typeface="Arial"/>
              <a:cs typeface="Arial"/>
              <a:sym typeface="Arial"/>
            </a:endParaRPr>
          </a:p>
        </p:txBody>
      </p:sp>
      <p:sp>
        <p:nvSpPr>
          <p:cNvPr id="197" name="Google Shape;197;p20"/>
          <p:cNvSpPr/>
          <p:nvPr/>
        </p:nvSpPr>
        <p:spPr>
          <a:xfrm>
            <a:off x="5648250" y="1651505"/>
            <a:ext cx="2674500" cy="2606100"/>
          </a:xfrm>
          <a:prstGeom prst="rect">
            <a:avLst/>
          </a:prstGeom>
          <a:noFill/>
          <a:ln>
            <a:noFill/>
          </a:ln>
        </p:spPr>
        <p:txBody>
          <a:bodyPr anchorCtr="0" anchor="t" bIns="200" lIns="200" spcFirstLastPara="1" rIns="200" wrap="square" tIns="200">
            <a:noAutofit/>
          </a:bodyPr>
          <a:lstStyle/>
          <a:p>
            <a:pPr indent="0" lvl="0" marL="0" rtl="0" algn="l">
              <a:lnSpc>
                <a:spcPct val="115000"/>
              </a:lnSpc>
              <a:spcBef>
                <a:spcPts val="1200"/>
              </a:spcBef>
              <a:spcAft>
                <a:spcPts val="0"/>
              </a:spcAft>
              <a:buNone/>
            </a:pPr>
            <a:r>
              <a:rPr b="1" lang="zh-CN" sz="1100">
                <a:solidFill>
                  <a:schemeClr val="dk1"/>
                </a:solidFill>
              </a:rPr>
              <a:t>Current Trend: Bullish / Recovery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sz="1100">
                <a:solidFill>
                  <a:schemeClr val="dk1"/>
                </a:solidFill>
              </a:rPr>
              <a:t>Close Price: 7570</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8-Day EMA: 7510</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21-Day EMA: 7475</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Support Level: 7500–7510</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Resistance Level: 7570–7580</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Technical Bias: Bullish</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Confidence: 75% (High)</a:t>
            </a:r>
            <a:endParaRPr b="1" sz="1100">
              <a:solidFill>
                <a:schemeClr val="dk1"/>
              </a:solidFill>
            </a:endParaRPr>
          </a:p>
          <a:p>
            <a:pPr indent="0" lvl="0" marL="457200" marR="0" rtl="0" algn="l">
              <a:lnSpc>
                <a:spcPct val="150000"/>
              </a:lnSpc>
              <a:spcBef>
                <a:spcPts val="1200"/>
              </a:spcBef>
              <a:spcAft>
                <a:spcPts val="0"/>
              </a:spcAft>
              <a:buNone/>
            </a:pPr>
            <a:r>
              <a:t/>
            </a:r>
            <a:endParaRPr b="1" sz="1200">
              <a:solidFill>
                <a:schemeClr val="dk2"/>
              </a:solidFill>
            </a:endParaRPr>
          </a:p>
          <a:p>
            <a:pPr indent="0" lvl="0" marL="0" marR="0" rtl="0" algn="l">
              <a:lnSpc>
                <a:spcPct val="150000"/>
              </a:lnSpc>
              <a:spcBef>
                <a:spcPts val="0"/>
              </a:spcBef>
              <a:spcAft>
                <a:spcPts val="0"/>
              </a:spcAft>
              <a:buClr>
                <a:srgbClr val="071A34"/>
              </a:buClr>
              <a:buSzPts val="900"/>
              <a:buFont typeface="Arial"/>
              <a:buNone/>
            </a:pPr>
            <a:r>
              <a:t/>
            </a:r>
            <a:endParaRPr sz="1200">
              <a:solidFill>
                <a:schemeClr val="dk2"/>
              </a:solidFill>
            </a:endParaRPr>
          </a:p>
        </p:txBody>
      </p:sp>
      <p:pic>
        <p:nvPicPr>
          <p:cNvPr id="198" name="Google Shape;198;p20"/>
          <p:cNvPicPr preferRelativeResize="0"/>
          <p:nvPr/>
        </p:nvPicPr>
        <p:blipFill>
          <a:blip r:embed="rId3">
            <a:alphaModFix/>
          </a:blip>
          <a:stretch>
            <a:fillRect/>
          </a:stretch>
        </p:blipFill>
        <p:spPr>
          <a:xfrm>
            <a:off x="152400" y="829080"/>
            <a:ext cx="5069130" cy="40925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04" name="Google Shape;204;p21"/>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05" name="Google Shape;205;p21"/>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R5 Technical Lead</a:t>
            </a:r>
            <a:endParaRPr/>
          </a:p>
        </p:txBody>
      </p:sp>
      <p:sp>
        <p:nvSpPr>
          <p:cNvPr id="206" name="Google Shape;206;p21"/>
          <p:cNvSpPr/>
          <p:nvPr/>
        </p:nvSpPr>
        <p:spPr>
          <a:xfrm>
            <a:off x="5373930" y="1123439"/>
            <a:ext cx="54900" cy="3401700"/>
          </a:xfrm>
          <a:prstGeom prst="rect">
            <a:avLst/>
          </a:prstGeom>
          <a:solidFill>
            <a:srgbClr val="2FB344"/>
          </a:solidFill>
          <a:ln cap="flat" cmpd="sng" w="9525">
            <a:solidFill>
              <a:srgbClr val="2FB3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21"/>
          <p:cNvSpPr/>
          <p:nvPr/>
        </p:nvSpPr>
        <p:spPr>
          <a:xfrm>
            <a:off x="5428794" y="1116581"/>
            <a:ext cx="3182100" cy="3415200"/>
          </a:xfrm>
          <a:prstGeom prst="roundRect">
            <a:avLst>
              <a:gd fmla="val 2586"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21"/>
          <p:cNvSpPr/>
          <p:nvPr/>
        </p:nvSpPr>
        <p:spPr>
          <a:xfrm>
            <a:off x="5682549" y="1356600"/>
            <a:ext cx="23133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lang="zh-CN">
                <a:solidFill>
                  <a:srgbClr val="071A34"/>
                </a:solidFill>
              </a:rPr>
              <a:t>Russell 2000 ETF (IWM)</a:t>
            </a:r>
            <a:endParaRPr b="0" i="0" sz="1400" u="none" cap="none" strike="noStrike">
              <a:solidFill>
                <a:srgbClr val="000000"/>
              </a:solidFill>
              <a:latin typeface="Arial"/>
              <a:ea typeface="Arial"/>
              <a:cs typeface="Arial"/>
              <a:sym typeface="Arial"/>
            </a:endParaRPr>
          </a:p>
        </p:txBody>
      </p:sp>
      <p:sp>
        <p:nvSpPr>
          <p:cNvPr id="209" name="Google Shape;209;p21"/>
          <p:cNvSpPr/>
          <p:nvPr/>
        </p:nvSpPr>
        <p:spPr>
          <a:xfrm>
            <a:off x="5648250" y="1651505"/>
            <a:ext cx="2674500" cy="2606100"/>
          </a:xfrm>
          <a:prstGeom prst="rect">
            <a:avLst/>
          </a:prstGeom>
          <a:noFill/>
          <a:ln>
            <a:noFill/>
          </a:ln>
        </p:spPr>
        <p:txBody>
          <a:bodyPr anchorCtr="0" anchor="t" bIns="200" lIns="200" spcFirstLastPara="1" rIns="200" wrap="square" tIns="200">
            <a:noAutofit/>
          </a:bodyPr>
          <a:lstStyle/>
          <a:p>
            <a:pPr indent="0" lvl="0" marL="0" rtl="0" algn="l">
              <a:lnSpc>
                <a:spcPct val="150000"/>
              </a:lnSpc>
              <a:spcBef>
                <a:spcPts val="0"/>
              </a:spcBef>
              <a:spcAft>
                <a:spcPts val="0"/>
              </a:spcAft>
              <a:buClr>
                <a:schemeClr val="dk1"/>
              </a:buClr>
              <a:buSzPts val="1100"/>
              <a:buFont typeface="Arial"/>
              <a:buNone/>
            </a:pPr>
            <a:r>
              <a:rPr b="1" lang="zh-CN" sz="1200">
                <a:solidFill>
                  <a:srgbClr val="595959"/>
                </a:solidFill>
              </a:rPr>
              <a:t>Current Trend: Bullish /Consolidation</a:t>
            </a:r>
            <a:endParaRPr b="1" sz="1200">
              <a:solidFill>
                <a:srgbClr val="595959"/>
              </a:solidFill>
            </a:endParaRPr>
          </a:p>
          <a:p>
            <a:pPr indent="0" lvl="0" marL="0" rtl="0" algn="l">
              <a:lnSpc>
                <a:spcPct val="150000"/>
              </a:lnSpc>
              <a:spcBef>
                <a:spcPts val="0"/>
              </a:spcBef>
              <a:spcAft>
                <a:spcPts val="0"/>
              </a:spcAft>
              <a:buClr>
                <a:schemeClr val="dk1"/>
              </a:buClr>
              <a:buSzPts val="1100"/>
              <a:buFont typeface="Arial"/>
              <a:buNone/>
            </a:pPr>
            <a:r>
              <a:rPr b="1" lang="zh-CN" sz="1200">
                <a:solidFill>
                  <a:srgbClr val="595959"/>
                </a:solidFill>
              </a:rPr>
              <a:t>• Close Price: 296.0</a:t>
            </a:r>
            <a:endParaRPr b="1" sz="1200">
              <a:solidFill>
                <a:srgbClr val="595959"/>
              </a:solidFill>
            </a:endParaRPr>
          </a:p>
          <a:p>
            <a:pPr indent="0" lvl="0" marL="0" rtl="0" algn="l">
              <a:lnSpc>
                <a:spcPct val="150000"/>
              </a:lnSpc>
              <a:spcBef>
                <a:spcPts val="0"/>
              </a:spcBef>
              <a:spcAft>
                <a:spcPts val="0"/>
              </a:spcAft>
              <a:buClr>
                <a:schemeClr val="dk1"/>
              </a:buClr>
              <a:buSzPts val="1100"/>
              <a:buFont typeface="Arial"/>
              <a:buNone/>
            </a:pPr>
            <a:r>
              <a:rPr b="1" lang="zh-CN" sz="1200">
                <a:solidFill>
                  <a:srgbClr val="595959"/>
                </a:solidFill>
              </a:rPr>
              <a:t>• 8-Day EMA: 296.5</a:t>
            </a:r>
            <a:endParaRPr b="1" sz="1200">
              <a:solidFill>
                <a:srgbClr val="595959"/>
              </a:solidFill>
            </a:endParaRPr>
          </a:p>
          <a:p>
            <a:pPr indent="0" lvl="0" marL="0" rtl="0" algn="l">
              <a:lnSpc>
                <a:spcPct val="150000"/>
              </a:lnSpc>
              <a:spcBef>
                <a:spcPts val="0"/>
              </a:spcBef>
              <a:spcAft>
                <a:spcPts val="0"/>
              </a:spcAft>
              <a:buClr>
                <a:schemeClr val="dk1"/>
              </a:buClr>
              <a:buSzPts val="1100"/>
              <a:buFont typeface="Arial"/>
              <a:buNone/>
            </a:pPr>
            <a:r>
              <a:rPr b="1" lang="zh-CN" sz="1200">
                <a:solidFill>
                  <a:srgbClr val="595959"/>
                </a:solidFill>
              </a:rPr>
              <a:t>• 21-Day EMA: 294.6</a:t>
            </a:r>
            <a:endParaRPr b="1" sz="1200">
              <a:solidFill>
                <a:srgbClr val="595959"/>
              </a:solidFill>
            </a:endParaRPr>
          </a:p>
          <a:p>
            <a:pPr indent="0" lvl="0" marL="0" rtl="0" algn="l">
              <a:lnSpc>
                <a:spcPct val="150000"/>
              </a:lnSpc>
              <a:spcBef>
                <a:spcPts val="0"/>
              </a:spcBef>
              <a:spcAft>
                <a:spcPts val="0"/>
              </a:spcAft>
              <a:buClr>
                <a:schemeClr val="dk1"/>
              </a:buClr>
              <a:buSzPts val="1100"/>
              <a:buFont typeface="Arial"/>
              <a:buNone/>
            </a:pPr>
            <a:r>
              <a:rPr b="1" lang="zh-CN" sz="1200">
                <a:solidFill>
                  <a:srgbClr val="595959"/>
                </a:solidFill>
              </a:rPr>
              <a:t>• Support Level: 294–295</a:t>
            </a:r>
            <a:endParaRPr b="1" sz="1200">
              <a:solidFill>
                <a:srgbClr val="595959"/>
              </a:solidFill>
            </a:endParaRPr>
          </a:p>
          <a:p>
            <a:pPr indent="0" lvl="0" marL="0" rtl="0" algn="l">
              <a:lnSpc>
                <a:spcPct val="150000"/>
              </a:lnSpc>
              <a:spcBef>
                <a:spcPts val="0"/>
              </a:spcBef>
              <a:spcAft>
                <a:spcPts val="0"/>
              </a:spcAft>
              <a:buClr>
                <a:schemeClr val="dk1"/>
              </a:buClr>
              <a:buSzPts val="1100"/>
              <a:buFont typeface="Arial"/>
              <a:buNone/>
            </a:pPr>
            <a:r>
              <a:rPr b="1" lang="zh-CN" sz="1200">
                <a:solidFill>
                  <a:srgbClr val="595959"/>
                </a:solidFill>
              </a:rPr>
              <a:t>• Resistance Level: 300–302</a:t>
            </a:r>
            <a:endParaRPr b="1" sz="1200">
              <a:solidFill>
                <a:srgbClr val="595959"/>
              </a:solidFill>
            </a:endParaRPr>
          </a:p>
          <a:p>
            <a:pPr indent="0" lvl="0" marL="0" rtl="0" algn="l">
              <a:lnSpc>
                <a:spcPct val="150000"/>
              </a:lnSpc>
              <a:spcBef>
                <a:spcPts val="0"/>
              </a:spcBef>
              <a:spcAft>
                <a:spcPts val="0"/>
              </a:spcAft>
              <a:buClr>
                <a:schemeClr val="dk1"/>
              </a:buClr>
              <a:buSzPts val="1100"/>
              <a:buFont typeface="Arial"/>
              <a:buNone/>
            </a:pPr>
            <a:r>
              <a:rPr b="1" lang="zh-CN" sz="1200">
                <a:solidFill>
                  <a:srgbClr val="595959"/>
                </a:solidFill>
              </a:rPr>
              <a:t>• Technical Bias: Moderately Bullish</a:t>
            </a:r>
            <a:endParaRPr b="1" sz="1200">
              <a:solidFill>
                <a:srgbClr val="595959"/>
              </a:solidFill>
            </a:endParaRPr>
          </a:p>
          <a:p>
            <a:pPr indent="0" lvl="0" marL="0" rtl="0" algn="l">
              <a:lnSpc>
                <a:spcPct val="150000"/>
              </a:lnSpc>
              <a:spcBef>
                <a:spcPts val="0"/>
              </a:spcBef>
              <a:spcAft>
                <a:spcPts val="0"/>
              </a:spcAft>
              <a:buClr>
                <a:schemeClr val="dk1"/>
              </a:buClr>
              <a:buSzPts val="1100"/>
              <a:buFont typeface="Arial"/>
              <a:buNone/>
            </a:pPr>
            <a:r>
              <a:rPr b="1" lang="zh-CN" sz="1200">
                <a:solidFill>
                  <a:srgbClr val="595959"/>
                </a:solidFill>
              </a:rPr>
              <a:t>• Confidence: 70% (Medium-High)</a:t>
            </a:r>
            <a:endParaRPr b="1" sz="1200">
              <a:solidFill>
                <a:srgbClr val="595959"/>
              </a:solidFill>
            </a:endParaRPr>
          </a:p>
          <a:p>
            <a:pPr indent="0" lvl="0" marL="0" marR="0" rtl="0" algn="l">
              <a:lnSpc>
                <a:spcPct val="150000"/>
              </a:lnSpc>
              <a:spcBef>
                <a:spcPts val="0"/>
              </a:spcBef>
              <a:spcAft>
                <a:spcPts val="0"/>
              </a:spcAft>
              <a:buClr>
                <a:srgbClr val="071A34"/>
              </a:buClr>
              <a:buSzPts val="900"/>
              <a:buFont typeface="Arial"/>
              <a:buNone/>
            </a:pPr>
            <a:r>
              <a:t/>
            </a:r>
            <a:endParaRPr b="1" sz="1200">
              <a:solidFill>
                <a:srgbClr val="595959"/>
              </a:solidFill>
            </a:endParaRPr>
          </a:p>
        </p:txBody>
      </p:sp>
      <p:pic>
        <p:nvPicPr>
          <p:cNvPr id="210" name="Google Shape;210;p21"/>
          <p:cNvPicPr preferRelativeResize="0"/>
          <p:nvPr/>
        </p:nvPicPr>
        <p:blipFill>
          <a:blip r:embed="rId3">
            <a:alphaModFix/>
          </a:blip>
          <a:stretch>
            <a:fillRect/>
          </a:stretch>
        </p:blipFill>
        <p:spPr>
          <a:xfrm>
            <a:off x="152400" y="829080"/>
            <a:ext cx="5025166" cy="41620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6" name="Google Shape;21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17" name="Google Shape;217;p22"/>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18" name="Google Shape;218;p22"/>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19" name="Google Shape;219;p22"/>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R5 Technical Lead</a:t>
            </a:r>
            <a:endParaRPr/>
          </a:p>
        </p:txBody>
      </p:sp>
      <p:sp>
        <p:nvSpPr>
          <p:cNvPr id="220" name="Google Shape;220;p22"/>
          <p:cNvSpPr/>
          <p:nvPr/>
        </p:nvSpPr>
        <p:spPr>
          <a:xfrm>
            <a:off x="5373930" y="1123439"/>
            <a:ext cx="54900" cy="3401700"/>
          </a:xfrm>
          <a:prstGeom prst="rect">
            <a:avLst/>
          </a:prstGeom>
          <a:solidFill>
            <a:srgbClr val="2FB344"/>
          </a:solidFill>
          <a:ln cap="flat" cmpd="sng" w="9525">
            <a:solidFill>
              <a:srgbClr val="2FB3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1" name="Google Shape;221;p22"/>
          <p:cNvSpPr/>
          <p:nvPr/>
        </p:nvSpPr>
        <p:spPr>
          <a:xfrm>
            <a:off x="5428794" y="1116581"/>
            <a:ext cx="3182100" cy="3415200"/>
          </a:xfrm>
          <a:prstGeom prst="roundRect">
            <a:avLst>
              <a:gd fmla="val 2586"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2" name="Google Shape;222;p22"/>
          <p:cNvSpPr/>
          <p:nvPr/>
        </p:nvSpPr>
        <p:spPr>
          <a:xfrm>
            <a:off x="5682549" y="1356600"/>
            <a:ext cx="23133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lang="zh-CN">
                <a:solidFill>
                  <a:srgbClr val="071A34"/>
                </a:solidFill>
              </a:rPr>
              <a:t>NASDAQ 100 (NDX)</a:t>
            </a:r>
            <a:endParaRPr b="0" i="0" sz="1400" u="none" cap="none" strike="noStrike">
              <a:solidFill>
                <a:srgbClr val="000000"/>
              </a:solidFill>
              <a:latin typeface="Arial"/>
              <a:ea typeface="Arial"/>
              <a:cs typeface="Arial"/>
              <a:sym typeface="Arial"/>
            </a:endParaRPr>
          </a:p>
        </p:txBody>
      </p:sp>
      <p:sp>
        <p:nvSpPr>
          <p:cNvPr id="223" name="Google Shape;223;p22"/>
          <p:cNvSpPr/>
          <p:nvPr/>
        </p:nvSpPr>
        <p:spPr>
          <a:xfrm>
            <a:off x="5648250" y="1651505"/>
            <a:ext cx="2674500" cy="2606100"/>
          </a:xfrm>
          <a:prstGeom prst="rect">
            <a:avLst/>
          </a:prstGeom>
          <a:noFill/>
          <a:ln>
            <a:noFill/>
          </a:ln>
        </p:spPr>
        <p:txBody>
          <a:bodyPr anchorCtr="0" anchor="t" bIns="200" lIns="200" spcFirstLastPara="1" rIns="200" wrap="square" tIns="200">
            <a:noAutofit/>
          </a:bodyPr>
          <a:lstStyle/>
          <a:p>
            <a:pPr indent="0" lvl="0" marL="0" rtl="0" algn="l">
              <a:lnSpc>
                <a:spcPct val="115000"/>
              </a:lnSpc>
              <a:spcBef>
                <a:spcPts val="1200"/>
              </a:spcBef>
              <a:spcAft>
                <a:spcPts val="0"/>
              </a:spcAft>
              <a:buNone/>
            </a:pPr>
            <a:r>
              <a:rPr b="1" lang="zh-CN" sz="1100">
                <a:solidFill>
                  <a:schemeClr val="dk1"/>
                </a:solidFill>
              </a:rPr>
              <a:t>Current Trend:</a:t>
            </a:r>
            <a:r>
              <a:rPr lang="zh-CN" sz="1100">
                <a:solidFill>
                  <a:schemeClr val="dk1"/>
                </a:solidFill>
              </a:rPr>
              <a:t> Bullish / Recovery</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sz="1100">
                <a:solidFill>
                  <a:schemeClr val="dk1"/>
                </a:solidFill>
              </a:rPr>
              <a:t>Close Price:</a:t>
            </a:r>
            <a:r>
              <a:rPr lang="zh-CN" sz="1100">
                <a:solidFill>
                  <a:schemeClr val="dk1"/>
                </a:solidFill>
              </a:rPr>
              <a:t> 29,720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8-Day EMA:</a:t>
            </a:r>
            <a:r>
              <a:rPr lang="zh-CN" sz="1100">
                <a:solidFill>
                  <a:schemeClr val="dk1"/>
                </a:solidFill>
              </a:rPr>
              <a:t> 29,680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21-Day EMA:</a:t>
            </a:r>
            <a:r>
              <a:rPr lang="zh-CN" sz="1100">
                <a:solidFill>
                  <a:schemeClr val="dk1"/>
                </a:solidFill>
              </a:rPr>
              <a:t> 29,610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Support Level:</a:t>
            </a:r>
            <a:r>
              <a:rPr lang="zh-CN" sz="1100">
                <a:solidFill>
                  <a:schemeClr val="dk1"/>
                </a:solidFill>
              </a:rPr>
              <a:t> 29,600–29,650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Resistance Level:</a:t>
            </a:r>
            <a:r>
              <a:rPr lang="zh-CN" sz="1100">
                <a:solidFill>
                  <a:schemeClr val="dk1"/>
                </a:solidFill>
              </a:rPr>
              <a:t> 29,900–30,000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Technical Bias:</a:t>
            </a:r>
            <a:r>
              <a:rPr lang="zh-CN" sz="1100">
                <a:solidFill>
                  <a:schemeClr val="dk1"/>
                </a:solidFill>
              </a:rPr>
              <a:t> Moderately Bullish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sz="1100">
                <a:solidFill>
                  <a:schemeClr val="dk1"/>
                </a:solidFill>
              </a:rPr>
              <a:t>Confidence:</a:t>
            </a:r>
            <a:r>
              <a:rPr lang="zh-CN" sz="1100">
                <a:solidFill>
                  <a:schemeClr val="dk1"/>
                </a:solidFill>
              </a:rPr>
              <a:t> 70% (Medium-High)</a:t>
            </a:r>
            <a:endParaRPr b="1" sz="1100">
              <a:solidFill>
                <a:schemeClr val="dk1"/>
              </a:solidFill>
            </a:endParaRPr>
          </a:p>
          <a:p>
            <a:pPr indent="0" lvl="0" marL="0" marR="0" rtl="0" algn="l">
              <a:lnSpc>
                <a:spcPct val="150000"/>
              </a:lnSpc>
              <a:spcBef>
                <a:spcPts val="1200"/>
              </a:spcBef>
              <a:spcAft>
                <a:spcPts val="0"/>
              </a:spcAft>
              <a:buClr>
                <a:srgbClr val="071A34"/>
              </a:buClr>
              <a:buSzPts val="900"/>
              <a:buFont typeface="Arial"/>
              <a:buNone/>
            </a:pPr>
            <a:r>
              <a:t/>
            </a:r>
            <a:endParaRPr sz="1200">
              <a:solidFill>
                <a:srgbClr val="595959"/>
              </a:solidFill>
            </a:endParaRPr>
          </a:p>
        </p:txBody>
      </p:sp>
      <p:pic>
        <p:nvPicPr>
          <p:cNvPr id="224" name="Google Shape;224;p22"/>
          <p:cNvPicPr preferRelativeResize="0"/>
          <p:nvPr/>
        </p:nvPicPr>
        <p:blipFill>
          <a:blip r:embed="rId3">
            <a:alphaModFix/>
          </a:blip>
          <a:stretch>
            <a:fillRect/>
          </a:stretch>
        </p:blipFill>
        <p:spPr>
          <a:xfrm>
            <a:off x="384049" y="1123450"/>
            <a:ext cx="4601326" cy="3714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0" name="Google Shape;230;p23"/>
          <p:cNvPicPr preferRelativeResize="0"/>
          <p:nvPr/>
        </p:nvPicPr>
        <p:blipFill>
          <a:blip r:embed="rId3">
            <a:alphaModFix/>
          </a:blip>
          <a:stretch>
            <a:fillRect/>
          </a:stretch>
        </p:blipFill>
        <p:spPr>
          <a:xfrm>
            <a:off x="250950" y="1225300"/>
            <a:ext cx="8031301" cy="1923400"/>
          </a:xfrm>
          <a:prstGeom prst="rect">
            <a:avLst/>
          </a:prstGeom>
          <a:noFill/>
          <a:ln>
            <a:noFill/>
          </a:ln>
        </p:spPr>
      </p:pic>
      <p:sp>
        <p:nvSpPr>
          <p:cNvPr id="231" name="Google Shape;231;p23"/>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None/>
            </a:pPr>
            <a:r>
              <a:rPr b="1" lang="zh-CN" sz="1500">
                <a:solidFill>
                  <a:srgbClr val="FFFFFF"/>
                </a:solidFill>
              </a:rPr>
              <a:t>   R8 LLM Operator</a:t>
            </a:r>
            <a:endParaRPr/>
          </a:p>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35" name="Shape 235"/>
        <p:cNvGrpSpPr/>
        <p:nvPr/>
      </p:nvGrpSpPr>
      <p:grpSpPr>
        <a:xfrm>
          <a:off x="0" y="0"/>
          <a:ext cx="0" cy="0"/>
          <a:chOff x="0" y="0"/>
          <a:chExt cx="0" cy="0"/>
        </a:xfrm>
      </p:grpSpPr>
      <p:sp>
        <p:nvSpPr>
          <p:cNvPr id="236" name="Google Shape;236;p24"/>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24"/>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24"/>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R7 Human Score</a:t>
            </a:r>
            <a:endParaRPr/>
          </a:p>
        </p:txBody>
      </p:sp>
      <p:sp>
        <p:nvSpPr>
          <p:cNvPr id="239" name="Google Shape;239;p24"/>
          <p:cNvSpPr txBox="1"/>
          <p:nvPr/>
        </p:nvSpPr>
        <p:spPr>
          <a:xfrm>
            <a:off x="457200" y="822960"/>
            <a:ext cx="36576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zh-CN" sz="2200">
                <a:solidFill>
                  <a:schemeClr val="dk1"/>
                </a:solidFill>
                <a:latin typeface="Calibri"/>
                <a:ea typeface="Calibri"/>
                <a:cs typeface="Calibri"/>
                <a:sym typeface="Calibri"/>
              </a:rPr>
              <a:t>Human Score Dashboard</a:t>
            </a:r>
            <a:endParaRPr/>
          </a:p>
        </p:txBody>
      </p:sp>
      <p:sp>
        <p:nvSpPr>
          <p:cNvPr id="240" name="Google Shape;240;p24"/>
          <p:cNvSpPr/>
          <p:nvPr/>
        </p:nvSpPr>
        <p:spPr>
          <a:xfrm>
            <a:off x="36576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zh-CN">
                <a:solidFill>
                  <a:schemeClr val="dk1"/>
                </a:solidFill>
                <a:latin typeface="Calibri"/>
                <a:ea typeface="Calibri"/>
                <a:cs typeface="Calibri"/>
                <a:sym typeface="Calibri"/>
              </a:rPr>
              <a:t>   </a:t>
            </a:r>
            <a:r>
              <a:rPr b="1" lang="zh-CN" sz="1200">
                <a:solidFill>
                  <a:schemeClr val="dk1"/>
                </a:solidFill>
                <a:latin typeface="Calibri"/>
                <a:ea typeface="Calibri"/>
                <a:cs typeface="Calibri"/>
                <a:sym typeface="Calibri"/>
              </a:rPr>
              <a:t>Macro / News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          ( +1 )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-Fed hold still likely</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-Equities higher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-Lower VIX</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-Hawkish risk remains</a:t>
            </a:r>
            <a:endParaRPr b="1"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41" name="Google Shape;241;p24"/>
          <p:cNvSpPr/>
          <p:nvPr/>
        </p:nvSpPr>
        <p:spPr>
          <a:xfrm>
            <a:off x="210312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       </a:t>
            </a:r>
            <a:r>
              <a:rPr b="1" lang="zh-CN" sz="1200">
                <a:solidFill>
                  <a:schemeClr val="dk1"/>
                </a:solidFill>
                <a:latin typeface="Calibri"/>
                <a:ea typeface="Calibri"/>
                <a:cs typeface="Calibri"/>
                <a:sym typeface="Calibri"/>
              </a:rPr>
              <a:t>Technical</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           (+1)</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-Above 8 &amp; 21 EMA</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-Bullish SPX &amp; IWM</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-NDX early recovery</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-Medium confidence</a:t>
            </a:r>
            <a:endParaRPr b="1"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2" name="Google Shape;242;p24"/>
          <p:cNvSpPr/>
          <p:nvPr/>
        </p:nvSpPr>
        <p:spPr>
          <a:xfrm>
            <a:off x="3840479"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a:solidFill>
                  <a:schemeClr val="dk1"/>
                </a:solidFill>
                <a:latin typeface="Calibri"/>
                <a:ea typeface="Calibri"/>
                <a:cs typeface="Calibri"/>
                <a:sym typeface="Calibri"/>
              </a:rPr>
              <a:t>        </a:t>
            </a:r>
            <a:r>
              <a:rPr b="1" lang="zh-CN" sz="1300">
                <a:solidFill>
                  <a:schemeClr val="dk1"/>
                </a:solidFill>
                <a:latin typeface="Calibri"/>
                <a:ea typeface="Calibri"/>
                <a:cs typeface="Calibri"/>
                <a:sym typeface="Calibri"/>
              </a:rPr>
              <a:t>Almanac</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            (+1)</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-July seasonality</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-XLK still LONG</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-Neutral-Bullish</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-Better than June</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a:solidFill>
                <a:schemeClr val="dk1"/>
              </a:solidFill>
              <a:latin typeface="Calibri"/>
              <a:ea typeface="Calibri"/>
              <a:cs typeface="Calibri"/>
              <a:sym typeface="Calibri"/>
            </a:endParaRPr>
          </a:p>
        </p:txBody>
      </p:sp>
      <p:sp>
        <p:nvSpPr>
          <p:cNvPr id="243" name="Google Shape;243;p24"/>
          <p:cNvSpPr/>
          <p:nvPr/>
        </p:nvSpPr>
        <p:spPr>
          <a:xfrm>
            <a:off x="557784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a:solidFill>
                  <a:schemeClr val="dk1"/>
                </a:solidFill>
                <a:latin typeface="Calibri"/>
                <a:ea typeface="Calibri"/>
                <a:cs typeface="Calibri"/>
                <a:sym typeface="Calibri"/>
              </a:rPr>
              <a:t>    </a:t>
            </a:r>
            <a:r>
              <a:rPr b="1" lang="zh-CN" sz="1300">
                <a:solidFill>
                  <a:schemeClr val="dk1"/>
                </a:solidFill>
                <a:latin typeface="Calibri"/>
                <a:ea typeface="Calibri"/>
                <a:cs typeface="Calibri"/>
                <a:sym typeface="Calibri"/>
              </a:rPr>
              <a:t>AI Agreement</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             (0)</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-No AI comparison</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-Human review</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latin typeface="Calibri"/>
                <a:ea typeface="Calibri"/>
                <a:cs typeface="Calibri"/>
                <a:sym typeface="Calibri"/>
              </a:rPr>
              <a:t>-Neutral score</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a:solidFill>
                <a:schemeClr val="dk1"/>
              </a:solidFill>
              <a:latin typeface="Calibri"/>
              <a:ea typeface="Calibri"/>
              <a:cs typeface="Calibri"/>
              <a:sym typeface="Calibri"/>
            </a:endParaRPr>
          </a:p>
        </p:txBody>
      </p:sp>
      <p:sp>
        <p:nvSpPr>
          <p:cNvPr id="244" name="Google Shape;244;p24"/>
          <p:cNvSpPr/>
          <p:nvPr/>
        </p:nvSpPr>
        <p:spPr>
          <a:xfrm>
            <a:off x="731520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sz="15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500">
                <a:solidFill>
                  <a:schemeClr val="dk1"/>
                </a:solidFill>
                <a:latin typeface="Calibri"/>
                <a:ea typeface="Calibri"/>
                <a:cs typeface="Calibri"/>
                <a:sym typeface="Calibri"/>
              </a:rPr>
              <a:t>      </a:t>
            </a:r>
            <a:r>
              <a:rPr b="1" lang="zh-CN" sz="1100">
                <a:solidFill>
                  <a:schemeClr val="dk1"/>
                </a:solidFill>
                <a:latin typeface="Calibri"/>
                <a:ea typeface="Calibri"/>
                <a:cs typeface="Calibri"/>
                <a:sym typeface="Calibri"/>
              </a:rPr>
              <a:t>Wild Card</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100">
                <a:solidFill>
                  <a:schemeClr val="dk1"/>
                </a:solidFill>
                <a:latin typeface="Calibri"/>
                <a:ea typeface="Calibri"/>
                <a:cs typeface="Calibri"/>
                <a:sym typeface="Calibri"/>
              </a:rPr>
              <a:t>           (+1)</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100">
                <a:solidFill>
                  <a:schemeClr val="dk1"/>
                </a:solidFill>
                <a:latin typeface="Calibri"/>
                <a:ea typeface="Calibri"/>
                <a:cs typeface="Calibri"/>
                <a:sym typeface="Calibri"/>
              </a:rPr>
              <a:t>-Technology leadership</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100">
                <a:solidFill>
                  <a:schemeClr val="dk1"/>
                </a:solidFill>
                <a:latin typeface="Calibri"/>
                <a:ea typeface="Calibri"/>
                <a:cs typeface="Calibri"/>
                <a:sym typeface="Calibri"/>
              </a:rPr>
              <a:t>-Market resilience</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100">
                <a:solidFill>
                  <a:schemeClr val="dk1"/>
                </a:solidFill>
                <a:latin typeface="Calibri"/>
                <a:ea typeface="Calibri"/>
                <a:cs typeface="Calibri"/>
                <a:sym typeface="Calibri"/>
              </a:rPr>
              <a:t>-AI investment</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100">
                <a:solidFill>
                  <a:schemeClr val="dk1"/>
                </a:solidFill>
                <a:latin typeface="Calibri"/>
                <a:ea typeface="Calibri"/>
                <a:cs typeface="Calibri"/>
                <a:sym typeface="Calibri"/>
              </a:rPr>
              <a:t>-Strong momentum</a:t>
            </a:r>
            <a:endParaRPr b="1"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300">
              <a:solidFill>
                <a:schemeClr val="dk1"/>
              </a:solidFill>
              <a:latin typeface="Calibri"/>
              <a:ea typeface="Calibri"/>
              <a:cs typeface="Calibri"/>
              <a:sym typeface="Calibri"/>
            </a:endParaRPr>
          </a:p>
        </p:txBody>
      </p:sp>
      <p:sp>
        <p:nvSpPr>
          <p:cNvPr id="245" name="Google Shape;245;p24"/>
          <p:cNvSpPr/>
          <p:nvPr/>
        </p:nvSpPr>
        <p:spPr>
          <a:xfrm>
            <a:off x="2740342" y="3108960"/>
            <a:ext cx="3353400" cy="4572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zh-CN" sz="1600">
                <a:solidFill>
                  <a:schemeClr val="lt1"/>
                </a:solidFill>
                <a:latin typeface="Calibri"/>
                <a:ea typeface="Calibri"/>
                <a:cs typeface="Calibri"/>
                <a:sym typeface="Calibri"/>
              </a:rPr>
              <a:t>TOTAL SCORE: +4 (NEUTRAL-BULLISH)</a:t>
            </a:r>
            <a:endParaRPr/>
          </a:p>
        </p:txBody>
      </p:sp>
      <p:sp>
        <p:nvSpPr>
          <p:cNvPr id="246" name="Google Shape;246;p24"/>
          <p:cNvSpPr txBox="1"/>
          <p:nvPr/>
        </p:nvSpPr>
        <p:spPr>
          <a:xfrm>
            <a:off x="1301325" y="3831625"/>
            <a:ext cx="6921900" cy="1006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b="1" lang="zh-CN" sz="1800">
                <a:solidFill>
                  <a:schemeClr val="dk1"/>
                </a:solidFill>
                <a:latin typeface="Calibri"/>
                <a:ea typeface="Calibri"/>
                <a:cs typeface="Calibri"/>
                <a:sym typeface="Calibri"/>
              </a:rPr>
              <a:t>Bullish technical momentum and favorable July seasonality support equities, while rising Treasury yields and hawkish Fed expectations remain the main risks. </a:t>
            </a:r>
            <a:endParaRPr b="1"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50" name="Shape 250"/>
        <p:cNvGrpSpPr/>
        <p:nvPr/>
      </p:nvGrpSpPr>
      <p:grpSpPr>
        <a:xfrm>
          <a:off x="0" y="0"/>
          <a:ext cx="0" cy="0"/>
          <a:chOff x="0" y="0"/>
          <a:chExt cx="0" cy="0"/>
        </a:xfrm>
      </p:grpSpPr>
      <p:sp>
        <p:nvSpPr>
          <p:cNvPr id="251" name="Google Shape;251;p25"/>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25"/>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25"/>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R7 Human Score</a:t>
            </a:r>
            <a:endParaRPr/>
          </a:p>
        </p:txBody>
      </p:sp>
      <p:sp>
        <p:nvSpPr>
          <p:cNvPr id="254" name="Google Shape;254;p25"/>
          <p:cNvSpPr/>
          <p:nvPr/>
        </p:nvSpPr>
        <p:spPr>
          <a:xfrm>
            <a:off x="3291840" y="822960"/>
            <a:ext cx="1828800" cy="4116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zh-CN" sz="1600">
                <a:solidFill>
                  <a:schemeClr val="lt1"/>
                </a:solidFill>
                <a:latin typeface="Calibri"/>
                <a:ea typeface="Calibri"/>
                <a:cs typeface="Calibri"/>
                <a:sym typeface="Calibri"/>
              </a:rPr>
              <a:t>HUMAN OVERRIDE</a:t>
            </a:r>
            <a:endParaRPr/>
          </a:p>
        </p:txBody>
      </p:sp>
      <p:sp>
        <p:nvSpPr>
          <p:cNvPr id="255" name="Google Shape;255;p25"/>
          <p:cNvSpPr/>
          <p:nvPr/>
        </p:nvSpPr>
        <p:spPr>
          <a:xfrm>
            <a:off x="36576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AI CONSENSUS</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Bullish technical trend</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Economic resilience</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July seasonality</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Technology leadership</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Neutral-Bullish</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25"/>
          <p:cNvSpPr/>
          <p:nvPr/>
        </p:nvSpPr>
        <p:spPr>
          <a:xfrm>
            <a:off x="457200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HUMAN ADJUSTMENT</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High Treasury yields</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Hawkish Fed risk</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Rising oil prices</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Inflation pressure</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257" name="Google Shape;257;p25"/>
          <p:cNvSpPr/>
          <p:nvPr/>
        </p:nvSpPr>
        <p:spPr>
          <a:xfrm>
            <a:off x="731520" y="3749039"/>
            <a:ext cx="7315200" cy="6402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zh-CN" sz="1600">
                <a:solidFill>
                  <a:schemeClr val="lt1"/>
                </a:solidFill>
                <a:latin typeface="Calibri"/>
                <a:ea typeface="Calibri"/>
                <a:cs typeface="Calibri"/>
                <a:sym typeface="Calibri"/>
              </a:rPr>
              <a:t>FINAL VIEW: Bullish momentum and stronger July seasonality support the market, but higher yields and hawkish Fed expectations keep the outlook Neutral-Bullish.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61" name="Shape 261"/>
        <p:cNvGrpSpPr/>
        <p:nvPr/>
      </p:nvGrpSpPr>
      <p:grpSpPr>
        <a:xfrm>
          <a:off x="0" y="0"/>
          <a:ext cx="0" cy="0"/>
          <a:chOff x="0" y="0"/>
          <a:chExt cx="0" cy="0"/>
        </a:xfrm>
      </p:grpSpPr>
      <p:sp>
        <p:nvSpPr>
          <p:cNvPr id="262" name="Google Shape;262;p2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 name="Google Shape;263;p26"/>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p2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R10 QA Lead</a:t>
            </a:r>
            <a:endParaRPr/>
          </a:p>
        </p:txBody>
      </p:sp>
      <p:sp>
        <p:nvSpPr>
          <p:cNvPr id="265" name="Google Shape;265;p26"/>
          <p:cNvSpPr txBox="1"/>
          <p:nvPr/>
        </p:nvSpPr>
        <p:spPr>
          <a:xfrm>
            <a:off x="475488" y="877824"/>
            <a:ext cx="45720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800">
                <a:solidFill>
                  <a:srgbClr val="08172E"/>
                </a:solidFill>
              </a:rPr>
              <a:t>No prediction from the previous week</a:t>
            </a:r>
            <a:endParaRPr/>
          </a:p>
        </p:txBody>
      </p:sp>
      <p:sp>
        <p:nvSpPr>
          <p:cNvPr id="266" name="Google Shape;266;p26"/>
          <p:cNvSpPr/>
          <p:nvPr/>
        </p:nvSpPr>
        <p:spPr>
          <a:xfrm>
            <a:off x="713225" y="2313425"/>
            <a:ext cx="7635300" cy="11328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26"/>
          <p:cNvSpPr/>
          <p:nvPr/>
        </p:nvSpPr>
        <p:spPr>
          <a:xfrm>
            <a:off x="713225" y="2313425"/>
            <a:ext cx="73200" cy="1132800"/>
          </a:xfrm>
          <a:prstGeom prst="rect">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p26"/>
          <p:cNvSpPr txBox="1"/>
          <p:nvPr/>
        </p:nvSpPr>
        <p:spPr>
          <a:xfrm>
            <a:off x="850392" y="2404872"/>
            <a:ext cx="74067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08172E"/>
                </a:solidFill>
              </a:rPr>
              <a:t>Tasks for future weeks:</a:t>
            </a:r>
            <a:endParaRPr/>
          </a:p>
        </p:txBody>
      </p:sp>
      <p:sp>
        <p:nvSpPr>
          <p:cNvPr id="269" name="Google Shape;269;p26"/>
          <p:cNvSpPr txBox="1"/>
          <p:nvPr/>
        </p:nvSpPr>
        <p:spPr>
          <a:xfrm>
            <a:off x="850392" y="2697480"/>
            <a:ext cx="7406700" cy="708000"/>
          </a:xfrm>
          <a:prstGeom prst="rect">
            <a:avLst/>
          </a:prstGeom>
          <a:noFill/>
          <a:ln>
            <a:noFill/>
          </a:ln>
        </p:spPr>
        <p:txBody>
          <a:bodyPr anchorCtr="0" anchor="t" bIns="45700" lIns="45700" spcFirstLastPara="1" rIns="45700" wrap="square" tIns="45700">
            <a:spAutoFit/>
          </a:bodyPr>
          <a:lstStyle/>
          <a:p>
            <a:pPr indent="-292100" lvl="0" marL="457200" marR="0" rtl="0" algn="l">
              <a:spcBef>
                <a:spcPts val="0"/>
              </a:spcBef>
              <a:spcAft>
                <a:spcPts val="0"/>
              </a:spcAft>
              <a:buClr>
                <a:srgbClr val="56657D"/>
              </a:buClr>
              <a:buSzPts val="1000"/>
              <a:buChar char="●"/>
            </a:pPr>
            <a:r>
              <a:rPr lang="zh-CN" sz="1000">
                <a:solidFill>
                  <a:srgbClr val="56657D"/>
                </a:solidFill>
              </a:rPr>
              <a:t>Refine the calibration criteria</a:t>
            </a:r>
            <a:endParaRPr sz="1000">
              <a:solidFill>
                <a:srgbClr val="56657D"/>
              </a:solidFill>
            </a:endParaRPr>
          </a:p>
          <a:p>
            <a:pPr indent="-292100" lvl="0" marL="457200" marR="0" rtl="0" algn="l">
              <a:spcBef>
                <a:spcPts val="0"/>
              </a:spcBef>
              <a:spcAft>
                <a:spcPts val="0"/>
              </a:spcAft>
              <a:buClr>
                <a:srgbClr val="56657D"/>
              </a:buClr>
              <a:buSzPts val="1000"/>
              <a:buChar char="●"/>
            </a:pPr>
            <a:r>
              <a:rPr lang="zh-CN" sz="1000">
                <a:solidFill>
                  <a:srgbClr val="56657D"/>
                </a:solidFill>
              </a:rPr>
              <a:t>Verify the evaluation thresholds for different market conditions</a:t>
            </a:r>
            <a:endParaRPr sz="1000">
              <a:solidFill>
                <a:srgbClr val="56657D"/>
              </a:solidFill>
            </a:endParaRPr>
          </a:p>
          <a:p>
            <a:pPr indent="-292100" lvl="0" marL="457200" marR="0" rtl="0" algn="l">
              <a:spcBef>
                <a:spcPts val="0"/>
              </a:spcBef>
              <a:spcAft>
                <a:spcPts val="0"/>
              </a:spcAft>
              <a:buClr>
                <a:srgbClr val="56657D"/>
              </a:buClr>
              <a:buSzPts val="1000"/>
              <a:buChar char="●"/>
            </a:pPr>
            <a:r>
              <a:rPr lang="zh-CN" sz="1000">
                <a:solidFill>
                  <a:srgbClr val="56657D"/>
                </a:solidFill>
              </a:rPr>
              <a:t>Ensure that scoring remains fair and accurate across all prediction results</a:t>
            </a:r>
            <a:endParaRPr sz="1000">
              <a:solidFill>
                <a:srgbClr val="56657D"/>
              </a:solidFill>
            </a:endParaRPr>
          </a:p>
          <a:p>
            <a:pPr indent="-292100" lvl="0" marL="457200" marR="0" rtl="0" algn="l">
              <a:spcBef>
                <a:spcPts val="0"/>
              </a:spcBef>
              <a:spcAft>
                <a:spcPts val="0"/>
              </a:spcAft>
              <a:buClr>
                <a:srgbClr val="56657D"/>
              </a:buClr>
              <a:buSzPts val="1000"/>
              <a:buChar char="●"/>
            </a:pPr>
            <a:r>
              <a:rPr lang="zh-CN" sz="1000">
                <a:solidFill>
                  <a:srgbClr val="56657D"/>
                </a:solidFill>
              </a:rPr>
              <a:t>Monitor the system to ensure the automated process produces reliable outcomes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