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E8BD2B-F706-4D05-9967-F8E5D5D35CF0}">
  <a:tblStyle styleId="{48E8BD2B-F706-4D05-9967-F8E5D5D35CF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E6DD6BA8-A4C4-41E5-92F2-42DC04A6CF2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db06e6add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db06e6ad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db06e6add_0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For this sprint, the main focus was agent automation.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Last week’s calibration result was +13, an impressive but grounded number as our team got all 6 predictions correct. For Week 5, we planned to make the evidence pipeline more reliable and repeatable.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primary question was whether we could automate the agents enough to support the forecast process. For W25, the output needed to cover three indexes — SPX, NDX, and IWM — plus five sectors: Technology, Energy, Financials, Utilities, and Materials.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sprint goal was to automate the Almanac and Technical agents so they produce structured evidence, instead of relying on manual notes. We also aimed to automate the calibration log using the existing W22 scoring rule, so the process stays consistent with previous weeks.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“Done Means” section defines the acceptance criteria. The Almanac and Technical agents must generate structured outputs, the coverage must include all required indexes and sectors, the GitHub Actions workflow must be able to run manually and on schedule, and the W25 prediction must clearly use the automated evidence.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So the main product outcome here is not just the forecast itself. It is a more repeatable workflow that makes future weekly predictions easier to produce and easier to audit.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50" name="Google Shape;150;g3edb06e6add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e1aa3ea40_1_11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The overall team view is neutral-bullish. For the three main indexes, we are forecasting SPX, NDX, and IWM to move up, but with medium confidence rather than high confidence. NDX has the strongest index range because technology and AI-related names are still showing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For sectors, Technology is the highest-conviction positive call. XLK is forecast up 1.0% to 2.5% with medium-high confidence because the macro and technical evidence both support continued technology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Energy is the weakest call. XLE is forecast down because crude oil weakness and negative seasonal factors are creating pressure on the sector.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Financials and Materials are both neutral-to-up. They have some support from resilient growth and market sentiment, but not enough to make them as strong as Technology. Utilities are neutral because they have defensive support, but they are not showing strong leadership.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key assumption is that AI and technology leadership, together with resilient economic growth, can offset the weak W25 seasonal pattern. The main risk trigger is hotter-than-expected PCE inflation or a more hawkish Fed shift. Technically, the forecast also weakens if SPX falls below its 8-day and 21-day EMAs.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The evidence lock shows the main contradiction clearly: the Almanac is bearish for W25 seasonality, but macro and technical evidence are more constructive. That is why the final forecast is neutral-bullish, not fully bullish.</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76" name="Google Shape;176;g3ee1aa3ea40_1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e1aff9144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Hi everyone, I’m reporting on the Week W24 Market Actuals Audit.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Key Highlights:</a:t>
            </a:r>
            <a:endParaRPr/>
          </a:p>
          <a:p>
            <a:pPr indent="0" lvl="0" marL="0" rtl="0" algn="l">
              <a:spcBef>
                <a:spcPts val="0"/>
              </a:spcBef>
              <a:spcAft>
                <a:spcPts val="0"/>
              </a:spcAft>
              <a:buClr>
                <a:schemeClr val="dk1"/>
              </a:buClr>
              <a:buSzPts val="1100"/>
              <a:buFont typeface="Arial"/>
              <a:buNone/>
            </a:pPr>
            <a:r>
              <a:rPr lang="en-GB"/>
              <a:t>This week, our W24 predictive model delivered a flawless 100% Hit Rate, successfully capturing the directional moves of all 6 primary assets.</a:t>
            </a:r>
            <a:endParaRPr/>
          </a:p>
          <a:p>
            <a:pPr indent="0" lvl="0" marL="0" rtl="0" algn="l">
              <a:spcBef>
                <a:spcPts val="0"/>
              </a:spcBef>
              <a:spcAft>
                <a:spcPts val="0"/>
              </a:spcAft>
              <a:buClr>
                <a:schemeClr val="dk1"/>
              </a:buClr>
              <a:buSzPts val="1100"/>
              <a:buFont typeface="Arial"/>
              <a:buNone/>
            </a:pPr>
            <a:r>
              <a:rPr lang="en-GB"/>
              <a:t>The standout performers were the Nasdaq 100 and the Technology sector (XLK), which surged 3.49% and 4.48% respectively, fully vindicating our high-conviction 'Up' calls. Additionally, our tactical short on Energy (XLE) was perfectly timed as the sector plummeted 5.32%, exactly as forecasted.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Closing:</a:t>
            </a:r>
            <a:endParaRPr/>
          </a:p>
          <a:p>
            <a:pPr indent="0" lvl="0" marL="0" rtl="0" algn="l">
              <a:spcBef>
                <a:spcPts val="0"/>
              </a:spcBef>
              <a:spcAft>
                <a:spcPts val="0"/>
              </a:spcAft>
              <a:buClr>
                <a:schemeClr val="dk1"/>
              </a:buClr>
              <a:buSzPts val="1100"/>
              <a:buFont typeface="Arial"/>
              <a:buNone/>
            </a:pPr>
            <a:r>
              <a:rPr lang="en-GB"/>
              <a:t>All data points have been cross-verified against our W25 automated ledger, ensuring total transparency and evidence-based reporting. This perfect calibration sets a strong foundation for our next cycle. Thank you.</a:t>
            </a:r>
            <a:endParaRPr/>
          </a:p>
          <a:p>
            <a:pPr indent="0" lvl="0" marL="0" rtl="0" algn="l">
              <a:spcBef>
                <a:spcPts val="0"/>
              </a:spcBef>
              <a:spcAft>
                <a:spcPts val="0"/>
              </a:spcAft>
              <a:buNone/>
            </a:pPr>
            <a:r>
              <a:t/>
            </a:r>
            <a:endParaRPr/>
          </a:p>
        </p:txBody>
      </p:sp>
      <p:sp>
        <p:nvSpPr>
          <p:cNvPr id="225" name="Google Shape;225;g3ee1aff9144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db06e6add_0_3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This slide shows the seasonal analysis from the Stock Trader’s Almanac.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First, 2026 is a U.S. midterm election year. In history, the market is usually weaker during the middle part of the year, so late June is still a cautious period.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Second, the June statistics show that the S&amp;P 500 has a low seasonal ranking and a negative average return in midterm years. NASDAQ and Russell 2000 perform a little better, but the overall picture is still mixed.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For sector signals, Technology and Utilities have positive seasonal patterns, while Financials, Energy, and Materials remain weaker and have short signals.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t>Based on these results, our Almanac view is bearish to neutral with medium confidence. We suggest staying cautious while paying more attention to the Technology sector.</a:t>
            </a:r>
            <a:endParaRPr/>
          </a:p>
          <a:p>
            <a:pPr indent="0" lvl="0" marL="0" rtl="0" algn="l">
              <a:spcBef>
                <a:spcPts val="0"/>
              </a:spcBef>
              <a:spcAft>
                <a:spcPts val="0"/>
              </a:spcAft>
              <a:buNone/>
            </a:pPr>
            <a:r>
              <a:t/>
            </a:r>
            <a:endParaRPr/>
          </a:p>
        </p:txBody>
      </p:sp>
      <p:sp>
        <p:nvSpPr>
          <p:cNvPr id="248" name="Google Shape;248;g3edb06e6add_0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db06e6add_0_5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Good morning everyone. I am the R4 Macro Lead for Week 25.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My overall macro thesis this week is moderately bullish, but the key risks remain the Federal Reserve and inflation.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on the macro side, the FedWatch data shows that markets assign a 61.5% probability of no change at the July meeting, but there is still a 38.5% probability of a hike-risk scenario. This means the market is not fully comfortable with inflation yet. At the same time, the upcoming Core PCE figure is expected around 0.2% month-over-month, which would support the soft-landing narrative if confirmed.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growth backdrop is still resilient. PMI remains in expansion territory, durable goods data still suggests underlying business investment, and jobless claims are stable around 226K. So from a macro perspective, I do not see a recession signal yet.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Second, for sector rotation, my strongest sector is Technology, XLK. Technology continues to benefit from AI infrastructure spending, stable long-term yields, and strong semiconductor leadership. Financials are neutral to bullish, supported by resilient growth, but the flatter yield curve limits upside. Materials are also neutral to bullish because manufacturing and durable goods remain supportive. Utilities are neutral, as they are defensive but not showing strong leadership. Energy is neutral to bearish, because oil weakness and weak performance in major energy names are clear short-term headwinds.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the main risks are a hotter PCE print, hawkish Fed communication, and oil-price volatility. I will also monitor PAYX for labor-market validation and SNX for AI infrastructure demand.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my final R4 view is: moderately bullish macro environment, selective leadership, with XLK as the preferred sector and Energy as the weakest near-term sector.</a:t>
            </a:r>
            <a:endParaRPr>
              <a:solidFill>
                <a:schemeClr val="dk1"/>
              </a:solidFill>
            </a:endParaRPr>
          </a:p>
          <a:p>
            <a:pPr indent="0" lvl="0" marL="0" rtl="0" algn="l">
              <a:spcBef>
                <a:spcPts val="1200"/>
              </a:spcBef>
              <a:spcAft>
                <a:spcPts val="0"/>
              </a:spcAft>
              <a:buNone/>
            </a:pPr>
            <a:r>
              <a:t/>
            </a:r>
            <a:endParaRPr/>
          </a:p>
        </p:txBody>
      </p:sp>
      <p:sp>
        <p:nvSpPr>
          <p:cNvPr id="256" name="Google Shape;256;g3edb06e6add_0_5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db06e6add_0_6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edb06e6add_0_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e24c2d88a_0_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ee24c2d88a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ee24c2d88a_0_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ee24c2d88a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db06e6add_0_75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edb06e6add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db06e6add_0_9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This week, our Human Score increased from </a:t>
            </a:r>
            <a:r>
              <a:rPr b="1" lang="en-GB">
                <a:solidFill>
                  <a:schemeClr val="dk1"/>
                </a:solidFill>
              </a:rPr>
              <a:t>+1 to +2</a:t>
            </a:r>
            <a:r>
              <a:rPr lang="en-GB">
                <a:solidFill>
                  <a:schemeClr val="dk1"/>
                </a:solidFill>
              </a:rPr>
              <a:t>, showing that market conditions have become slightly more supportive than last week. The main positives were continued economic resilience, stable long-term Treasury yields, and strong AI-related investment. Technical conditions also improved, with the S&amp;P 500, Nasdaq 100, and Russell 2000 all remaining above their 8-day and 21-day EMAs. Technology continues to be the strongest leadership sector and remains our most important bullish factor. However, June seasonality is still a headwind, especially during a Midterm Election Year and the week after Triple Witching. Taking everything together, we arrived at a </a:t>
            </a:r>
            <a:r>
              <a:rPr b="1" lang="en-GB">
                <a:solidFill>
                  <a:schemeClr val="dk1"/>
                </a:solidFill>
              </a:rPr>
              <a:t>Neutral-Bullish outlook with slightly stronger conviction than Week 24.</a:t>
            </a:r>
            <a:r>
              <a:rPr lang="en-GB">
                <a:solidFill>
                  <a:schemeClr val="dk1"/>
                </a:solidFill>
              </a:rPr>
              <a:t>  </a:t>
            </a:r>
            <a:endParaRPr>
              <a:solidFill>
                <a:schemeClr val="dk1"/>
              </a:solidFill>
            </a:endParaRPr>
          </a:p>
          <a:p>
            <a:pPr indent="0" lvl="0" marL="0" rtl="0" algn="l">
              <a:spcBef>
                <a:spcPts val="0"/>
              </a:spcBef>
              <a:spcAft>
                <a:spcPts val="0"/>
              </a:spcAft>
              <a:buNone/>
            </a:pPr>
            <a:r>
              <a:t/>
            </a:r>
            <a:endParaRPr/>
          </a:p>
        </p:txBody>
      </p:sp>
      <p:sp>
        <p:nvSpPr>
          <p:cNvPr id="313" name="Google Shape;313;g3edb06e6add_0_9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e21d3a301_8_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Overall, we agree with the AI consensus that the market outlook remains </a:t>
            </a:r>
            <a:r>
              <a:rPr b="1" lang="en-GB">
                <a:solidFill>
                  <a:schemeClr val="dk1"/>
                </a:solidFill>
              </a:rPr>
              <a:t>Neutral-Bullish</a:t>
            </a:r>
            <a:r>
              <a:rPr lang="en-GB">
                <a:solidFill>
                  <a:schemeClr val="dk1"/>
                </a:solidFill>
              </a:rPr>
              <a:t>. The AI models correctly highlighted AI infrastructure spending, resilient economic growth, stable yields, and bullish technical momentum as the key positives. However, we gave additional weight to the historical weakness often seen after June Triple Witching and the broader Midterm Election Year seasonal pattern. We also remain cautious about the upcoming PCE inflation report and the possibility of a higher-for-longer Federal Reserve environment. While Technology leadership continues to support the market, these risks could still create volatility in the short term. Because of these factors, we remain constructive but not aggressively bullish.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28" name="Google Shape;328;g3ee21d3a301_8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db06e6add_0_11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you can see from our repository status, all core deliverables from our team agents have been successfully verified and committed, bringing our project to a total of 281 commits. This includes R6's market actuals, R8's multi-LLM comparison tables, and R10's calibration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satisfy our Definition of Done (DoD), I have audited the codebase and ensured that all independent reports are cleanly archived within the </a:t>
            </a:r>
            <a:r>
              <a:rPr lang="en-GB">
                <a:solidFill>
                  <a:srgbClr val="188038"/>
                </a:solidFill>
                <a:latin typeface="Roboto Mono"/>
                <a:ea typeface="Roboto Mono"/>
                <a:cs typeface="Roboto Mono"/>
                <a:sym typeface="Roboto Mono"/>
              </a:rPr>
              <a:t>/evidence</a:t>
            </a:r>
            <a:r>
              <a:rPr lang="en-GB">
                <a:solidFill>
                  <a:schemeClr val="dk1"/>
                </a:solidFill>
              </a:rPr>
              <a:t> folder.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the official production release tag, </a:t>
            </a:r>
            <a:r>
              <a:rPr b="1" lang="en-GB">
                <a:solidFill>
                  <a:schemeClr val="dk1"/>
                </a:solidFill>
              </a:rPr>
              <a:t>'vW24'</a:t>
            </a:r>
            <a:r>
              <a:rPr lang="en-GB">
                <a:solidFill>
                  <a:schemeClr val="dk1"/>
                </a:solidFill>
              </a:rPr>
              <a:t> (或者你写的Tag名字), has been successfully deployed. I have verified via an external browser session that the release bundle is fully locked, public, and accessible for grading.</a:t>
            </a:r>
            <a:endParaRPr>
              <a:solidFill>
                <a:schemeClr val="dk1"/>
              </a:solidFill>
            </a:endParaRPr>
          </a:p>
          <a:p>
            <a:pPr indent="0" lvl="0" marL="0" rtl="0" algn="l">
              <a:spcBef>
                <a:spcPts val="1200"/>
              </a:spcBef>
              <a:spcAft>
                <a:spcPts val="0"/>
              </a:spcAft>
              <a:buNone/>
            </a:pPr>
            <a:r>
              <a:t/>
            </a:r>
            <a:endParaRPr/>
          </a:p>
        </p:txBody>
      </p:sp>
      <p:sp>
        <p:nvSpPr>
          <p:cNvPr id="339" name="Google Shape;339;g3edb06e6add_0_1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db06e6add_0_12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edb06e6add_0_1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20fbc899b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f20fbc899b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20fbc899b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f20fbc899b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db06e6add_0_135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3edb06e6add_0_1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5"/>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25"/>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132" name="Google Shape;132;p25"/>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133" name="Google Shape;133;p25"/>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1500">
                <a:solidFill>
                  <a:srgbClr val="C8D4E3"/>
                </a:solidFill>
                <a:latin typeface="Arial"/>
                <a:ea typeface="Arial"/>
                <a:cs typeface="Arial"/>
                <a:sym typeface="Arial"/>
              </a:rPr>
              <a:t>Sprint </a:t>
            </a:r>
            <a:r>
              <a:rPr lang="en-GB" sz="1500">
                <a:solidFill>
                  <a:srgbClr val="C8D4E3"/>
                </a:solidFill>
              </a:rPr>
              <a:t>5</a:t>
            </a:r>
            <a:r>
              <a:rPr lang="en-GB" sz="1500">
                <a:solidFill>
                  <a:srgbClr val="C8D4E3"/>
                </a:solidFill>
              </a:rPr>
              <a:t> - W25</a:t>
            </a:r>
            <a:r>
              <a:rPr b="0" lang="en-GB"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134" name="Google Shape;134;p25"/>
          <p:cNvSpPr/>
          <p:nvPr/>
        </p:nvSpPr>
        <p:spPr>
          <a:xfrm>
            <a:off x="621792" y="2642616"/>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The Bao Le</a:t>
            </a:r>
            <a:endParaRPr sz="1200">
              <a:solidFill>
                <a:schemeClr val="lt1"/>
              </a:solidFill>
              <a:latin typeface="Arial"/>
              <a:ea typeface="Arial"/>
              <a:cs typeface="Arial"/>
              <a:sym typeface="Arial"/>
            </a:endParaRPr>
          </a:p>
        </p:txBody>
      </p:sp>
      <p:sp>
        <p:nvSpPr>
          <p:cNvPr id="135" name="Google Shape;135;p25"/>
          <p:cNvSpPr/>
          <p:nvPr/>
        </p:nvSpPr>
        <p:spPr>
          <a:xfrm>
            <a:off x="4553702" y="3435854"/>
            <a:ext cx="1783200" cy="210300"/>
          </a:xfrm>
          <a:prstGeom prst="roundRect">
            <a:avLst>
              <a:gd fmla="val 16667" name="adj"/>
            </a:avLst>
          </a:prstGeom>
          <a:solidFill>
            <a:srgbClr val="45818E"/>
          </a:solidFill>
          <a:ln cap="flat" cmpd="sng" w="12700">
            <a:solidFill>
              <a:srgbClr val="45818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Kan Yijie</a:t>
            </a:r>
            <a:endParaRPr sz="1200">
              <a:solidFill>
                <a:schemeClr val="lt1"/>
              </a:solidFill>
              <a:latin typeface="Arial"/>
              <a:ea typeface="Arial"/>
              <a:cs typeface="Arial"/>
              <a:sym typeface="Arial"/>
            </a:endParaRPr>
          </a:p>
        </p:txBody>
      </p:sp>
      <p:sp>
        <p:nvSpPr>
          <p:cNvPr id="136" name="Google Shape;136;p25"/>
          <p:cNvSpPr/>
          <p:nvPr/>
        </p:nvSpPr>
        <p:spPr>
          <a:xfrm>
            <a:off x="4553712" y="3044941"/>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Hamzah Nutt</a:t>
            </a:r>
            <a:endParaRPr sz="1200">
              <a:solidFill>
                <a:schemeClr val="lt1"/>
              </a:solidFill>
              <a:latin typeface="Arial"/>
              <a:ea typeface="Arial"/>
              <a:cs typeface="Arial"/>
              <a:sym typeface="Arial"/>
            </a:endParaRPr>
          </a:p>
        </p:txBody>
      </p:sp>
      <p:sp>
        <p:nvSpPr>
          <p:cNvPr id="137" name="Google Shape;137;p25"/>
          <p:cNvSpPr/>
          <p:nvPr/>
        </p:nvSpPr>
        <p:spPr>
          <a:xfrm>
            <a:off x="62179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Wenhan Hu</a:t>
            </a:r>
            <a:endParaRPr sz="1200">
              <a:solidFill>
                <a:schemeClr val="lt1"/>
              </a:solidFill>
              <a:latin typeface="Arial"/>
              <a:ea typeface="Arial"/>
              <a:cs typeface="Arial"/>
              <a:sym typeface="Arial"/>
            </a:endParaRPr>
          </a:p>
        </p:txBody>
      </p:sp>
      <p:sp>
        <p:nvSpPr>
          <p:cNvPr id="138" name="Google Shape;138;p25"/>
          <p:cNvSpPr/>
          <p:nvPr/>
        </p:nvSpPr>
        <p:spPr>
          <a:xfrm>
            <a:off x="4553702" y="264260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Hao Wang</a:t>
            </a:r>
            <a:endParaRPr sz="1200">
              <a:solidFill>
                <a:schemeClr val="lt1"/>
              </a:solidFill>
              <a:latin typeface="Arial"/>
              <a:ea typeface="Arial"/>
              <a:cs typeface="Arial"/>
              <a:sym typeface="Arial"/>
            </a:endParaRPr>
          </a:p>
        </p:txBody>
      </p:sp>
      <p:sp>
        <p:nvSpPr>
          <p:cNvPr id="139" name="Google Shape;139;p25"/>
          <p:cNvSpPr/>
          <p:nvPr/>
        </p:nvSpPr>
        <p:spPr>
          <a:xfrm>
            <a:off x="621812" y="3826765"/>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Yu-Chu Lin</a:t>
            </a:r>
            <a:endParaRPr sz="1200">
              <a:solidFill>
                <a:schemeClr val="lt1"/>
              </a:solidFill>
              <a:latin typeface="Arial"/>
              <a:ea typeface="Arial"/>
              <a:cs typeface="Arial"/>
              <a:sym typeface="Arial"/>
            </a:endParaRPr>
          </a:p>
        </p:txBody>
      </p:sp>
      <p:sp>
        <p:nvSpPr>
          <p:cNvPr id="140" name="Google Shape;140;p25"/>
          <p:cNvSpPr/>
          <p:nvPr/>
        </p:nvSpPr>
        <p:spPr>
          <a:xfrm>
            <a:off x="2587742" y="3043801"/>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Guanyu Lu</a:t>
            </a:r>
            <a:endParaRPr sz="1200">
              <a:solidFill>
                <a:schemeClr val="lt1"/>
              </a:solidFill>
              <a:latin typeface="Arial"/>
              <a:ea typeface="Arial"/>
              <a:cs typeface="Arial"/>
              <a:sym typeface="Arial"/>
            </a:endParaRPr>
          </a:p>
        </p:txBody>
      </p:sp>
      <p:sp>
        <p:nvSpPr>
          <p:cNvPr id="141" name="Google Shape;141;p25"/>
          <p:cNvSpPr/>
          <p:nvPr/>
        </p:nvSpPr>
        <p:spPr>
          <a:xfrm>
            <a:off x="2587752" y="2642613"/>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Zheng Zaikun</a:t>
            </a:r>
            <a:endParaRPr sz="1200">
              <a:solidFill>
                <a:schemeClr val="lt1"/>
              </a:solidFill>
              <a:latin typeface="Arial"/>
              <a:ea typeface="Arial"/>
              <a:cs typeface="Arial"/>
              <a:sym typeface="Arial"/>
            </a:endParaRPr>
          </a:p>
        </p:txBody>
      </p:sp>
      <p:sp>
        <p:nvSpPr>
          <p:cNvPr id="142" name="Google Shape;142;p25"/>
          <p:cNvSpPr/>
          <p:nvPr/>
        </p:nvSpPr>
        <p:spPr>
          <a:xfrm>
            <a:off x="2587762" y="3435275"/>
            <a:ext cx="1783200" cy="210300"/>
          </a:xfrm>
          <a:prstGeom prst="roundRect">
            <a:avLst>
              <a:gd fmla="val 16667" name="adj"/>
            </a:avLst>
          </a:prstGeom>
          <a:solidFill>
            <a:srgbClr val="A64D79"/>
          </a:solidFill>
          <a:ln cap="flat" cmpd="sng" w="12700">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Swan Htet Zaw</a:t>
            </a:r>
            <a:endParaRPr sz="1200">
              <a:solidFill>
                <a:schemeClr val="lt1"/>
              </a:solidFill>
              <a:latin typeface="Arial"/>
              <a:ea typeface="Arial"/>
              <a:cs typeface="Arial"/>
              <a:sym typeface="Arial"/>
            </a:endParaRPr>
          </a:p>
        </p:txBody>
      </p:sp>
      <p:sp>
        <p:nvSpPr>
          <p:cNvPr id="143" name="Google Shape;143;p25"/>
          <p:cNvSpPr/>
          <p:nvPr/>
        </p:nvSpPr>
        <p:spPr>
          <a:xfrm>
            <a:off x="621792" y="3435852"/>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Lu Junwen</a:t>
            </a:r>
            <a:endParaRPr sz="1200">
              <a:solidFill>
                <a:schemeClr val="lt1"/>
              </a:solidFill>
              <a:latin typeface="Arial"/>
              <a:ea typeface="Arial"/>
              <a:cs typeface="Arial"/>
              <a:sym typeface="Arial"/>
            </a:endParaRPr>
          </a:p>
        </p:txBody>
      </p:sp>
      <p:sp>
        <p:nvSpPr>
          <p:cNvPr id="144" name="Google Shape;144;p25"/>
          <p:cNvSpPr/>
          <p:nvPr/>
        </p:nvSpPr>
        <p:spPr>
          <a:xfrm>
            <a:off x="2587752" y="3826752"/>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lang="en-GB" sz="1200">
                <a:solidFill>
                  <a:schemeClr val="lt1"/>
                </a:solidFill>
              </a:rPr>
              <a:t>WuQin Yang</a:t>
            </a:r>
            <a:endParaRPr sz="1200">
              <a:solidFill>
                <a:schemeClr val="lt1"/>
              </a:solidFill>
            </a:endParaRPr>
          </a:p>
        </p:txBody>
      </p:sp>
      <p:grpSp>
        <p:nvGrpSpPr>
          <p:cNvPr id="145" name="Google Shape;145;p25"/>
          <p:cNvGrpSpPr/>
          <p:nvPr/>
        </p:nvGrpSpPr>
        <p:grpSpPr>
          <a:xfrm>
            <a:off x="6931235" y="388848"/>
            <a:ext cx="1986795" cy="1019329"/>
            <a:chOff x="6392111" y="726475"/>
            <a:chExt cx="2408529" cy="1235700"/>
          </a:xfrm>
        </p:grpSpPr>
        <p:sp>
          <p:nvSpPr>
            <p:cNvPr id="146" name="Google Shape;146;p25"/>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147" name="Google Shape;147;p25"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51" name="Shape 151"/>
        <p:cNvGrpSpPr/>
        <p:nvPr/>
      </p:nvGrpSpPr>
      <p:grpSpPr>
        <a:xfrm>
          <a:off x="0" y="0"/>
          <a:ext cx="0" cy="0"/>
          <a:chOff x="0" y="0"/>
          <a:chExt cx="0" cy="0"/>
        </a:xfrm>
      </p:grpSpPr>
      <p:sp>
        <p:nvSpPr>
          <p:cNvPr id="152" name="Google Shape;152;p2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26"/>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2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 Product Owner</a:t>
            </a:r>
            <a:endParaRPr/>
          </a:p>
        </p:txBody>
      </p:sp>
      <p:sp>
        <p:nvSpPr>
          <p:cNvPr id="155" name="Google Shape;155;p26"/>
          <p:cNvSpPr/>
          <p:nvPr/>
        </p:nvSpPr>
        <p:spPr>
          <a:xfrm>
            <a:off x="381775" y="870339"/>
            <a:ext cx="32919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2000"/>
              <a:buFont typeface="Arial"/>
              <a:buNone/>
            </a:pPr>
            <a:r>
              <a:rPr b="1" i="0" lang="en-GB" sz="2000" u="none" cap="none" strike="noStrike">
                <a:solidFill>
                  <a:srgbClr val="071A34"/>
                </a:solidFill>
                <a:latin typeface="Arial"/>
                <a:ea typeface="Arial"/>
                <a:cs typeface="Arial"/>
                <a:sym typeface="Arial"/>
              </a:rPr>
              <a:t>Sprint goal statement</a:t>
            </a:r>
            <a:endParaRPr b="0" i="0" sz="2000" u="none" cap="none" strike="noStrike">
              <a:solidFill>
                <a:schemeClr val="dk1"/>
              </a:solidFill>
              <a:latin typeface="Arial"/>
              <a:ea typeface="Arial"/>
              <a:cs typeface="Arial"/>
              <a:sym typeface="Arial"/>
            </a:endParaRPr>
          </a:p>
        </p:txBody>
      </p:sp>
      <p:sp>
        <p:nvSpPr>
          <p:cNvPr id="156" name="Google Shape;156;p26"/>
          <p:cNvSpPr/>
          <p:nvPr/>
        </p:nvSpPr>
        <p:spPr>
          <a:xfrm>
            <a:off x="381765" y="1390901"/>
            <a:ext cx="16458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26"/>
          <p:cNvSpPr/>
          <p:nvPr/>
        </p:nvSpPr>
        <p:spPr>
          <a:xfrm>
            <a:off x="566931" y="1500060"/>
            <a:ext cx="12687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en-GB" sz="700" u="none" cap="none" strike="noStrike">
                <a:solidFill>
                  <a:srgbClr val="5C6F8E"/>
                </a:solidFill>
                <a:latin typeface="Arial"/>
                <a:ea typeface="Arial"/>
                <a:cs typeface="Arial"/>
                <a:sym typeface="Arial"/>
              </a:rPr>
              <a:t>LAST WEEK CALIBRATION</a:t>
            </a:r>
            <a:endParaRPr b="0" i="0" sz="700" u="none" cap="none" strike="noStrike">
              <a:solidFill>
                <a:schemeClr val="dk1"/>
              </a:solidFill>
              <a:latin typeface="Arial"/>
              <a:ea typeface="Arial"/>
              <a:cs typeface="Arial"/>
              <a:sym typeface="Arial"/>
            </a:endParaRPr>
          </a:p>
        </p:txBody>
      </p:sp>
      <p:sp>
        <p:nvSpPr>
          <p:cNvPr id="158" name="Google Shape;158;p26"/>
          <p:cNvSpPr/>
          <p:nvPr/>
        </p:nvSpPr>
        <p:spPr>
          <a:xfrm>
            <a:off x="566931" y="1774949"/>
            <a:ext cx="1268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45F5"/>
              </a:buClr>
              <a:buSzPts val="1900"/>
              <a:buFont typeface="Arial"/>
              <a:buNone/>
            </a:pPr>
            <a:r>
              <a:rPr b="1" lang="en-GB" sz="1900">
                <a:solidFill>
                  <a:srgbClr val="7A45F5"/>
                </a:solidFill>
              </a:rPr>
              <a:t>+13</a:t>
            </a:r>
            <a:endParaRPr b="0" i="0" sz="1900" u="none" cap="none" strike="noStrike">
              <a:solidFill>
                <a:schemeClr val="dk1"/>
              </a:solidFill>
              <a:latin typeface="Arial"/>
              <a:ea typeface="Arial"/>
              <a:cs typeface="Arial"/>
              <a:sym typeface="Arial"/>
            </a:endParaRPr>
          </a:p>
        </p:txBody>
      </p:sp>
      <p:sp>
        <p:nvSpPr>
          <p:cNvPr id="159" name="Google Shape;159;p26"/>
          <p:cNvSpPr/>
          <p:nvPr/>
        </p:nvSpPr>
        <p:spPr>
          <a:xfrm>
            <a:off x="2199135" y="1390901"/>
            <a:ext cx="16458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26"/>
          <p:cNvSpPr/>
          <p:nvPr/>
        </p:nvSpPr>
        <p:spPr>
          <a:xfrm>
            <a:off x="2384301" y="1500060"/>
            <a:ext cx="12003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en-GB" sz="700" u="none" cap="none" strike="noStrike">
                <a:solidFill>
                  <a:srgbClr val="5C6F8E"/>
                </a:solidFill>
                <a:latin typeface="Arial"/>
                <a:ea typeface="Arial"/>
                <a:cs typeface="Arial"/>
                <a:sym typeface="Arial"/>
              </a:rPr>
              <a:t>PRIMARY </a:t>
            </a:r>
            <a:r>
              <a:rPr b="1" i="0" lang="en-GB" sz="700" u="none" cap="none" strike="noStrike">
                <a:solidFill>
                  <a:srgbClr val="5C6F8E"/>
                </a:solidFill>
                <a:latin typeface="Arial"/>
                <a:ea typeface="Arial"/>
                <a:cs typeface="Arial"/>
                <a:sym typeface="Arial"/>
              </a:rPr>
              <a:t>QUESTION</a:t>
            </a:r>
            <a:endParaRPr b="0" i="0" sz="700" u="none" cap="none" strike="noStrike">
              <a:solidFill>
                <a:schemeClr val="dk1"/>
              </a:solidFill>
              <a:latin typeface="Arial"/>
              <a:ea typeface="Arial"/>
              <a:cs typeface="Arial"/>
              <a:sym typeface="Arial"/>
            </a:endParaRPr>
          </a:p>
        </p:txBody>
      </p:sp>
      <p:sp>
        <p:nvSpPr>
          <p:cNvPr id="161" name="Google Shape;161;p26"/>
          <p:cNvSpPr/>
          <p:nvPr/>
        </p:nvSpPr>
        <p:spPr>
          <a:xfrm>
            <a:off x="2384301" y="1740659"/>
            <a:ext cx="1166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75DD"/>
              </a:buClr>
              <a:buSzPts val="1600"/>
              <a:buFont typeface="Arial"/>
              <a:buNone/>
            </a:pPr>
            <a:r>
              <a:rPr b="1" i="0" lang="en-GB" sz="1600" u="none" cap="none" strike="noStrike">
                <a:solidFill>
                  <a:srgbClr val="2D75DD"/>
                </a:solidFill>
                <a:latin typeface="Arial"/>
                <a:ea typeface="Arial"/>
                <a:cs typeface="Arial"/>
                <a:sym typeface="Arial"/>
              </a:rPr>
              <a:t>Agent</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2D75DD"/>
              </a:buClr>
              <a:buSzPts val="1600"/>
              <a:buFont typeface="Arial"/>
              <a:buNone/>
            </a:pPr>
            <a:r>
              <a:rPr b="1" i="0" lang="en-GB" sz="1600" u="none" cap="none" strike="noStrike">
                <a:solidFill>
                  <a:srgbClr val="2D75DD"/>
                </a:solidFill>
                <a:latin typeface="Arial"/>
                <a:ea typeface="Arial"/>
                <a:cs typeface="Arial"/>
                <a:sym typeface="Arial"/>
              </a:rPr>
              <a:t>Automation</a:t>
            </a:r>
            <a:endParaRPr b="0" i="0" sz="1600" u="none" cap="none" strike="noStrike">
              <a:solidFill>
                <a:schemeClr val="dk1"/>
              </a:solidFill>
              <a:latin typeface="Arial"/>
              <a:ea typeface="Arial"/>
              <a:cs typeface="Arial"/>
              <a:sym typeface="Arial"/>
            </a:endParaRPr>
          </a:p>
        </p:txBody>
      </p:sp>
      <p:sp>
        <p:nvSpPr>
          <p:cNvPr id="162" name="Google Shape;162;p26"/>
          <p:cNvSpPr/>
          <p:nvPr/>
        </p:nvSpPr>
        <p:spPr>
          <a:xfrm>
            <a:off x="4023363" y="1390901"/>
            <a:ext cx="1220700" cy="809400"/>
          </a:xfrm>
          <a:prstGeom prst="roundRect">
            <a:avLst>
              <a:gd fmla="val 1016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6"/>
          <p:cNvSpPr/>
          <p:nvPr/>
        </p:nvSpPr>
        <p:spPr>
          <a:xfrm>
            <a:off x="4215387" y="1500060"/>
            <a:ext cx="6858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F8E"/>
              </a:buClr>
              <a:buSzPts val="700"/>
              <a:buFont typeface="Arial"/>
              <a:buNone/>
            </a:pPr>
            <a:r>
              <a:rPr b="1" i="0" lang="en-GB" sz="700" u="none" cap="none" strike="noStrike">
                <a:solidFill>
                  <a:srgbClr val="5C6F8E"/>
                </a:solidFill>
                <a:latin typeface="Arial"/>
                <a:ea typeface="Arial"/>
                <a:cs typeface="Arial"/>
                <a:sym typeface="Arial"/>
              </a:rPr>
              <a:t>Release no.</a:t>
            </a:r>
            <a:endParaRPr b="0" i="0" sz="700" u="none" cap="none" strike="noStrike">
              <a:solidFill>
                <a:schemeClr val="dk1"/>
              </a:solidFill>
              <a:latin typeface="Arial"/>
              <a:ea typeface="Arial"/>
              <a:cs typeface="Arial"/>
              <a:sym typeface="Arial"/>
            </a:endParaRPr>
          </a:p>
        </p:txBody>
      </p:sp>
      <p:sp>
        <p:nvSpPr>
          <p:cNvPr id="164" name="Google Shape;164;p26"/>
          <p:cNvSpPr/>
          <p:nvPr/>
        </p:nvSpPr>
        <p:spPr>
          <a:xfrm>
            <a:off x="4215387" y="1788665"/>
            <a:ext cx="6858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AF4A"/>
              </a:buClr>
              <a:buSzPts val="1800"/>
              <a:buFont typeface="Arial"/>
              <a:buNone/>
            </a:pPr>
            <a:r>
              <a:rPr b="1" i="0" lang="en-GB" sz="1800" u="none" cap="none" strike="noStrike">
                <a:solidFill>
                  <a:srgbClr val="1EAF4A"/>
                </a:solidFill>
                <a:latin typeface="Arial"/>
                <a:ea typeface="Arial"/>
                <a:cs typeface="Arial"/>
                <a:sym typeface="Arial"/>
              </a:rPr>
              <a:t>W25</a:t>
            </a:r>
            <a:endParaRPr b="0" i="0" sz="1800" u="none" cap="none" strike="noStrike">
              <a:solidFill>
                <a:schemeClr val="dk1"/>
              </a:solidFill>
              <a:latin typeface="Arial"/>
              <a:ea typeface="Arial"/>
              <a:cs typeface="Arial"/>
              <a:sym typeface="Arial"/>
            </a:endParaRPr>
          </a:p>
        </p:txBody>
      </p:sp>
      <p:sp>
        <p:nvSpPr>
          <p:cNvPr id="165" name="Google Shape;165;p26"/>
          <p:cNvSpPr/>
          <p:nvPr/>
        </p:nvSpPr>
        <p:spPr>
          <a:xfrm>
            <a:off x="470919" y="2453891"/>
            <a:ext cx="54900" cy="14541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26"/>
          <p:cNvSpPr/>
          <p:nvPr/>
        </p:nvSpPr>
        <p:spPr>
          <a:xfrm>
            <a:off x="525783" y="2447033"/>
            <a:ext cx="4800600" cy="1467600"/>
          </a:xfrm>
          <a:prstGeom prst="roundRect">
            <a:avLst>
              <a:gd fmla="val 5607"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26"/>
          <p:cNvSpPr/>
          <p:nvPr/>
        </p:nvSpPr>
        <p:spPr>
          <a:xfrm>
            <a:off x="772671" y="2610848"/>
            <a:ext cx="12345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i="0" lang="en-GB" sz="1400" u="none" cap="none" strike="noStrike">
                <a:solidFill>
                  <a:srgbClr val="071A34"/>
                </a:solidFill>
                <a:latin typeface="Arial"/>
                <a:ea typeface="Arial"/>
                <a:cs typeface="Arial"/>
                <a:sym typeface="Arial"/>
              </a:rPr>
              <a:t>Sprint Goal</a:t>
            </a:r>
            <a:endParaRPr b="0" i="0" sz="1400" u="none" cap="none" strike="noStrike">
              <a:solidFill>
                <a:schemeClr val="dk1"/>
              </a:solidFill>
              <a:latin typeface="Arial"/>
              <a:ea typeface="Arial"/>
              <a:cs typeface="Arial"/>
              <a:sym typeface="Arial"/>
            </a:endParaRPr>
          </a:p>
        </p:txBody>
      </p:sp>
      <p:sp>
        <p:nvSpPr>
          <p:cNvPr id="168" name="Google Shape;168;p26"/>
          <p:cNvSpPr/>
          <p:nvPr/>
        </p:nvSpPr>
        <p:spPr>
          <a:xfrm>
            <a:off x="772671" y="2928739"/>
            <a:ext cx="4080600" cy="754500"/>
          </a:xfrm>
          <a:prstGeom prst="rect">
            <a:avLst/>
          </a:prstGeom>
          <a:noFill/>
          <a:ln>
            <a:noFill/>
          </a:ln>
        </p:spPr>
        <p:txBody>
          <a:bodyPr anchorCtr="0" anchor="t" bIns="200" lIns="200" spcFirstLastPara="1" rIns="200" wrap="square" tIns="200">
            <a:noAutofit/>
          </a:bodyPr>
          <a:lstStyle/>
          <a:p>
            <a:pPr indent="0" lvl="0" marL="0" marR="0" rtl="0" algn="l">
              <a:spcBef>
                <a:spcPts val="0"/>
              </a:spcBef>
              <a:spcAft>
                <a:spcPts val="0"/>
              </a:spcAft>
              <a:buClr>
                <a:srgbClr val="071A34"/>
              </a:buClr>
              <a:buSzPts val="1200"/>
              <a:buFont typeface="Arial"/>
              <a:buNone/>
            </a:pPr>
            <a:r>
              <a:rPr b="0" i="0" lang="en-GB" sz="1200" u="none" cap="none" strike="noStrike">
                <a:solidFill>
                  <a:schemeClr val="dk2"/>
                </a:solidFill>
                <a:latin typeface="Arial"/>
                <a:ea typeface="Arial"/>
                <a:cs typeface="Arial"/>
                <a:sym typeface="Arial"/>
              </a:rPr>
              <a:t>Automate the Almanac and Technical agents to generate structured evidence for W25 predictions across SPX, NDX, IWM, and five S&amp;P sectors: Technology, Energy, Financials, Utilities, and Materials. Also automate the calibration log using the existing W22 scoring rule.</a:t>
            </a:r>
            <a:endParaRPr b="0" i="0" sz="1200" u="none" cap="none" strike="noStrike">
              <a:solidFill>
                <a:schemeClr val="dk2"/>
              </a:solidFill>
              <a:latin typeface="Arial"/>
              <a:ea typeface="Arial"/>
              <a:cs typeface="Arial"/>
              <a:sym typeface="Arial"/>
            </a:endParaRPr>
          </a:p>
        </p:txBody>
      </p:sp>
      <p:sp>
        <p:nvSpPr>
          <p:cNvPr id="169" name="Google Shape;169;p26"/>
          <p:cNvSpPr/>
          <p:nvPr/>
        </p:nvSpPr>
        <p:spPr>
          <a:xfrm>
            <a:off x="5559555" y="1123439"/>
            <a:ext cx="54900" cy="34017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6"/>
          <p:cNvSpPr/>
          <p:nvPr/>
        </p:nvSpPr>
        <p:spPr>
          <a:xfrm>
            <a:off x="5614419"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6"/>
          <p:cNvSpPr/>
          <p:nvPr/>
        </p:nvSpPr>
        <p:spPr>
          <a:xfrm>
            <a:off x="5868165" y="1356611"/>
            <a:ext cx="13029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i="0" lang="en-GB" sz="1400" u="none" cap="none" strike="noStrike">
                <a:solidFill>
                  <a:srgbClr val="071A34"/>
                </a:solidFill>
                <a:latin typeface="Arial"/>
                <a:ea typeface="Arial"/>
                <a:cs typeface="Arial"/>
                <a:sym typeface="Arial"/>
              </a:rPr>
              <a:t>Done Means</a:t>
            </a:r>
            <a:endParaRPr b="0" i="0" sz="1400" u="none" cap="none" strike="noStrike">
              <a:solidFill>
                <a:schemeClr val="dk1"/>
              </a:solidFill>
              <a:latin typeface="Arial"/>
              <a:ea typeface="Arial"/>
              <a:cs typeface="Arial"/>
              <a:sym typeface="Arial"/>
            </a:endParaRPr>
          </a:p>
        </p:txBody>
      </p:sp>
      <p:sp>
        <p:nvSpPr>
          <p:cNvPr id="172" name="Google Shape;172;p26"/>
          <p:cNvSpPr/>
          <p:nvPr/>
        </p:nvSpPr>
        <p:spPr>
          <a:xfrm>
            <a:off x="5833875" y="1651505"/>
            <a:ext cx="2674500" cy="2606100"/>
          </a:xfrm>
          <a:prstGeom prst="rect">
            <a:avLst/>
          </a:prstGeom>
          <a:noFill/>
          <a:ln>
            <a:noFill/>
          </a:ln>
        </p:spPr>
        <p:txBody>
          <a:bodyPr anchorCtr="0" anchor="t" bIns="200" lIns="200" spcFirstLastPara="1" rIns="200" wrap="square" tIns="200">
            <a:noAutofit/>
          </a:bodyPr>
          <a:lstStyle/>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Almanac agent produces structured output</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Technical agent produces structured output</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Outputs cover SPX, NDX, IWM, XLK, XLE, XLF, XLU, and XLB</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GitHub Actions workflow can run manually</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Scheduled workflow is configured and checked</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Calibration log is generated automatically</a:t>
            </a:r>
            <a:endParaRPr b="0" i="0" sz="10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71A34"/>
              </a:buClr>
              <a:buSzPts val="900"/>
              <a:buFont typeface="Arial"/>
              <a:buNone/>
            </a:pPr>
            <a:r>
              <a:rPr b="0" i="0" lang="en-GB" sz="1000" u="none" cap="none" strike="noStrike">
                <a:solidFill>
                  <a:schemeClr val="dk2"/>
                </a:solidFill>
                <a:latin typeface="Arial"/>
                <a:ea typeface="Arial"/>
                <a:cs typeface="Arial"/>
                <a:sym typeface="Arial"/>
              </a:rPr>
              <a:t>• W25 prediction uses automated evidence</a:t>
            </a:r>
            <a:endParaRPr b="0" i="0" sz="1000" u="none" cap="none" strike="noStrike">
              <a:solidFill>
                <a:schemeClr val="dk2"/>
              </a:solidFill>
              <a:latin typeface="Arial"/>
              <a:ea typeface="Arial"/>
              <a:cs typeface="Arial"/>
              <a:sym typeface="Arial"/>
            </a:endParaRPr>
          </a:p>
        </p:txBody>
      </p:sp>
      <p:sp>
        <p:nvSpPr>
          <p:cNvPr id="173" name="Google Shape;173;p26"/>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Font typeface="Arial"/>
              <a:buNone/>
            </a:pPr>
            <a:r>
              <a:rPr b="1" lang="en-GB" sz="1200">
                <a:solidFill>
                  <a:srgbClr val="FFFFFF"/>
                </a:solidFill>
              </a:rPr>
              <a:t>Sprint Goal Board</a:t>
            </a:r>
            <a:endParaRPr sz="12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77" name="Shape 177"/>
        <p:cNvGrpSpPr/>
        <p:nvPr/>
      </p:nvGrpSpPr>
      <p:grpSpPr>
        <a:xfrm>
          <a:off x="0" y="0"/>
          <a:ext cx="0" cy="0"/>
          <a:chOff x="0" y="0"/>
          <a:chExt cx="0" cy="0"/>
        </a:xfrm>
      </p:grpSpPr>
      <p:sp>
        <p:nvSpPr>
          <p:cNvPr id="178" name="Google Shape;178;p2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27"/>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2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 Product Owner</a:t>
            </a:r>
            <a:endParaRPr/>
          </a:p>
        </p:txBody>
      </p:sp>
      <p:sp>
        <p:nvSpPr>
          <p:cNvPr id="181" name="Google Shape;181;p27"/>
          <p:cNvSpPr/>
          <p:nvPr/>
        </p:nvSpPr>
        <p:spPr>
          <a:xfrm>
            <a:off x="356616" y="774954"/>
            <a:ext cx="30174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800"/>
              <a:buFont typeface="Arial"/>
              <a:buNone/>
            </a:pPr>
            <a:r>
              <a:rPr b="1" i="0" lang="en-GB" sz="1800" u="none" cap="none" strike="noStrike">
                <a:solidFill>
                  <a:srgbClr val="071A34"/>
                </a:solidFill>
                <a:latin typeface="Arial"/>
                <a:ea typeface="Arial"/>
                <a:cs typeface="Arial"/>
                <a:sym typeface="Arial"/>
              </a:rPr>
              <a:t>W25 forecast contract</a:t>
            </a:r>
            <a:endParaRPr b="0" i="0" sz="1800" u="none" cap="none" strike="noStrike">
              <a:solidFill>
                <a:schemeClr val="dk1"/>
              </a:solidFill>
              <a:latin typeface="Arial"/>
              <a:ea typeface="Arial"/>
              <a:cs typeface="Arial"/>
              <a:sym typeface="Arial"/>
            </a:endParaRPr>
          </a:p>
        </p:txBody>
      </p:sp>
      <p:sp>
        <p:nvSpPr>
          <p:cNvPr id="182" name="Google Shape;182;p27"/>
          <p:cNvSpPr/>
          <p:nvPr/>
        </p:nvSpPr>
        <p:spPr>
          <a:xfrm>
            <a:off x="377190" y="1352523"/>
            <a:ext cx="54900" cy="8574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27"/>
          <p:cNvSpPr/>
          <p:nvPr/>
        </p:nvSpPr>
        <p:spPr>
          <a:xfrm>
            <a:off x="432054" y="1345665"/>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7"/>
          <p:cNvSpPr/>
          <p:nvPr/>
        </p:nvSpPr>
        <p:spPr>
          <a:xfrm>
            <a:off x="562356" y="1496541"/>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SPX  |  ^GSPC proxy</a:t>
            </a:r>
            <a:endParaRPr b="0" i="0" sz="1100" u="none" cap="none" strike="noStrike">
              <a:solidFill>
                <a:schemeClr val="dk1"/>
              </a:solidFill>
              <a:latin typeface="Arial"/>
              <a:ea typeface="Arial"/>
              <a:cs typeface="Arial"/>
              <a:sym typeface="Arial"/>
            </a:endParaRPr>
          </a:p>
        </p:txBody>
      </p:sp>
      <p:sp>
        <p:nvSpPr>
          <p:cNvPr id="185" name="Google Shape;185;p27"/>
          <p:cNvSpPr/>
          <p:nvPr/>
        </p:nvSpPr>
        <p:spPr>
          <a:xfrm>
            <a:off x="562356" y="1770861"/>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1EAF4A"/>
                </a:solidFill>
              </a:rPr>
              <a:t>+0.2%</a:t>
            </a:r>
            <a:r>
              <a:rPr lang="en-GB" sz="800">
                <a:solidFill>
                  <a:srgbClr val="071A34"/>
                </a:solidFill>
              </a:rPr>
              <a:t> to </a:t>
            </a:r>
            <a:r>
              <a:rPr b="1" lang="en-GB" sz="800">
                <a:solidFill>
                  <a:srgbClr val="1EAF4A"/>
                </a:solidFill>
              </a:rPr>
              <a:t>+1.2%</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186" name="Google Shape;186;p27"/>
          <p:cNvSpPr/>
          <p:nvPr/>
        </p:nvSpPr>
        <p:spPr>
          <a:xfrm>
            <a:off x="2571750" y="1352523"/>
            <a:ext cx="54900" cy="8574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7"/>
          <p:cNvSpPr/>
          <p:nvPr/>
        </p:nvSpPr>
        <p:spPr>
          <a:xfrm>
            <a:off x="2626614" y="1345665"/>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7"/>
          <p:cNvSpPr/>
          <p:nvPr/>
        </p:nvSpPr>
        <p:spPr>
          <a:xfrm>
            <a:off x="2756916" y="1496541"/>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NDX  |  ^NDX proxy</a:t>
            </a:r>
            <a:endParaRPr b="0" i="0" sz="1100" u="none" cap="none" strike="noStrike">
              <a:solidFill>
                <a:schemeClr val="dk1"/>
              </a:solidFill>
              <a:latin typeface="Arial"/>
              <a:ea typeface="Arial"/>
              <a:cs typeface="Arial"/>
              <a:sym typeface="Arial"/>
            </a:endParaRPr>
          </a:p>
        </p:txBody>
      </p:sp>
      <p:sp>
        <p:nvSpPr>
          <p:cNvPr id="189" name="Google Shape;189;p27"/>
          <p:cNvSpPr/>
          <p:nvPr/>
        </p:nvSpPr>
        <p:spPr>
          <a:xfrm>
            <a:off x="2756916" y="1770861"/>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1EAF4A"/>
                </a:solidFill>
              </a:rPr>
              <a:t>+0.8%</a:t>
            </a:r>
            <a:r>
              <a:rPr lang="en-GB" sz="800">
                <a:solidFill>
                  <a:srgbClr val="071A34"/>
                </a:solidFill>
              </a:rPr>
              <a:t> to </a:t>
            </a:r>
            <a:r>
              <a:rPr b="1" lang="en-GB" sz="800">
                <a:solidFill>
                  <a:srgbClr val="1EAF4A"/>
                </a:solidFill>
              </a:rPr>
              <a:t>+2.0%</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190" name="Google Shape;190;p27"/>
          <p:cNvSpPr/>
          <p:nvPr/>
        </p:nvSpPr>
        <p:spPr>
          <a:xfrm>
            <a:off x="4766310" y="1352523"/>
            <a:ext cx="54900" cy="8574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7"/>
          <p:cNvSpPr/>
          <p:nvPr/>
        </p:nvSpPr>
        <p:spPr>
          <a:xfrm>
            <a:off x="4821174" y="1345665"/>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7"/>
          <p:cNvSpPr/>
          <p:nvPr/>
        </p:nvSpPr>
        <p:spPr>
          <a:xfrm>
            <a:off x="4951476" y="1496541"/>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IWM  |  IWM proxy</a:t>
            </a:r>
            <a:endParaRPr b="0" i="0" sz="1100" u="none" cap="none" strike="noStrike">
              <a:solidFill>
                <a:schemeClr val="dk1"/>
              </a:solidFill>
              <a:latin typeface="Arial"/>
              <a:ea typeface="Arial"/>
              <a:cs typeface="Arial"/>
              <a:sym typeface="Arial"/>
            </a:endParaRPr>
          </a:p>
        </p:txBody>
      </p:sp>
      <p:sp>
        <p:nvSpPr>
          <p:cNvPr id="193" name="Google Shape;193;p27"/>
          <p:cNvSpPr/>
          <p:nvPr/>
        </p:nvSpPr>
        <p:spPr>
          <a:xfrm>
            <a:off x="4951476" y="1770861"/>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1EAF4A"/>
                </a:solidFill>
              </a:rPr>
              <a:t>+0.3%</a:t>
            </a:r>
            <a:r>
              <a:rPr lang="en-GB" sz="800">
                <a:solidFill>
                  <a:srgbClr val="071A34"/>
                </a:solidFill>
              </a:rPr>
              <a:t> to </a:t>
            </a:r>
            <a:r>
              <a:rPr b="1" lang="en-GB" sz="800">
                <a:solidFill>
                  <a:srgbClr val="1EAF4A"/>
                </a:solidFill>
              </a:rPr>
              <a:t>+1.5%</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194" name="Google Shape;194;p27"/>
          <p:cNvSpPr/>
          <p:nvPr/>
        </p:nvSpPr>
        <p:spPr>
          <a:xfrm>
            <a:off x="6960870" y="1352523"/>
            <a:ext cx="54900" cy="8574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27"/>
          <p:cNvSpPr/>
          <p:nvPr/>
        </p:nvSpPr>
        <p:spPr>
          <a:xfrm>
            <a:off x="7015734" y="1345665"/>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7"/>
          <p:cNvSpPr/>
          <p:nvPr/>
        </p:nvSpPr>
        <p:spPr>
          <a:xfrm>
            <a:off x="7146036" y="1496541"/>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Info Tech  |  XLK proxy</a:t>
            </a:r>
            <a:endParaRPr b="0" i="0" sz="1100" u="none" cap="none" strike="noStrike">
              <a:solidFill>
                <a:schemeClr val="dk1"/>
              </a:solidFill>
              <a:latin typeface="Arial"/>
              <a:ea typeface="Arial"/>
              <a:cs typeface="Arial"/>
              <a:sym typeface="Arial"/>
            </a:endParaRPr>
          </a:p>
        </p:txBody>
      </p:sp>
      <p:sp>
        <p:nvSpPr>
          <p:cNvPr id="197" name="Google Shape;197;p27"/>
          <p:cNvSpPr/>
          <p:nvPr/>
        </p:nvSpPr>
        <p:spPr>
          <a:xfrm>
            <a:off x="7146036" y="1770861"/>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1EAF4A"/>
                </a:solidFill>
              </a:rPr>
              <a:t>+1.0%</a:t>
            </a:r>
            <a:r>
              <a:rPr lang="en-GB" sz="800">
                <a:solidFill>
                  <a:srgbClr val="071A34"/>
                </a:solidFill>
              </a:rPr>
              <a:t> to </a:t>
            </a:r>
            <a:r>
              <a:rPr b="1" lang="en-GB" sz="800">
                <a:solidFill>
                  <a:srgbClr val="1EAF4A"/>
                </a:solidFill>
              </a:rPr>
              <a:t>+2.5%</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Medium-High</a:t>
            </a:r>
            <a:endParaRPr b="0" i="0" sz="800" u="none" cap="none" strike="noStrike">
              <a:solidFill>
                <a:schemeClr val="dk1"/>
              </a:solidFill>
              <a:latin typeface="Arial"/>
              <a:ea typeface="Arial"/>
              <a:cs typeface="Arial"/>
              <a:sym typeface="Arial"/>
            </a:endParaRPr>
          </a:p>
        </p:txBody>
      </p:sp>
      <p:sp>
        <p:nvSpPr>
          <p:cNvPr id="198" name="Google Shape;198;p27"/>
          <p:cNvSpPr/>
          <p:nvPr/>
        </p:nvSpPr>
        <p:spPr>
          <a:xfrm>
            <a:off x="377190" y="2470377"/>
            <a:ext cx="54900" cy="857400"/>
          </a:xfrm>
          <a:prstGeom prst="rect">
            <a:avLst/>
          </a:prstGeom>
          <a:solidFill>
            <a:srgbClr val="E53935"/>
          </a:solidFill>
          <a:ln cap="flat" cmpd="sng" w="9525">
            <a:solidFill>
              <a:srgbClr val="E5393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27"/>
          <p:cNvSpPr/>
          <p:nvPr/>
        </p:nvSpPr>
        <p:spPr>
          <a:xfrm>
            <a:off x="432054" y="2463519"/>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27"/>
          <p:cNvSpPr/>
          <p:nvPr/>
        </p:nvSpPr>
        <p:spPr>
          <a:xfrm>
            <a:off x="562356" y="2614395"/>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Energy  |  XLE proxy</a:t>
            </a:r>
            <a:endParaRPr b="0" i="0" sz="1100" u="none" cap="none" strike="noStrike">
              <a:solidFill>
                <a:schemeClr val="dk1"/>
              </a:solidFill>
              <a:latin typeface="Arial"/>
              <a:ea typeface="Arial"/>
              <a:cs typeface="Arial"/>
              <a:sym typeface="Arial"/>
            </a:endParaRPr>
          </a:p>
        </p:txBody>
      </p:sp>
      <p:sp>
        <p:nvSpPr>
          <p:cNvPr id="201" name="Google Shape;201;p27"/>
          <p:cNvSpPr/>
          <p:nvPr/>
        </p:nvSpPr>
        <p:spPr>
          <a:xfrm>
            <a:off x="562356" y="2888715"/>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Down</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E53935"/>
                </a:solidFill>
              </a:rPr>
              <a:t>-1.8%</a:t>
            </a:r>
            <a:r>
              <a:rPr lang="en-GB" sz="800">
                <a:solidFill>
                  <a:srgbClr val="071A34"/>
                </a:solidFill>
              </a:rPr>
              <a:t> to </a:t>
            </a:r>
            <a:r>
              <a:rPr b="1" lang="en-GB" sz="800">
                <a:solidFill>
                  <a:srgbClr val="E53935"/>
                </a:solidFill>
              </a:rPr>
              <a:t>-0.5%</a:t>
            </a:r>
            <a:endParaRPr b="1" i="0" sz="800" u="none" cap="none" strike="noStrike">
              <a:solidFill>
                <a:srgbClr val="E53935"/>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202" name="Google Shape;202;p27"/>
          <p:cNvSpPr/>
          <p:nvPr/>
        </p:nvSpPr>
        <p:spPr>
          <a:xfrm>
            <a:off x="2571750" y="2470377"/>
            <a:ext cx="54900" cy="857400"/>
          </a:xfrm>
          <a:prstGeom prst="rect">
            <a:avLst/>
          </a:prstGeom>
          <a:solidFill>
            <a:srgbClr val="FFB52A"/>
          </a:solidFill>
          <a:ln cap="flat" cmpd="sng" w="9525">
            <a:solidFill>
              <a:srgbClr val="FFB5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27"/>
          <p:cNvSpPr/>
          <p:nvPr/>
        </p:nvSpPr>
        <p:spPr>
          <a:xfrm>
            <a:off x="2626614" y="2463519"/>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27"/>
          <p:cNvSpPr/>
          <p:nvPr/>
        </p:nvSpPr>
        <p:spPr>
          <a:xfrm>
            <a:off x="2756916" y="2614395"/>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Financials  |  XLF proxy</a:t>
            </a:r>
            <a:endParaRPr b="0" i="0" sz="1100" u="none" cap="none" strike="noStrike">
              <a:solidFill>
                <a:schemeClr val="dk1"/>
              </a:solidFill>
              <a:latin typeface="Arial"/>
              <a:ea typeface="Arial"/>
              <a:cs typeface="Arial"/>
              <a:sym typeface="Arial"/>
            </a:endParaRPr>
          </a:p>
        </p:txBody>
      </p:sp>
      <p:sp>
        <p:nvSpPr>
          <p:cNvPr id="205" name="Google Shape;205;p27"/>
          <p:cNvSpPr/>
          <p:nvPr/>
        </p:nvSpPr>
        <p:spPr>
          <a:xfrm>
            <a:off x="2756916" y="2888715"/>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Neutral-Up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FFB52A"/>
                </a:solidFill>
              </a:rPr>
              <a:t>0.0%</a:t>
            </a:r>
            <a:r>
              <a:rPr lang="en-GB" sz="800">
                <a:solidFill>
                  <a:srgbClr val="071A34"/>
                </a:solidFill>
              </a:rPr>
              <a:t> to </a:t>
            </a:r>
            <a:r>
              <a:rPr b="1" lang="en-GB" sz="800">
                <a:solidFill>
                  <a:srgbClr val="1EAF4A"/>
                </a:solidFill>
              </a:rPr>
              <a:t>+1.2%</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206" name="Google Shape;206;p27"/>
          <p:cNvSpPr/>
          <p:nvPr/>
        </p:nvSpPr>
        <p:spPr>
          <a:xfrm>
            <a:off x="4766310" y="2470377"/>
            <a:ext cx="54900" cy="857400"/>
          </a:xfrm>
          <a:prstGeom prst="rect">
            <a:avLst/>
          </a:prstGeom>
          <a:solidFill>
            <a:srgbClr val="FFB52A"/>
          </a:solidFill>
          <a:ln cap="flat" cmpd="sng" w="9525">
            <a:solidFill>
              <a:srgbClr val="FFB5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7"/>
          <p:cNvSpPr/>
          <p:nvPr/>
        </p:nvSpPr>
        <p:spPr>
          <a:xfrm>
            <a:off x="4821174" y="2463519"/>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7"/>
          <p:cNvSpPr/>
          <p:nvPr/>
        </p:nvSpPr>
        <p:spPr>
          <a:xfrm>
            <a:off x="4951476" y="2614395"/>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Utilities  |  XLU proxy</a:t>
            </a:r>
            <a:endParaRPr b="0" i="0" sz="1100" u="none" cap="none" strike="noStrike">
              <a:solidFill>
                <a:schemeClr val="dk1"/>
              </a:solidFill>
              <a:latin typeface="Arial"/>
              <a:ea typeface="Arial"/>
              <a:cs typeface="Arial"/>
              <a:sym typeface="Arial"/>
            </a:endParaRPr>
          </a:p>
        </p:txBody>
      </p:sp>
      <p:sp>
        <p:nvSpPr>
          <p:cNvPr id="209" name="Google Shape;209;p27"/>
          <p:cNvSpPr/>
          <p:nvPr/>
        </p:nvSpPr>
        <p:spPr>
          <a:xfrm>
            <a:off x="4951476" y="2888715"/>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Neutral</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E53935"/>
                </a:solidFill>
              </a:rPr>
              <a:t>-0.3%</a:t>
            </a:r>
            <a:r>
              <a:rPr lang="en-GB" sz="800">
                <a:solidFill>
                  <a:srgbClr val="071A34"/>
                </a:solidFill>
              </a:rPr>
              <a:t> to </a:t>
            </a:r>
            <a:r>
              <a:rPr b="1" lang="en-GB" sz="800">
                <a:solidFill>
                  <a:srgbClr val="1EAF4A"/>
                </a:solidFill>
              </a:rPr>
              <a:t>+0.8%</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210" name="Google Shape;210;p27"/>
          <p:cNvSpPr/>
          <p:nvPr/>
        </p:nvSpPr>
        <p:spPr>
          <a:xfrm>
            <a:off x="6960870" y="2470377"/>
            <a:ext cx="54900" cy="857400"/>
          </a:xfrm>
          <a:prstGeom prst="rect">
            <a:avLst/>
          </a:prstGeom>
          <a:solidFill>
            <a:srgbClr val="FFB52A"/>
          </a:solidFill>
          <a:ln cap="flat" cmpd="sng" w="9525">
            <a:solidFill>
              <a:srgbClr val="FFB52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1" name="Google Shape;211;p27"/>
          <p:cNvSpPr/>
          <p:nvPr/>
        </p:nvSpPr>
        <p:spPr>
          <a:xfrm>
            <a:off x="7015734" y="2463519"/>
            <a:ext cx="1920300" cy="870900"/>
          </a:xfrm>
          <a:prstGeom prst="roundRect">
            <a:avLst>
              <a:gd fmla="val 9449"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7"/>
          <p:cNvSpPr/>
          <p:nvPr/>
        </p:nvSpPr>
        <p:spPr>
          <a:xfrm>
            <a:off x="7146036" y="2614395"/>
            <a:ext cx="16872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100"/>
              <a:buFont typeface="Arial"/>
              <a:buNone/>
            </a:pPr>
            <a:r>
              <a:rPr b="1" i="0" lang="en-GB" sz="1100" u="none" cap="none" strike="noStrike">
                <a:solidFill>
                  <a:srgbClr val="071A34"/>
                </a:solidFill>
                <a:latin typeface="Arial"/>
                <a:ea typeface="Arial"/>
                <a:cs typeface="Arial"/>
                <a:sym typeface="Arial"/>
              </a:rPr>
              <a:t>Materials  |  XLB proxy</a:t>
            </a:r>
            <a:endParaRPr b="0" i="0" sz="1100" u="none" cap="none" strike="noStrike">
              <a:solidFill>
                <a:schemeClr val="dk1"/>
              </a:solidFill>
              <a:latin typeface="Arial"/>
              <a:ea typeface="Arial"/>
              <a:cs typeface="Arial"/>
              <a:sym typeface="Arial"/>
            </a:endParaRPr>
          </a:p>
        </p:txBody>
      </p:sp>
      <p:sp>
        <p:nvSpPr>
          <p:cNvPr id="213" name="Google Shape;213;p27"/>
          <p:cNvSpPr/>
          <p:nvPr/>
        </p:nvSpPr>
        <p:spPr>
          <a:xfrm>
            <a:off x="7146036" y="2888715"/>
            <a:ext cx="1687200" cy="43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Direction: </a:t>
            </a:r>
            <a:r>
              <a:rPr lang="en-GB" sz="800">
                <a:solidFill>
                  <a:srgbClr val="071A34"/>
                </a:solidFill>
              </a:rPr>
              <a:t>Neutral-Up</a:t>
            </a:r>
            <a:endParaRPr b="0" i="0" sz="8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Range: </a:t>
            </a:r>
            <a:r>
              <a:rPr b="1" lang="en-GB" sz="800">
                <a:solidFill>
                  <a:srgbClr val="E53935"/>
                </a:solidFill>
              </a:rPr>
              <a:t>-0.2%</a:t>
            </a:r>
            <a:r>
              <a:rPr lang="en-GB" sz="800">
                <a:solidFill>
                  <a:srgbClr val="071A34"/>
                </a:solidFill>
              </a:rPr>
              <a:t> to </a:t>
            </a:r>
            <a:r>
              <a:rPr b="1" lang="en-GB" sz="800">
                <a:solidFill>
                  <a:srgbClr val="1EAF4A"/>
                </a:solidFill>
              </a:rPr>
              <a:t>+1.0%</a:t>
            </a:r>
            <a:endParaRPr b="1" i="0" sz="800" u="none" cap="none" strike="noStrike">
              <a:solidFill>
                <a:srgbClr val="1EAF4A"/>
              </a:solidFill>
            </a:endParaRPr>
          </a:p>
          <a:p>
            <a:pPr indent="0" lvl="0" marL="0" marR="0" rtl="0" algn="l">
              <a:spcBef>
                <a:spcPts val="0"/>
              </a:spcBef>
              <a:spcAft>
                <a:spcPts val="0"/>
              </a:spcAft>
              <a:buClr>
                <a:srgbClr val="071A34"/>
              </a:buClr>
              <a:buSzPts val="800"/>
              <a:buFont typeface="Arial"/>
              <a:buNone/>
            </a:pPr>
            <a:r>
              <a:rPr b="0" i="0" lang="en-GB" sz="800" u="none" cap="none" strike="noStrike">
                <a:solidFill>
                  <a:srgbClr val="071A34"/>
                </a:solidFill>
                <a:latin typeface="Arial"/>
                <a:ea typeface="Arial"/>
                <a:cs typeface="Arial"/>
                <a:sym typeface="Arial"/>
              </a:rPr>
              <a:t>Confidence: Medium</a:t>
            </a:r>
            <a:endParaRPr b="0" i="0" sz="800" u="none" cap="none" strike="noStrike">
              <a:solidFill>
                <a:schemeClr val="dk1"/>
              </a:solidFill>
              <a:latin typeface="Arial"/>
              <a:ea typeface="Arial"/>
              <a:cs typeface="Arial"/>
              <a:sym typeface="Arial"/>
            </a:endParaRPr>
          </a:p>
        </p:txBody>
      </p:sp>
      <p:sp>
        <p:nvSpPr>
          <p:cNvPr id="214" name="Google Shape;214;p27"/>
          <p:cNvSpPr/>
          <p:nvPr/>
        </p:nvSpPr>
        <p:spPr>
          <a:xfrm>
            <a:off x="377200" y="3720549"/>
            <a:ext cx="54900" cy="1162500"/>
          </a:xfrm>
          <a:prstGeom prst="rect">
            <a:avLst/>
          </a:prstGeom>
          <a:solidFill>
            <a:srgbClr val="7A45F5"/>
          </a:solidFill>
          <a:ln cap="flat" cmpd="sng" w="9525">
            <a:solidFill>
              <a:srgbClr val="7A45F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7"/>
          <p:cNvSpPr/>
          <p:nvPr/>
        </p:nvSpPr>
        <p:spPr>
          <a:xfrm>
            <a:off x="432064" y="3711675"/>
            <a:ext cx="4128600" cy="1180500"/>
          </a:xfrm>
          <a:prstGeom prst="roundRect">
            <a:avLst>
              <a:gd fmla="val 9023"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7"/>
          <p:cNvSpPr/>
          <p:nvPr/>
        </p:nvSpPr>
        <p:spPr>
          <a:xfrm>
            <a:off x="630918" y="3768325"/>
            <a:ext cx="2910600" cy="15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200"/>
              <a:buFont typeface="Arial"/>
              <a:buNone/>
            </a:pPr>
            <a:r>
              <a:rPr b="1" i="0" lang="en-GB" sz="1200" u="none" cap="none" strike="noStrike">
                <a:solidFill>
                  <a:srgbClr val="071A34"/>
                </a:solidFill>
                <a:latin typeface="Arial"/>
                <a:ea typeface="Arial"/>
                <a:cs typeface="Arial"/>
                <a:sym typeface="Arial"/>
              </a:rPr>
              <a:t>Assumptions / Risk Trigger</a:t>
            </a:r>
            <a:endParaRPr b="0" i="0" sz="1200" u="none" cap="none" strike="noStrike">
              <a:solidFill>
                <a:schemeClr val="dk1"/>
              </a:solidFill>
              <a:latin typeface="Arial"/>
              <a:ea typeface="Arial"/>
              <a:cs typeface="Arial"/>
              <a:sym typeface="Arial"/>
            </a:endParaRPr>
          </a:p>
        </p:txBody>
      </p:sp>
      <p:sp>
        <p:nvSpPr>
          <p:cNvPr id="217" name="Google Shape;217;p27"/>
          <p:cNvSpPr/>
          <p:nvPr/>
        </p:nvSpPr>
        <p:spPr>
          <a:xfrm>
            <a:off x="630925" y="4075250"/>
            <a:ext cx="3703200" cy="658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71A34"/>
              </a:buClr>
              <a:buSzPts val="800"/>
              <a:buFont typeface="Arial"/>
              <a:buNone/>
            </a:pPr>
            <a:r>
              <a:rPr b="0" i="0" lang="en-GB" sz="1000" u="none" cap="none" strike="noStrike">
                <a:solidFill>
                  <a:srgbClr val="071A34"/>
                </a:solidFill>
                <a:latin typeface="Arial"/>
                <a:ea typeface="Arial"/>
                <a:cs typeface="Arial"/>
                <a:sym typeface="Arial"/>
              </a:rPr>
              <a:t>1. </a:t>
            </a:r>
            <a:r>
              <a:rPr lang="en-GB" sz="1000">
                <a:solidFill>
                  <a:srgbClr val="071A34"/>
                </a:solidFill>
              </a:rPr>
              <a:t>Assumption: AI/Tech leadership and resilient growth offset weak W25 seasonality.</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71A34"/>
              </a:buClr>
              <a:buSzPts val="800"/>
              <a:buFont typeface="Arial"/>
              <a:buNone/>
            </a:pPr>
            <a:r>
              <a:rPr b="0" i="0" lang="en-GB" sz="1000" u="none" cap="none" strike="noStrike">
                <a:solidFill>
                  <a:srgbClr val="071A34"/>
                </a:solidFill>
                <a:latin typeface="Arial"/>
                <a:ea typeface="Arial"/>
                <a:cs typeface="Arial"/>
                <a:sym typeface="Arial"/>
              </a:rPr>
              <a:t>2. Risk trigger: </a:t>
            </a:r>
            <a:r>
              <a:rPr lang="en-GB" sz="1000">
                <a:solidFill>
                  <a:srgbClr val="071A34"/>
                </a:solidFill>
              </a:rPr>
              <a:t>Hot PCE / hawkish Fed shift; SPX breaks below 8D and 21D EMAs.</a:t>
            </a:r>
            <a:endParaRPr b="0" i="0" sz="1000" u="none" cap="none" strike="noStrike">
              <a:solidFill>
                <a:schemeClr val="dk1"/>
              </a:solidFill>
              <a:latin typeface="Arial"/>
              <a:ea typeface="Arial"/>
              <a:cs typeface="Arial"/>
              <a:sym typeface="Arial"/>
            </a:endParaRPr>
          </a:p>
        </p:txBody>
      </p:sp>
      <p:sp>
        <p:nvSpPr>
          <p:cNvPr id="218" name="Google Shape;218;p27"/>
          <p:cNvSpPr/>
          <p:nvPr/>
        </p:nvSpPr>
        <p:spPr>
          <a:xfrm>
            <a:off x="4903465" y="3720549"/>
            <a:ext cx="54900" cy="1162500"/>
          </a:xfrm>
          <a:prstGeom prst="rect">
            <a:avLst/>
          </a:prstGeom>
          <a:solidFill>
            <a:srgbClr val="1EAF4A"/>
          </a:solidFill>
          <a:ln cap="flat" cmpd="sng" w="9525">
            <a:solidFill>
              <a:srgbClr val="1EAF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27"/>
          <p:cNvSpPr/>
          <p:nvPr/>
        </p:nvSpPr>
        <p:spPr>
          <a:xfrm>
            <a:off x="4958329" y="3711675"/>
            <a:ext cx="3799500" cy="1180500"/>
          </a:xfrm>
          <a:prstGeom prst="roundRect">
            <a:avLst>
              <a:gd fmla="val 9023"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7"/>
          <p:cNvSpPr/>
          <p:nvPr/>
        </p:nvSpPr>
        <p:spPr>
          <a:xfrm>
            <a:off x="5157216" y="3768326"/>
            <a:ext cx="1097400" cy="157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200"/>
              <a:buFont typeface="Arial"/>
              <a:buNone/>
            </a:pPr>
            <a:r>
              <a:rPr b="1" i="0" lang="en-GB" sz="1200" u="none" cap="none" strike="noStrike">
                <a:solidFill>
                  <a:srgbClr val="071A34"/>
                </a:solidFill>
                <a:latin typeface="Arial"/>
                <a:ea typeface="Arial"/>
                <a:cs typeface="Arial"/>
                <a:sym typeface="Arial"/>
              </a:rPr>
              <a:t>Evidence Lock</a:t>
            </a:r>
            <a:endParaRPr b="0" i="0" sz="1200" u="none" cap="none" strike="noStrike">
              <a:solidFill>
                <a:schemeClr val="dk1"/>
              </a:solidFill>
              <a:latin typeface="Arial"/>
              <a:ea typeface="Arial"/>
              <a:cs typeface="Arial"/>
              <a:sym typeface="Arial"/>
            </a:endParaRPr>
          </a:p>
        </p:txBody>
      </p:sp>
      <p:sp>
        <p:nvSpPr>
          <p:cNvPr id="221" name="Google Shape;221;p27"/>
          <p:cNvSpPr/>
          <p:nvPr/>
        </p:nvSpPr>
        <p:spPr>
          <a:xfrm>
            <a:off x="5157225" y="4075250"/>
            <a:ext cx="3410100" cy="658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en-GB" sz="1000">
                <a:solidFill>
                  <a:srgbClr val="071A34"/>
                </a:solidFill>
              </a:rPr>
              <a:t>Almanac: </a:t>
            </a:r>
            <a:r>
              <a:rPr b="1" lang="en-GB" sz="1000">
                <a:solidFill>
                  <a:srgbClr val="E53935"/>
                </a:solidFill>
              </a:rPr>
              <a:t>bearish</a:t>
            </a:r>
            <a:r>
              <a:rPr lang="en-GB" sz="1000">
                <a:solidFill>
                  <a:srgbClr val="071A34"/>
                </a:solidFill>
              </a:rPr>
              <a:t> W25 seasonal headwind</a:t>
            </a:r>
            <a:endParaRPr sz="1000">
              <a:solidFill>
                <a:srgbClr val="071A34"/>
              </a:solidFill>
            </a:endParaRPr>
          </a:p>
          <a:p>
            <a:pPr indent="0" lvl="0" marL="0" rtl="0" algn="l">
              <a:lnSpc>
                <a:spcPct val="150000"/>
              </a:lnSpc>
              <a:spcBef>
                <a:spcPts val="0"/>
              </a:spcBef>
              <a:spcAft>
                <a:spcPts val="0"/>
              </a:spcAft>
              <a:buClr>
                <a:schemeClr val="dk1"/>
              </a:buClr>
              <a:buSzPts val="1100"/>
              <a:buFont typeface="Arial"/>
              <a:buNone/>
            </a:pPr>
            <a:r>
              <a:rPr lang="en-GB" sz="1000">
                <a:solidFill>
                  <a:srgbClr val="071A34"/>
                </a:solidFill>
              </a:rPr>
              <a:t>Macro: moderately </a:t>
            </a:r>
            <a:r>
              <a:rPr b="1" lang="en-GB" sz="1000">
                <a:solidFill>
                  <a:srgbClr val="1EAF4A"/>
                </a:solidFill>
              </a:rPr>
              <a:t>bullish</a:t>
            </a:r>
            <a:r>
              <a:rPr lang="en-GB" sz="1000">
                <a:solidFill>
                  <a:srgbClr val="071A34"/>
                </a:solidFill>
              </a:rPr>
              <a:t>, XLK strongest</a:t>
            </a:r>
            <a:endParaRPr sz="1000">
              <a:solidFill>
                <a:srgbClr val="071A34"/>
              </a:solidFill>
            </a:endParaRPr>
          </a:p>
          <a:p>
            <a:pPr indent="0" lvl="0" marL="0" rtl="0" algn="l">
              <a:lnSpc>
                <a:spcPct val="150000"/>
              </a:lnSpc>
              <a:spcBef>
                <a:spcPts val="0"/>
              </a:spcBef>
              <a:spcAft>
                <a:spcPts val="0"/>
              </a:spcAft>
              <a:buClr>
                <a:schemeClr val="dk1"/>
              </a:buClr>
              <a:buSzPts val="1100"/>
              <a:buFont typeface="Arial"/>
              <a:buNone/>
            </a:pPr>
            <a:r>
              <a:rPr lang="en-GB" sz="1000">
                <a:solidFill>
                  <a:srgbClr val="071A34"/>
                </a:solidFill>
              </a:rPr>
              <a:t>Technical: SPX/NDX/IWM </a:t>
            </a:r>
            <a:r>
              <a:rPr b="1" lang="en-GB" sz="1000">
                <a:solidFill>
                  <a:srgbClr val="1EAF4A"/>
                </a:solidFill>
              </a:rPr>
              <a:t>bullish</a:t>
            </a:r>
            <a:endParaRPr b="1" sz="1000">
              <a:solidFill>
                <a:srgbClr val="1EAF4A"/>
              </a:solidFill>
            </a:endParaRPr>
          </a:p>
          <a:p>
            <a:pPr indent="0" lvl="0" marL="0" rtl="0" algn="l">
              <a:lnSpc>
                <a:spcPct val="150000"/>
              </a:lnSpc>
              <a:spcBef>
                <a:spcPts val="0"/>
              </a:spcBef>
              <a:spcAft>
                <a:spcPts val="0"/>
              </a:spcAft>
              <a:buNone/>
            </a:pPr>
            <a:r>
              <a:rPr lang="en-GB" sz="1000">
                <a:solidFill>
                  <a:srgbClr val="071A34"/>
                </a:solidFill>
              </a:rPr>
              <a:t>Final prediction committed: </a:t>
            </a:r>
            <a:r>
              <a:rPr b="1" lang="en-GB" sz="1000">
                <a:solidFill>
                  <a:srgbClr val="FFB52A"/>
                </a:solidFill>
              </a:rPr>
              <a:t>Neutral</a:t>
            </a:r>
            <a:r>
              <a:rPr lang="en-GB" sz="1000">
                <a:solidFill>
                  <a:srgbClr val="071A34"/>
                </a:solidFill>
              </a:rPr>
              <a:t>-</a:t>
            </a:r>
            <a:r>
              <a:rPr b="1" lang="en-GB" sz="1000">
                <a:solidFill>
                  <a:srgbClr val="1EAF4A"/>
                </a:solidFill>
              </a:rPr>
              <a:t>Bullish</a:t>
            </a:r>
            <a:endParaRPr b="1" sz="1000">
              <a:solidFill>
                <a:srgbClr val="1EAF4A"/>
              </a:solidFill>
            </a:endParaRPr>
          </a:p>
        </p:txBody>
      </p:sp>
      <p:sp>
        <p:nvSpPr>
          <p:cNvPr id="222" name="Google Shape;222;p27"/>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rgbClr val="000000"/>
              </a:buClr>
              <a:buSzPts val="800"/>
              <a:buFont typeface="Arial"/>
              <a:buNone/>
            </a:pPr>
            <a:r>
              <a:rPr b="1" lang="en-GB" sz="1200">
                <a:solidFill>
                  <a:srgbClr val="FFFFFF"/>
                </a:solidFill>
              </a:rPr>
              <a:t>Forecast Contract</a:t>
            </a:r>
            <a:endParaRPr i="0" sz="1200" u="none" cap="none" strike="noStrike">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26" name="Shape 226"/>
        <p:cNvGrpSpPr/>
        <p:nvPr/>
      </p:nvGrpSpPr>
      <p:grpSpPr>
        <a:xfrm>
          <a:off x="0" y="0"/>
          <a:ext cx="0" cy="0"/>
          <a:chOff x="0" y="0"/>
          <a:chExt cx="0" cy="0"/>
        </a:xfrm>
      </p:grpSpPr>
      <p:sp>
        <p:nvSpPr>
          <p:cNvPr id="227" name="Google Shape;227;p2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28"/>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2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6</a:t>
            </a:r>
            <a:r>
              <a:rPr b="1" lang="en-GB" sz="1500">
                <a:solidFill>
                  <a:srgbClr val="FFFFFF"/>
                </a:solidFill>
                <a:latin typeface="Arial"/>
                <a:ea typeface="Arial"/>
                <a:cs typeface="Arial"/>
                <a:sym typeface="Arial"/>
              </a:rPr>
              <a:t> Data Lead</a:t>
            </a:r>
            <a:endParaRPr/>
          </a:p>
        </p:txBody>
      </p:sp>
      <p:sp>
        <p:nvSpPr>
          <p:cNvPr id="230" name="Google Shape;230;p28"/>
          <p:cNvSpPr/>
          <p:nvPr/>
        </p:nvSpPr>
        <p:spPr>
          <a:xfrm>
            <a:off x="2788920" y="201168"/>
            <a:ext cx="23316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chemeClr val="lt1"/>
                </a:solidFill>
              </a:rPr>
              <a:t>Design 1 / Actuals Audit Table</a:t>
            </a:r>
            <a:endParaRPr sz="1800">
              <a:solidFill>
                <a:schemeClr val="lt1"/>
              </a:solidFill>
              <a:latin typeface="Calibri"/>
              <a:ea typeface="Calibri"/>
              <a:cs typeface="Calibri"/>
              <a:sym typeface="Calibri"/>
            </a:endParaRPr>
          </a:p>
        </p:txBody>
      </p:sp>
      <p:sp>
        <p:nvSpPr>
          <p:cNvPr id="231" name="Google Shape;231;p28"/>
          <p:cNvSpPr txBox="1"/>
          <p:nvPr/>
        </p:nvSpPr>
        <p:spPr>
          <a:xfrm>
            <a:off x="5257800" y="182880"/>
            <a:ext cx="2011800" cy="223200"/>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r>
              <a:rPr b="0" lang="en-GB" sz="850">
                <a:solidFill>
                  <a:srgbClr val="B7C3D0"/>
                </a:solidFill>
                <a:latin typeface="Arial"/>
                <a:ea typeface="Arial"/>
                <a:cs typeface="Arial"/>
                <a:sym typeface="Arial"/>
              </a:rPr>
              <a:t>Theme slide</a:t>
            </a:r>
            <a:endParaRPr/>
          </a:p>
        </p:txBody>
      </p:sp>
      <p:sp>
        <p:nvSpPr>
          <p:cNvPr id="232" name="Google Shape;232;p28"/>
          <p:cNvSpPr txBox="1"/>
          <p:nvPr/>
        </p:nvSpPr>
        <p:spPr>
          <a:xfrm>
            <a:off x="8577072" y="155448"/>
            <a:ext cx="292500" cy="2463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GB" sz="1000">
                <a:solidFill>
                  <a:srgbClr val="FFFFFF"/>
                </a:solidFill>
                <a:latin typeface="Arial"/>
                <a:ea typeface="Arial"/>
                <a:cs typeface="Arial"/>
                <a:sym typeface="Arial"/>
              </a:rPr>
              <a:t>06</a:t>
            </a:r>
            <a:endParaRPr/>
          </a:p>
        </p:txBody>
      </p:sp>
      <p:sp>
        <p:nvSpPr>
          <p:cNvPr id="233" name="Google Shape;233;p28"/>
          <p:cNvSpPr txBox="1"/>
          <p:nvPr/>
        </p:nvSpPr>
        <p:spPr>
          <a:xfrm>
            <a:off x="475488" y="877824"/>
            <a:ext cx="37491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Week </a:t>
            </a:r>
            <a:r>
              <a:rPr b="1" lang="en-GB" sz="1800">
                <a:solidFill>
                  <a:srgbClr val="08172E"/>
                </a:solidFill>
              </a:rPr>
              <a:t>W24 </a:t>
            </a:r>
            <a:r>
              <a:rPr b="1" lang="en-GB" sz="1800">
                <a:solidFill>
                  <a:srgbClr val="08172E"/>
                </a:solidFill>
                <a:latin typeface="Arial"/>
                <a:ea typeface="Arial"/>
                <a:cs typeface="Arial"/>
                <a:sym typeface="Arial"/>
              </a:rPr>
              <a:t>market actuals</a:t>
            </a:r>
            <a:endParaRPr/>
          </a:p>
        </p:txBody>
      </p:sp>
      <p:sp>
        <p:nvSpPr>
          <p:cNvPr id="234" name="Google Shape;234;p28"/>
          <p:cNvSpPr txBox="1"/>
          <p:nvPr/>
        </p:nvSpPr>
        <p:spPr>
          <a:xfrm>
            <a:off x="475488" y="1188720"/>
            <a:ext cx="64923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50">
                <a:solidFill>
                  <a:srgbClr val="56657D"/>
                </a:solidFill>
                <a:latin typeface="Arial"/>
                <a:ea typeface="Arial"/>
                <a:cs typeface="Arial"/>
                <a:sym typeface="Arial"/>
              </a:rPr>
              <a:t>Optimized for SPX, NDX, IWM, and cross-asset actuals with source discipline.</a:t>
            </a:r>
            <a:endParaRPr/>
          </a:p>
        </p:txBody>
      </p:sp>
      <p:graphicFrame>
        <p:nvGraphicFramePr>
          <p:cNvPr id="235" name="Google Shape;235;p28"/>
          <p:cNvGraphicFramePr/>
          <p:nvPr/>
        </p:nvGraphicFramePr>
        <p:xfrm>
          <a:off x="502920" y="1572768"/>
          <a:ext cx="3000000" cy="3000000"/>
        </p:xfrm>
        <a:graphic>
          <a:graphicData uri="http://schemas.openxmlformats.org/drawingml/2006/table">
            <a:tbl>
              <a:tblPr bandRow="1" firstRow="1">
                <a:noFill/>
                <a:tableStyleId>{48E8BD2B-F706-4D05-9967-F8E5D5D35CF0}</a:tableStyleId>
              </a:tblPr>
              <a:tblGrid>
                <a:gridCol w="1069850"/>
                <a:gridCol w="1069850"/>
                <a:gridCol w="1069850"/>
                <a:gridCol w="1069850"/>
                <a:gridCol w="1069850"/>
              </a:tblGrid>
              <a:tr h="384675">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Asset</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Prediction</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Actual</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Result</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Evidence</a:t>
                      </a:r>
                      <a:endParaRPr/>
                    </a:p>
                  </a:txBody>
                  <a:tcPr marT="27425" marB="27425" marR="36575" marL="36575">
                    <a:solidFill>
                      <a:srgbClr val="08172E"/>
                    </a:solidFill>
                  </a:tcPr>
                </a:tc>
              </a:tr>
              <a:tr h="38467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SPX</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Neutral → Cautiously Up</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a:t>
                      </a:r>
                      <a:r>
                        <a:rPr lang="en-GB" sz="819">
                          <a:solidFill>
                            <a:srgbClr val="38761D"/>
                          </a:solidFill>
                          <a:latin typeface="Arial"/>
                          <a:ea typeface="Arial"/>
                          <a:cs typeface="Arial"/>
                          <a:sym typeface="Arial"/>
                        </a:rPr>
                        <a:t>1.21%</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HIT</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a:p>
                  </a:txBody>
                  <a:tcPr marT="27425" marB="27425" marR="36575" marL="36575">
                    <a:solidFill>
                      <a:srgbClr val="FFFFFF"/>
                    </a:solidFill>
                  </a:tcPr>
                </a:tc>
              </a:tr>
              <a:tr h="38467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NDX</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Up</a:t>
                      </a:r>
                      <a:endParaRPr>
                        <a:solidFill>
                          <a:srgbClr val="38761D"/>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a:t>
                      </a:r>
                      <a:r>
                        <a:rPr lang="en-GB" sz="819">
                          <a:solidFill>
                            <a:srgbClr val="38761D"/>
                          </a:solidFill>
                          <a:latin typeface="Arial"/>
                          <a:ea typeface="Arial"/>
                          <a:cs typeface="Arial"/>
                          <a:sym typeface="Arial"/>
                        </a:rPr>
                        <a:t>3.49%</a:t>
                      </a:r>
                      <a:endParaRPr>
                        <a:solidFill>
                          <a:srgbClr val="38761D"/>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HIT</a:t>
                      </a:r>
                      <a:endParaRPr>
                        <a:solidFill>
                          <a:srgbClr val="38761D"/>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a:p>
                  </a:txBody>
                  <a:tcPr marT="27425" marB="27425" marR="36575" marL="36575">
                    <a:solidFill>
                      <a:srgbClr val="F8FBFE"/>
                    </a:solidFill>
                  </a:tcPr>
                </a:tc>
              </a:tr>
              <a:tr h="38467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IWM</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Flat → Up</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+1.6%</a:t>
                      </a:r>
                      <a:endParaRPr>
                        <a:solidFill>
                          <a:srgbClr val="38761D"/>
                        </a:solidFill>
                      </a:endParaRPr>
                    </a:p>
                  </a:txBody>
                  <a:tcPr marT="27425" marB="27425" marR="36575" marL="36575">
                    <a:solidFill>
                      <a:srgbClr val="FFFFFF"/>
                    </a:solidFill>
                  </a:tcPr>
                </a:tc>
                <a:tc>
                  <a:txBody>
                    <a:bodyPr/>
                    <a:lstStyle/>
                    <a:p>
                      <a:pPr indent="0" lvl="0" marL="0" rtl="0" algn="l">
                        <a:spcBef>
                          <a:spcPts val="0"/>
                        </a:spcBef>
                        <a:spcAft>
                          <a:spcPts val="0"/>
                        </a:spcAft>
                        <a:buClr>
                          <a:schemeClr val="dk1"/>
                        </a:buClr>
                        <a:buFont typeface="Arial"/>
                        <a:buNone/>
                      </a:pPr>
                      <a:r>
                        <a:rPr lang="en-GB" sz="819">
                          <a:solidFill>
                            <a:srgbClr val="38761D"/>
                          </a:solidFill>
                          <a:latin typeface="Arial"/>
                          <a:ea typeface="Arial"/>
                          <a:cs typeface="Arial"/>
                          <a:sym typeface="Arial"/>
                        </a:rPr>
                        <a:t>HIT</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a:p>
                  </a:txBody>
                  <a:tcPr marT="27425" marB="27425" marR="36575" marL="36575">
                    <a:solidFill>
                      <a:srgbClr val="FFFFFF"/>
                    </a:solidFill>
                  </a:tcPr>
                </a:tc>
              </a:tr>
              <a:tr h="384675">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XLK</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38761D"/>
                          </a:solidFill>
                          <a:latin typeface="Arial"/>
                          <a:ea typeface="Arial"/>
                          <a:cs typeface="Arial"/>
                          <a:sym typeface="Arial"/>
                        </a:rPr>
                        <a:t>Up</a:t>
                      </a:r>
                      <a:endParaRPr>
                        <a:solidFill>
                          <a:srgbClr val="38761D"/>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+4.48%</a:t>
                      </a:r>
                      <a:endParaRPr>
                        <a:solidFill>
                          <a:srgbClr val="38761D"/>
                        </a:solidFill>
                      </a:endParaRPr>
                    </a:p>
                  </a:txBody>
                  <a:tcPr marT="27425" marB="27425" marR="36575" marL="36575">
                    <a:solidFill>
                      <a:srgbClr val="F8FBFE"/>
                    </a:solidFill>
                  </a:tcPr>
                </a:tc>
                <a:tc>
                  <a:txBody>
                    <a:bodyPr/>
                    <a:lstStyle/>
                    <a:p>
                      <a:pPr indent="0" lvl="0" marL="0" rtl="0" algn="l">
                        <a:spcBef>
                          <a:spcPts val="0"/>
                        </a:spcBef>
                        <a:spcAft>
                          <a:spcPts val="0"/>
                        </a:spcAft>
                        <a:buClr>
                          <a:schemeClr val="dk1"/>
                        </a:buClr>
                        <a:buFont typeface="Arial"/>
                        <a:buNone/>
                      </a:pPr>
                      <a:r>
                        <a:rPr lang="en-GB" sz="819">
                          <a:solidFill>
                            <a:srgbClr val="38761D"/>
                          </a:solidFill>
                          <a:latin typeface="Arial"/>
                          <a:ea typeface="Arial"/>
                          <a:cs typeface="Arial"/>
                          <a:sym typeface="Arial"/>
                        </a:rPr>
                        <a:t>HIT</a:t>
                      </a:r>
                      <a:endParaRPr>
                        <a:solidFill>
                          <a:srgbClr val="38761D"/>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a:p>
                  </a:txBody>
                  <a:tcPr marT="27425" marB="27425" marR="36575" marL="36575">
                    <a:solidFill>
                      <a:srgbClr val="F8FBFE"/>
                    </a:solidFill>
                  </a:tcPr>
                </a:tc>
              </a:tr>
              <a:tr h="384675">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XLF</a:t>
                      </a:r>
                      <a:endParaRPr b="0" sz="819" u="none" cap="none" strike="noStrike">
                        <a:solidFill>
                          <a:srgbClr val="1C2430"/>
                        </a:solidFill>
                        <a:latin typeface="Arial"/>
                        <a:ea typeface="Arial"/>
                        <a:cs typeface="Arial"/>
                        <a:sym typeface="Aria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Neutral → Up</a:t>
                      </a:r>
                      <a:endParaRPr b="0" sz="819" u="none" cap="none" strike="noStrike">
                        <a:solidFill>
                          <a:srgbClr val="38761D"/>
                        </a:solidFill>
                        <a:latin typeface="Arial"/>
                        <a:ea typeface="Arial"/>
                        <a:cs typeface="Arial"/>
                        <a:sym typeface="Aria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+1.15%</a:t>
                      </a:r>
                      <a:endParaRPr b="0" sz="819" u="none" cap="none" strike="noStrike">
                        <a:solidFill>
                          <a:srgbClr val="38761D"/>
                        </a:solidFill>
                        <a:latin typeface="Arial"/>
                        <a:ea typeface="Arial"/>
                        <a:cs typeface="Arial"/>
                        <a:sym typeface="Arial"/>
                      </a:endParaRPr>
                    </a:p>
                  </a:txBody>
                  <a:tcPr marT="27425" marB="27425" marR="36575" marL="36575">
                    <a:solidFill>
                      <a:srgbClr val="F8FBFE"/>
                    </a:solidFill>
                  </a:tcPr>
                </a:tc>
                <a:tc>
                  <a:txBody>
                    <a:bodyPr/>
                    <a:lstStyle/>
                    <a:p>
                      <a:pPr indent="0" lvl="0" marL="0" rtl="0" algn="l">
                        <a:spcBef>
                          <a:spcPts val="0"/>
                        </a:spcBef>
                        <a:spcAft>
                          <a:spcPts val="0"/>
                        </a:spcAft>
                        <a:buClr>
                          <a:schemeClr val="dk1"/>
                        </a:buClr>
                        <a:buFont typeface="Arial"/>
                        <a:buNone/>
                      </a:pPr>
                      <a:r>
                        <a:rPr lang="en-GB" sz="819">
                          <a:solidFill>
                            <a:srgbClr val="38761D"/>
                          </a:solidFill>
                          <a:latin typeface="Arial"/>
                          <a:ea typeface="Arial"/>
                          <a:cs typeface="Arial"/>
                          <a:sym typeface="Arial"/>
                        </a:rPr>
                        <a:t>HIT</a:t>
                      </a:r>
                      <a:endParaRPr b="0" sz="819" u="none" cap="none" strike="noStrike">
                        <a:solidFill>
                          <a:srgbClr val="38761D"/>
                        </a:solidFill>
                        <a:latin typeface="Arial"/>
                        <a:ea typeface="Arial"/>
                        <a:cs typeface="Arial"/>
                        <a:sym typeface="Aria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b="0" sz="819" u="none" cap="none" strike="noStrike">
                        <a:solidFill>
                          <a:srgbClr val="1C2430"/>
                        </a:solidFill>
                        <a:latin typeface="Arial"/>
                        <a:ea typeface="Arial"/>
                        <a:cs typeface="Arial"/>
                        <a:sym typeface="Arial"/>
                      </a:endParaRPr>
                    </a:p>
                  </a:txBody>
                  <a:tcPr marT="27425" marB="27425" marR="36575" marL="36575">
                    <a:solidFill>
                      <a:srgbClr val="F8FBFE"/>
                    </a:solidFill>
                  </a:tcPr>
                </a:tc>
              </a:tr>
              <a:tr h="384675">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XLE</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CC0000"/>
                          </a:solidFill>
                          <a:latin typeface="Arial"/>
                          <a:ea typeface="Arial"/>
                          <a:cs typeface="Arial"/>
                          <a:sym typeface="Arial"/>
                        </a:rPr>
                        <a:t>Down</a:t>
                      </a:r>
                      <a:endParaRPr>
                        <a:solidFill>
                          <a:srgbClr val="CC0000"/>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CC0000"/>
                          </a:solidFill>
                          <a:latin typeface="Arial"/>
                          <a:ea typeface="Arial"/>
                          <a:cs typeface="Arial"/>
                          <a:sym typeface="Arial"/>
                        </a:rPr>
                        <a:t>-5.32%</a:t>
                      </a:r>
                      <a:endParaRPr>
                        <a:solidFill>
                          <a:srgbClr val="CC0000"/>
                        </a:solidFill>
                      </a:endParaRPr>
                    </a:p>
                  </a:txBody>
                  <a:tcPr marT="27425" marB="27425" marR="36575" marL="36575">
                    <a:solidFill>
                      <a:srgbClr val="FFFFFF"/>
                    </a:solidFill>
                  </a:tcPr>
                </a:tc>
                <a:tc>
                  <a:txBody>
                    <a:bodyPr/>
                    <a:lstStyle/>
                    <a:p>
                      <a:pPr indent="0" lvl="0" marL="0" rtl="0" algn="l">
                        <a:spcBef>
                          <a:spcPts val="0"/>
                        </a:spcBef>
                        <a:spcAft>
                          <a:spcPts val="0"/>
                        </a:spcAft>
                        <a:buClr>
                          <a:schemeClr val="dk1"/>
                        </a:buClr>
                        <a:buFont typeface="Arial"/>
                        <a:buNone/>
                      </a:pPr>
                      <a:r>
                        <a:rPr lang="en-GB" sz="819">
                          <a:solidFill>
                            <a:srgbClr val="38761D"/>
                          </a:solidFill>
                          <a:latin typeface="Arial"/>
                          <a:ea typeface="Arial"/>
                          <a:cs typeface="Arial"/>
                          <a:sym typeface="Arial"/>
                        </a:rPr>
                        <a:t>HIT</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actual_2026-W24.md</a:t>
                      </a:r>
                      <a:endParaRPr/>
                    </a:p>
                  </a:txBody>
                  <a:tcPr marT="27425" marB="27425" marR="36575" marL="36575">
                    <a:solidFill>
                      <a:srgbClr val="FFFFFF"/>
                    </a:solidFill>
                  </a:tcPr>
                </a:tc>
              </a:tr>
            </a:tbl>
          </a:graphicData>
        </a:graphic>
      </p:graphicFrame>
      <p:sp>
        <p:nvSpPr>
          <p:cNvPr id="236" name="Google Shape;236;p28"/>
          <p:cNvSpPr/>
          <p:nvPr/>
        </p:nvSpPr>
        <p:spPr>
          <a:xfrm>
            <a:off x="6126480" y="1572768"/>
            <a:ext cx="11430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28"/>
          <p:cNvSpPr txBox="1"/>
          <p:nvPr/>
        </p:nvSpPr>
        <p:spPr>
          <a:xfrm>
            <a:off x="6263640" y="1682495"/>
            <a:ext cx="8688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HIT RATE</a:t>
            </a:r>
            <a:endParaRPr/>
          </a:p>
        </p:txBody>
      </p:sp>
      <p:sp>
        <p:nvSpPr>
          <p:cNvPr id="238" name="Google Shape;238;p28"/>
          <p:cNvSpPr txBox="1"/>
          <p:nvPr/>
        </p:nvSpPr>
        <p:spPr>
          <a:xfrm>
            <a:off x="6263640" y="1892807"/>
            <a:ext cx="5892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2FB344"/>
                </a:solidFill>
              </a:rPr>
              <a:t>6</a:t>
            </a:r>
            <a:r>
              <a:rPr b="1" lang="en-GB" sz="2000">
                <a:solidFill>
                  <a:srgbClr val="2FB344"/>
                </a:solidFill>
                <a:latin typeface="Arial"/>
                <a:ea typeface="Arial"/>
                <a:cs typeface="Arial"/>
                <a:sym typeface="Arial"/>
              </a:rPr>
              <a:t>/</a:t>
            </a:r>
            <a:r>
              <a:rPr b="1" lang="en-GB" sz="2000">
                <a:solidFill>
                  <a:srgbClr val="2FB344"/>
                </a:solidFill>
              </a:rPr>
              <a:t> 6</a:t>
            </a:r>
            <a:endParaRPr/>
          </a:p>
        </p:txBody>
      </p:sp>
      <p:sp>
        <p:nvSpPr>
          <p:cNvPr id="239" name="Google Shape;239;p28"/>
          <p:cNvSpPr/>
          <p:nvPr/>
        </p:nvSpPr>
        <p:spPr>
          <a:xfrm>
            <a:off x="7406640" y="1572768"/>
            <a:ext cx="11430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28"/>
          <p:cNvSpPr txBox="1"/>
          <p:nvPr/>
        </p:nvSpPr>
        <p:spPr>
          <a:xfrm>
            <a:off x="7543800" y="1682495"/>
            <a:ext cx="8688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LARGEST MISS</a:t>
            </a:r>
            <a:endParaRPr/>
          </a:p>
        </p:txBody>
      </p:sp>
      <p:sp>
        <p:nvSpPr>
          <p:cNvPr id="241" name="Google Shape;241;p28"/>
          <p:cNvSpPr txBox="1"/>
          <p:nvPr/>
        </p:nvSpPr>
        <p:spPr>
          <a:xfrm>
            <a:off x="7406700" y="1892800"/>
            <a:ext cx="1143000" cy="923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Clr>
                <a:schemeClr val="dk1"/>
              </a:buClr>
              <a:buSzPts val="1100"/>
              <a:buFont typeface="Arial"/>
              <a:buNone/>
            </a:pPr>
            <a:r>
              <a:rPr b="1" lang="en-GB" sz="1700">
                <a:solidFill>
                  <a:srgbClr val="2FB344"/>
                </a:solidFill>
              </a:rPr>
              <a:t>NONE</a:t>
            </a:r>
            <a:endParaRPr b="1" sz="1700">
              <a:solidFill>
                <a:srgbClr val="2FB344"/>
              </a:solidFill>
            </a:endParaRPr>
          </a:p>
          <a:p>
            <a:pPr indent="0" lvl="0" marL="0" rtl="0" algn="ctr">
              <a:spcBef>
                <a:spcPts val="0"/>
              </a:spcBef>
              <a:spcAft>
                <a:spcPts val="0"/>
              </a:spcAft>
              <a:buClr>
                <a:schemeClr val="dk1"/>
              </a:buClr>
              <a:buSzPts val="1100"/>
              <a:buFont typeface="Arial"/>
              <a:buNone/>
            </a:pPr>
            <a:r>
              <a:rPr b="1" lang="en-GB" sz="1700">
                <a:solidFill>
                  <a:srgbClr val="2FB344"/>
                </a:solidFill>
              </a:rPr>
              <a:t>(100% Hit)</a:t>
            </a:r>
            <a:endParaRPr b="1" sz="1700">
              <a:solidFill>
                <a:srgbClr val="2FB344"/>
              </a:solidFill>
            </a:endParaRPr>
          </a:p>
          <a:p>
            <a:pPr indent="0" lvl="0" marL="0" marR="0" rtl="0" algn="l">
              <a:spcBef>
                <a:spcPts val="0"/>
              </a:spcBef>
              <a:spcAft>
                <a:spcPts val="0"/>
              </a:spcAft>
              <a:buNone/>
            </a:pPr>
            <a:r>
              <a:t/>
            </a:r>
            <a:endParaRPr b="1" sz="2000">
              <a:solidFill>
                <a:srgbClr val="D64545"/>
              </a:solidFill>
            </a:endParaRPr>
          </a:p>
        </p:txBody>
      </p:sp>
      <p:sp>
        <p:nvSpPr>
          <p:cNvPr id="242" name="Google Shape;242;p28"/>
          <p:cNvSpPr/>
          <p:nvPr/>
        </p:nvSpPr>
        <p:spPr>
          <a:xfrm>
            <a:off x="6126480" y="2788920"/>
            <a:ext cx="2423100" cy="1298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28"/>
          <p:cNvSpPr/>
          <p:nvPr/>
        </p:nvSpPr>
        <p:spPr>
          <a:xfrm>
            <a:off x="6126480" y="2788920"/>
            <a:ext cx="73200" cy="1298400"/>
          </a:xfrm>
          <a:prstGeom prst="rect">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28"/>
          <p:cNvSpPr txBox="1"/>
          <p:nvPr/>
        </p:nvSpPr>
        <p:spPr>
          <a:xfrm>
            <a:off x="6263640" y="2880360"/>
            <a:ext cx="2194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Source line</a:t>
            </a:r>
            <a:endParaRPr/>
          </a:p>
        </p:txBody>
      </p:sp>
      <p:sp>
        <p:nvSpPr>
          <p:cNvPr id="245" name="Google Shape;245;p28"/>
          <p:cNvSpPr txBox="1"/>
          <p:nvPr/>
        </p:nvSpPr>
        <p:spPr>
          <a:xfrm>
            <a:off x="6263650" y="3111476"/>
            <a:ext cx="2194500" cy="1108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SzPts val="1100"/>
              <a:buFont typeface="Arial"/>
              <a:buNone/>
            </a:pPr>
            <a:r>
              <a:rPr b="1" lang="en-GB" sz="800">
                <a:solidFill>
                  <a:schemeClr val="dk1"/>
                </a:solidFill>
              </a:rPr>
              <a:t>Primary source: </a:t>
            </a:r>
            <a:r>
              <a:rPr lang="en-GB" sz="800">
                <a:solidFill>
                  <a:schemeClr val="dk1"/>
                </a:solidFill>
              </a:rPr>
              <a:t>yfinance API Ingestion Engine (W25 Automated Close Window)</a:t>
            </a:r>
            <a:endParaRPr sz="800">
              <a:solidFill>
                <a:schemeClr val="dk1"/>
              </a:solidFill>
            </a:endParaRPr>
          </a:p>
          <a:p>
            <a:pPr indent="0" lvl="0" marL="0" rtl="0" algn="l">
              <a:spcBef>
                <a:spcPts val="0"/>
              </a:spcBef>
              <a:spcAft>
                <a:spcPts val="0"/>
              </a:spcAft>
              <a:buClr>
                <a:schemeClr val="dk1"/>
              </a:buClr>
              <a:buSzPts val="1100"/>
              <a:buFont typeface="Arial"/>
              <a:buNone/>
            </a:pPr>
            <a:r>
              <a:rPr b="1" lang="en-GB" sz="800">
                <a:solidFill>
                  <a:schemeClr val="dk1"/>
                </a:solidFill>
              </a:rPr>
              <a:t>Reference Log:</a:t>
            </a:r>
            <a:r>
              <a:rPr lang="en-GB" sz="800">
                <a:solidFill>
                  <a:schemeClr val="dk1"/>
                </a:solidFill>
              </a:rPr>
              <a:t> prediction_2026-W24_team2.md</a:t>
            </a:r>
            <a:endParaRPr sz="800">
              <a:solidFill>
                <a:schemeClr val="dk1"/>
              </a:solidFill>
            </a:endParaRPr>
          </a:p>
          <a:p>
            <a:pPr indent="0" lvl="0" marL="0" rtl="0" algn="l">
              <a:spcBef>
                <a:spcPts val="0"/>
              </a:spcBef>
              <a:spcAft>
                <a:spcPts val="0"/>
              </a:spcAft>
              <a:buClr>
                <a:schemeClr val="dk1"/>
              </a:buClr>
              <a:buSzPts val="1100"/>
              <a:buFont typeface="Arial"/>
              <a:buNone/>
            </a:pPr>
            <a:r>
              <a:rPr b="1" lang="en-GB" sz="800">
                <a:solidFill>
                  <a:schemeClr val="dk1"/>
                </a:solidFill>
              </a:rPr>
              <a:t>Repository path:</a:t>
            </a:r>
            <a:endParaRPr b="1" sz="800">
              <a:solidFill>
                <a:schemeClr val="dk1"/>
              </a:solidFill>
            </a:endParaRPr>
          </a:p>
          <a:p>
            <a:pPr indent="0" lvl="0" marL="0" rtl="0" algn="l">
              <a:spcBef>
                <a:spcPts val="0"/>
              </a:spcBef>
              <a:spcAft>
                <a:spcPts val="0"/>
              </a:spcAft>
              <a:buClr>
                <a:schemeClr val="dk1"/>
              </a:buClr>
              <a:buSzPts val="1100"/>
              <a:buFont typeface="Arial"/>
              <a:buNone/>
            </a:pPr>
            <a:r>
              <a:rPr lang="en-GB" sz="800">
                <a:solidFill>
                  <a:schemeClr val="dk1"/>
                </a:solidFill>
              </a:rPr>
              <a:t>.github/workflows/r6_data_pipeline.yml</a:t>
            </a:r>
            <a:endParaRPr sz="800">
              <a:solidFill>
                <a:schemeClr val="dk1"/>
              </a:solidFill>
            </a:endParaRPr>
          </a:p>
          <a:p>
            <a:pPr indent="0" lvl="0" marL="0" rtl="0" algn="l">
              <a:spcBef>
                <a:spcPts val="0"/>
              </a:spcBef>
              <a:spcAft>
                <a:spcPts val="0"/>
              </a:spcAft>
              <a:buClr>
                <a:schemeClr val="dk1"/>
              </a:buClr>
              <a:buSzPts val="1100"/>
              <a:buFont typeface="Arial"/>
              <a:buNone/>
            </a:pPr>
            <a:r>
              <a:rPr b="1" lang="en-GB" sz="800">
                <a:solidFill>
                  <a:schemeClr val="dk1"/>
                </a:solidFill>
              </a:rPr>
              <a:t>Data Artifact: </a:t>
            </a:r>
            <a:r>
              <a:rPr lang="en-GB" sz="800">
                <a:solidFill>
                  <a:schemeClr val="dk1"/>
                </a:solidFill>
              </a:rPr>
              <a:t>market_snapshot_W25.json</a:t>
            </a:r>
            <a:endParaRPr sz="800">
              <a:solidFill>
                <a:schemeClr val="dk1"/>
              </a:solidFill>
            </a:endParaRPr>
          </a:p>
          <a:p>
            <a:pPr indent="0" lvl="0" marL="0" marR="0" rtl="0" algn="l">
              <a:spcBef>
                <a:spcPts val="0"/>
              </a:spcBef>
              <a:spcAft>
                <a:spcPts val="0"/>
              </a:spcAft>
              <a:buNone/>
            </a:pPr>
            <a:r>
              <a:t/>
            </a:r>
            <a:endParaRPr sz="1000">
              <a:solidFill>
                <a:srgbClr val="56657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49" name="Shape 249"/>
        <p:cNvGrpSpPr/>
        <p:nvPr/>
      </p:nvGrpSpPr>
      <p:grpSpPr>
        <a:xfrm>
          <a:off x="0" y="0"/>
          <a:ext cx="0" cy="0"/>
          <a:chOff x="0" y="0"/>
          <a:chExt cx="0" cy="0"/>
        </a:xfrm>
      </p:grpSpPr>
      <p:sp>
        <p:nvSpPr>
          <p:cNvPr id="250" name="Google Shape;250;p2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29"/>
          <p:cNvSpPr/>
          <p:nvPr/>
        </p:nvSpPr>
        <p:spPr>
          <a:xfrm>
            <a:off x="0" y="640080"/>
            <a:ext cx="9144000" cy="36600"/>
          </a:xfrm>
          <a:prstGeom prst="rect">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29"/>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R3 Almanac Lead</a:t>
            </a:r>
            <a:endParaRPr/>
          </a:p>
        </p:txBody>
      </p:sp>
      <p:pic>
        <p:nvPicPr>
          <p:cNvPr id="253" name="Google Shape;253;p29" title="1.png"/>
          <p:cNvPicPr preferRelativeResize="0"/>
          <p:nvPr/>
        </p:nvPicPr>
        <p:blipFill>
          <a:blip r:embed="rId3">
            <a:alphaModFix/>
          </a:blip>
          <a:stretch>
            <a:fillRect/>
          </a:stretch>
        </p:blipFill>
        <p:spPr>
          <a:xfrm>
            <a:off x="0" y="-1362"/>
            <a:ext cx="9143988" cy="51462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7" name="Shape 257"/>
        <p:cNvGrpSpPr/>
        <p:nvPr/>
      </p:nvGrpSpPr>
      <p:grpSpPr>
        <a:xfrm>
          <a:off x="0" y="0"/>
          <a:ext cx="0" cy="0"/>
          <a:chOff x="0" y="0"/>
          <a:chExt cx="0" cy="0"/>
        </a:xfrm>
      </p:grpSpPr>
      <p:grpSp>
        <p:nvGrpSpPr>
          <p:cNvPr id="258" name="Google Shape;258;p30"/>
          <p:cNvGrpSpPr/>
          <p:nvPr/>
        </p:nvGrpSpPr>
        <p:grpSpPr>
          <a:xfrm>
            <a:off x="0" y="0"/>
            <a:ext cx="9144000" cy="647700"/>
            <a:chOff x="0" y="0"/>
            <a:chExt cx="9144000" cy="647700"/>
          </a:xfrm>
        </p:grpSpPr>
        <p:sp>
          <p:nvSpPr>
            <p:cNvPr id="259" name="Google Shape;259;p30"/>
            <p:cNvSpPr/>
            <p:nvPr/>
          </p:nvSpPr>
          <p:spPr>
            <a:xfrm>
              <a:off x="0" y="0"/>
              <a:ext cx="9144000" cy="6096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30"/>
            <p:cNvSpPr/>
            <p:nvPr/>
          </p:nvSpPr>
          <p:spPr>
            <a:xfrm>
              <a:off x="0" y="60960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30"/>
            <p:cNvSpPr txBox="1"/>
            <p:nvPr/>
          </p:nvSpPr>
          <p:spPr>
            <a:xfrm>
              <a:off x="381000" y="142875"/>
              <a:ext cx="28575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500">
                  <a:solidFill>
                    <a:srgbClr val="FFFFFF"/>
                  </a:solidFill>
                </a:rPr>
                <a:t>R4 Macro Lead</a:t>
              </a:r>
              <a:endParaRPr b="1" sz="1500">
                <a:solidFill>
                  <a:srgbClr val="FFFFFF"/>
                </a:solidFill>
              </a:endParaRPr>
            </a:p>
          </p:txBody>
        </p:sp>
      </p:grpSp>
      <p:pic>
        <p:nvPicPr>
          <p:cNvPr id="262" name="Google Shape;262;p30" title="PPT R4.png"/>
          <p:cNvPicPr preferRelativeResize="0"/>
          <p:nvPr/>
        </p:nvPicPr>
        <p:blipFill>
          <a:blip r:embed="rId4">
            <a:alphaModFix/>
          </a:blip>
          <a:stretch>
            <a:fillRect/>
          </a:stretch>
        </p:blipFill>
        <p:spPr>
          <a:xfrm>
            <a:off x="0" y="0"/>
            <a:ext cx="9139119"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66" name="Shape 266"/>
        <p:cNvGrpSpPr/>
        <p:nvPr/>
      </p:nvGrpSpPr>
      <p:grpSpPr>
        <a:xfrm>
          <a:off x="0" y="0"/>
          <a:ext cx="0" cy="0"/>
          <a:chOff x="0" y="0"/>
          <a:chExt cx="0" cy="0"/>
        </a:xfrm>
      </p:grpSpPr>
      <p:sp>
        <p:nvSpPr>
          <p:cNvPr id="267" name="Google Shape;267;p3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31"/>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31"/>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pic>
        <p:nvPicPr>
          <p:cNvPr id="270" name="Google Shape;270;p31" title="chart_SPX_W25.png"/>
          <p:cNvPicPr preferRelativeResize="0"/>
          <p:nvPr/>
        </p:nvPicPr>
        <p:blipFill>
          <a:blip r:embed="rId3">
            <a:alphaModFix/>
          </a:blip>
          <a:stretch>
            <a:fillRect/>
          </a:stretch>
        </p:blipFill>
        <p:spPr>
          <a:xfrm>
            <a:off x="545450" y="1116575"/>
            <a:ext cx="4171498" cy="3415200"/>
          </a:xfrm>
          <a:prstGeom prst="rect">
            <a:avLst/>
          </a:prstGeom>
          <a:noFill/>
          <a:ln>
            <a:noFill/>
          </a:ln>
        </p:spPr>
      </p:pic>
      <p:sp>
        <p:nvSpPr>
          <p:cNvPr id="271" name="Google Shape;271;p31"/>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31"/>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31"/>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en-GB">
                <a:solidFill>
                  <a:srgbClr val="071A34"/>
                </a:solidFill>
              </a:rPr>
              <a:t>S&amp;P 500 (SPX)</a:t>
            </a:r>
            <a:endParaRPr b="0" i="0" sz="1400" u="none" cap="none" strike="noStrike">
              <a:solidFill>
                <a:schemeClr val="dk1"/>
              </a:solidFill>
              <a:latin typeface="Arial"/>
              <a:ea typeface="Arial"/>
              <a:cs typeface="Arial"/>
              <a:sym typeface="Arial"/>
            </a:endParaRPr>
          </a:p>
        </p:txBody>
      </p:sp>
      <p:sp>
        <p:nvSpPr>
          <p:cNvPr id="274" name="Google Shape;274;p31"/>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marR="0" rtl="0" algn="l">
              <a:lnSpc>
                <a:spcPct val="150000"/>
              </a:lnSpc>
              <a:spcBef>
                <a:spcPts val="0"/>
              </a:spcBef>
              <a:spcAft>
                <a:spcPts val="0"/>
              </a:spcAft>
              <a:buClr>
                <a:srgbClr val="071A34"/>
              </a:buClr>
              <a:buSzPts val="900"/>
              <a:buFont typeface="Arial"/>
              <a:buNone/>
            </a:pPr>
            <a:r>
              <a:rPr lang="en-GB" sz="1200">
                <a:solidFill>
                  <a:schemeClr val="dk2"/>
                </a:solidFill>
              </a:rPr>
              <a:t>Current Trend: Bullish / Recovery</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Close Price: 7500.5801</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8-Day EMA: 7464.4264</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21-Day EMA: 7443.3666</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Support Level: 7333.6802</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Resistance Level: 7517.1201</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Technical Bias: Bullish</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Confidence: Medium</a:t>
            </a:r>
            <a:endParaRPr sz="1200">
              <a:solidFill>
                <a:schemeClr val="dk2"/>
              </a:solidFill>
            </a:endParaRPr>
          </a:p>
          <a:p>
            <a:pPr indent="0" lvl="0" marL="0" marR="0" rtl="0" algn="l">
              <a:lnSpc>
                <a:spcPct val="150000"/>
              </a:lnSpc>
              <a:spcBef>
                <a:spcPts val="0"/>
              </a:spcBef>
              <a:spcAft>
                <a:spcPts val="0"/>
              </a:spcAft>
              <a:buClr>
                <a:srgbClr val="071A34"/>
              </a:buClr>
              <a:buSzPts val="900"/>
              <a:buFont typeface="Arial"/>
              <a:buNone/>
            </a:pPr>
            <a:r>
              <a:t/>
            </a:r>
            <a:endParaRPr sz="12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78" name="Shape 278"/>
        <p:cNvGrpSpPr/>
        <p:nvPr/>
      </p:nvGrpSpPr>
      <p:grpSpPr>
        <a:xfrm>
          <a:off x="0" y="0"/>
          <a:ext cx="0" cy="0"/>
          <a:chOff x="0" y="0"/>
          <a:chExt cx="0" cy="0"/>
        </a:xfrm>
      </p:grpSpPr>
      <p:sp>
        <p:nvSpPr>
          <p:cNvPr id="279" name="Google Shape;279;p32"/>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 name="Google Shape;280;p32"/>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32"/>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pic>
        <p:nvPicPr>
          <p:cNvPr id="282" name="Google Shape;282;p32" title="chart_NDX_W25.png"/>
          <p:cNvPicPr preferRelativeResize="0"/>
          <p:nvPr/>
        </p:nvPicPr>
        <p:blipFill rotWithShape="1">
          <a:blip r:embed="rId3">
            <a:alphaModFix/>
          </a:blip>
          <a:srcRect b="0" l="515" r="515" t="0"/>
          <a:stretch/>
        </p:blipFill>
        <p:spPr>
          <a:xfrm>
            <a:off x="545450" y="1116575"/>
            <a:ext cx="4171499" cy="3415200"/>
          </a:xfrm>
          <a:prstGeom prst="rect">
            <a:avLst/>
          </a:prstGeom>
          <a:noFill/>
          <a:ln>
            <a:noFill/>
          </a:ln>
        </p:spPr>
      </p:pic>
      <p:sp>
        <p:nvSpPr>
          <p:cNvPr id="283" name="Google Shape;283;p32"/>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32"/>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32"/>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en-GB">
                <a:solidFill>
                  <a:srgbClr val="071A34"/>
                </a:solidFill>
              </a:rPr>
              <a:t>NASDAQ 100 (NDX)</a:t>
            </a:r>
            <a:endParaRPr b="0" i="0" sz="1400" u="none" cap="none" strike="noStrike">
              <a:solidFill>
                <a:schemeClr val="dk1"/>
              </a:solidFill>
              <a:latin typeface="Arial"/>
              <a:ea typeface="Arial"/>
              <a:cs typeface="Arial"/>
              <a:sym typeface="Arial"/>
            </a:endParaRPr>
          </a:p>
        </p:txBody>
      </p:sp>
      <p:sp>
        <p:nvSpPr>
          <p:cNvPr id="286" name="Google Shape;286;p32"/>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marR="0" rtl="0" algn="l">
              <a:lnSpc>
                <a:spcPct val="150000"/>
              </a:lnSpc>
              <a:spcBef>
                <a:spcPts val="0"/>
              </a:spcBef>
              <a:spcAft>
                <a:spcPts val="0"/>
              </a:spcAft>
              <a:buClr>
                <a:srgbClr val="071A34"/>
              </a:buClr>
              <a:buSzPts val="900"/>
              <a:buFont typeface="Arial"/>
              <a:buNone/>
            </a:pPr>
            <a:r>
              <a:rPr lang="en-GB" sz="1200">
                <a:solidFill>
                  <a:schemeClr val="dk2"/>
                </a:solidFill>
              </a:rPr>
              <a:t>Current Trend: Bullish / Recovery</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Close Price: 30406.1895</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8-Day EMA: 29892.6273</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21-Day EMA: 29603.6376</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Support Level: 28567.1602</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Resistance Level: 30587.1602</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Technical Bias: Bullish</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Confidence: Medium</a:t>
            </a:r>
            <a:endParaRPr sz="1200">
              <a:solidFill>
                <a:schemeClr val="dk2"/>
              </a:solidFill>
            </a:endParaRPr>
          </a:p>
          <a:p>
            <a:pPr indent="0" lvl="0" marL="0" marR="0" rtl="0" algn="l">
              <a:lnSpc>
                <a:spcPct val="150000"/>
              </a:lnSpc>
              <a:spcBef>
                <a:spcPts val="0"/>
              </a:spcBef>
              <a:spcAft>
                <a:spcPts val="0"/>
              </a:spcAft>
              <a:buClr>
                <a:srgbClr val="071A34"/>
              </a:buClr>
              <a:buSzPts val="900"/>
              <a:buFont typeface="Arial"/>
              <a:buNone/>
            </a:pPr>
            <a:r>
              <a:t/>
            </a:r>
            <a:endParaRPr sz="12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90" name="Shape 290"/>
        <p:cNvGrpSpPr/>
        <p:nvPr/>
      </p:nvGrpSpPr>
      <p:grpSpPr>
        <a:xfrm>
          <a:off x="0" y="0"/>
          <a:ext cx="0" cy="0"/>
          <a:chOff x="0" y="0"/>
          <a:chExt cx="0" cy="0"/>
        </a:xfrm>
      </p:grpSpPr>
      <p:sp>
        <p:nvSpPr>
          <p:cNvPr id="291" name="Google Shape;291;p33"/>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33"/>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33"/>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pic>
        <p:nvPicPr>
          <p:cNvPr id="294" name="Google Shape;294;p33" title="chart_IWM_W25.png"/>
          <p:cNvPicPr preferRelativeResize="0"/>
          <p:nvPr/>
        </p:nvPicPr>
        <p:blipFill rotWithShape="1">
          <a:blip r:embed="rId3">
            <a:alphaModFix/>
          </a:blip>
          <a:srcRect b="0" l="0" r="0" t="0"/>
          <a:stretch/>
        </p:blipFill>
        <p:spPr>
          <a:xfrm>
            <a:off x="545450" y="1116575"/>
            <a:ext cx="4171498" cy="3415200"/>
          </a:xfrm>
          <a:prstGeom prst="rect">
            <a:avLst/>
          </a:prstGeom>
          <a:noFill/>
          <a:ln>
            <a:noFill/>
          </a:ln>
        </p:spPr>
      </p:pic>
      <p:sp>
        <p:nvSpPr>
          <p:cNvPr id="295" name="Google Shape;295;p33"/>
          <p:cNvSpPr/>
          <p:nvPr/>
        </p:nvSpPr>
        <p:spPr>
          <a:xfrm>
            <a:off x="5373930" y="1123439"/>
            <a:ext cx="54900" cy="3401700"/>
          </a:xfrm>
          <a:prstGeom prst="rect">
            <a:avLst/>
          </a:prstGeom>
          <a:solidFill>
            <a:srgbClr val="2FB344"/>
          </a:solidFill>
          <a:ln cap="flat" cmpd="sng" w="9525">
            <a:solidFill>
              <a:srgbClr val="2FB34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33"/>
          <p:cNvSpPr/>
          <p:nvPr/>
        </p:nvSpPr>
        <p:spPr>
          <a:xfrm>
            <a:off x="5428794" y="1116581"/>
            <a:ext cx="3182100" cy="3415200"/>
          </a:xfrm>
          <a:prstGeom prst="roundRect">
            <a:avLst>
              <a:gd fmla="val 2586" name="adj"/>
            </a:avLst>
          </a:prstGeom>
          <a:solidFill>
            <a:srgbClr val="FFFFFF"/>
          </a:solidFill>
          <a:ln cap="flat" cmpd="sng" w="9525">
            <a:solidFill>
              <a:srgbClr val="D8E2EC"/>
            </a:solidFill>
            <a:prstDash val="solid"/>
            <a:round/>
            <a:headEnd len="sm" w="sm" type="none"/>
            <a:tailEnd len="sm" w="sm" type="none"/>
          </a:ln>
          <a:effectLst>
            <a:outerShdw blurRad="19050" rotWithShape="0" algn="bl" dir="2700000" dist="38100">
              <a:srgbClr val="000000">
                <a:alpha val="149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7" name="Google Shape;297;p33"/>
          <p:cNvSpPr/>
          <p:nvPr/>
        </p:nvSpPr>
        <p:spPr>
          <a:xfrm>
            <a:off x="5682549" y="1356600"/>
            <a:ext cx="2313300" cy="18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71A34"/>
              </a:buClr>
              <a:buSzPts val="1400"/>
              <a:buFont typeface="Arial"/>
              <a:buNone/>
            </a:pPr>
            <a:r>
              <a:rPr b="1" lang="en-GB">
                <a:solidFill>
                  <a:srgbClr val="071A34"/>
                </a:solidFill>
              </a:rPr>
              <a:t>S&amp;P 500 (SPX)</a:t>
            </a:r>
            <a:endParaRPr b="0" i="0" sz="1400" u="none" cap="none" strike="noStrike">
              <a:solidFill>
                <a:schemeClr val="dk1"/>
              </a:solidFill>
              <a:latin typeface="Arial"/>
              <a:ea typeface="Arial"/>
              <a:cs typeface="Arial"/>
              <a:sym typeface="Arial"/>
            </a:endParaRPr>
          </a:p>
        </p:txBody>
      </p:sp>
      <p:sp>
        <p:nvSpPr>
          <p:cNvPr id="298" name="Google Shape;298;p33"/>
          <p:cNvSpPr/>
          <p:nvPr/>
        </p:nvSpPr>
        <p:spPr>
          <a:xfrm>
            <a:off x="5648250" y="1651505"/>
            <a:ext cx="2674500" cy="2606100"/>
          </a:xfrm>
          <a:prstGeom prst="rect">
            <a:avLst/>
          </a:prstGeom>
          <a:noFill/>
          <a:ln>
            <a:noFill/>
          </a:ln>
        </p:spPr>
        <p:txBody>
          <a:bodyPr anchorCtr="0" anchor="t" bIns="200" lIns="200" spcFirstLastPara="1" rIns="200" wrap="square" tIns="200">
            <a:noAutofit/>
          </a:bodyPr>
          <a:lstStyle/>
          <a:p>
            <a:pPr indent="0" lvl="0" marL="0" marR="0" rtl="0" algn="l">
              <a:lnSpc>
                <a:spcPct val="150000"/>
              </a:lnSpc>
              <a:spcBef>
                <a:spcPts val="0"/>
              </a:spcBef>
              <a:spcAft>
                <a:spcPts val="0"/>
              </a:spcAft>
              <a:buClr>
                <a:srgbClr val="071A34"/>
              </a:buClr>
              <a:buSzPts val="900"/>
              <a:buFont typeface="Arial"/>
              <a:buNone/>
            </a:pPr>
            <a:r>
              <a:rPr lang="en-GB" sz="1200">
                <a:solidFill>
                  <a:schemeClr val="dk2"/>
                </a:solidFill>
              </a:rPr>
              <a:t>Current Trend: Bullish / Recovery</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Close Price: 7500.5801</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8-Day EMA: 7464.4264</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21-Day EMA: 7443.3666</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Support Level: 7333.6802</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Resistance Level: 7517.1201</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Technical Bias: Bullish</a:t>
            </a:r>
            <a:endParaRPr sz="1200">
              <a:solidFill>
                <a:schemeClr val="dk2"/>
              </a:solidFill>
            </a:endParaRPr>
          </a:p>
          <a:p>
            <a:pPr indent="-304800" lvl="0" marL="457200" marR="0" rtl="0" algn="l">
              <a:lnSpc>
                <a:spcPct val="150000"/>
              </a:lnSpc>
              <a:spcBef>
                <a:spcPts val="0"/>
              </a:spcBef>
              <a:spcAft>
                <a:spcPts val="0"/>
              </a:spcAft>
              <a:buClr>
                <a:schemeClr val="dk2"/>
              </a:buClr>
              <a:buSzPts val="1200"/>
              <a:buChar char="●"/>
            </a:pPr>
            <a:r>
              <a:rPr lang="en-GB" sz="1200">
                <a:solidFill>
                  <a:schemeClr val="dk2"/>
                </a:solidFill>
              </a:rPr>
              <a:t>Confidence: Medium</a:t>
            </a:r>
            <a:endParaRPr sz="1200">
              <a:solidFill>
                <a:schemeClr val="dk2"/>
              </a:solidFill>
            </a:endParaRPr>
          </a:p>
          <a:p>
            <a:pPr indent="0" lvl="0" marL="0" marR="0" rtl="0" algn="l">
              <a:lnSpc>
                <a:spcPct val="150000"/>
              </a:lnSpc>
              <a:spcBef>
                <a:spcPts val="0"/>
              </a:spcBef>
              <a:spcAft>
                <a:spcPts val="0"/>
              </a:spcAft>
              <a:buClr>
                <a:srgbClr val="071A34"/>
              </a:buClr>
              <a:buSzPts val="900"/>
              <a:buFont typeface="Arial"/>
              <a:buNone/>
            </a:pPr>
            <a:r>
              <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02" name="Shape 302"/>
        <p:cNvGrpSpPr/>
        <p:nvPr/>
      </p:nvGrpSpPr>
      <p:grpSpPr>
        <a:xfrm>
          <a:off x="0" y="0"/>
          <a:ext cx="0" cy="0"/>
          <a:chOff x="0" y="0"/>
          <a:chExt cx="0" cy="0"/>
        </a:xfrm>
      </p:grpSpPr>
      <p:sp>
        <p:nvSpPr>
          <p:cNvPr id="303" name="Google Shape;303;p3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4" name="Google Shape;304;p34"/>
          <p:cNvSpPr/>
          <p:nvPr/>
        </p:nvSpPr>
        <p:spPr>
          <a:xfrm>
            <a:off x="0" y="640080"/>
            <a:ext cx="9144000" cy="36600"/>
          </a:xfrm>
          <a:prstGeom prst="rect">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3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8</a:t>
            </a:r>
            <a:r>
              <a:rPr b="1" lang="en-GB" sz="1500">
                <a:solidFill>
                  <a:srgbClr val="FFFFFF"/>
                </a:solidFill>
                <a:latin typeface="Arial"/>
                <a:ea typeface="Arial"/>
                <a:cs typeface="Arial"/>
                <a:sym typeface="Arial"/>
              </a:rPr>
              <a:t> LLM Operator</a:t>
            </a:r>
            <a:endParaRPr/>
          </a:p>
        </p:txBody>
      </p:sp>
      <p:graphicFrame>
        <p:nvGraphicFramePr>
          <p:cNvPr id="306" name="Google Shape;306;p34"/>
          <p:cNvGraphicFramePr/>
          <p:nvPr/>
        </p:nvGraphicFramePr>
        <p:xfrm>
          <a:off x="384050" y="1116050"/>
          <a:ext cx="3000000" cy="3000000"/>
        </p:xfrm>
        <a:graphic>
          <a:graphicData uri="http://schemas.openxmlformats.org/drawingml/2006/table">
            <a:tbl>
              <a:tblPr>
                <a:noFill/>
                <a:tableStyleId>{E6DD6BA8-A4C4-41E5-92F2-42DC04A6CF24}</a:tableStyleId>
              </a:tblPr>
              <a:tblGrid>
                <a:gridCol w="1203000"/>
                <a:gridCol w="1781075"/>
                <a:gridCol w="1781075"/>
                <a:gridCol w="1421750"/>
                <a:gridCol w="1827950"/>
              </a:tblGrid>
              <a:tr h="238125">
                <a:tc>
                  <a:txBody>
                    <a:bodyPr/>
                    <a:lstStyle/>
                    <a:p>
                      <a:pPr indent="0" lvl="0" marL="0" rtl="0" algn="ctr">
                        <a:lnSpc>
                          <a:spcPct val="115000"/>
                        </a:lnSpc>
                        <a:spcBef>
                          <a:spcPts val="0"/>
                        </a:spcBef>
                        <a:spcAft>
                          <a:spcPts val="0"/>
                        </a:spcAft>
                        <a:buNone/>
                      </a:pPr>
                      <a:r>
                        <a:rPr b="1" lang="en-GB" sz="1100"/>
                        <a:t>Model</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Direction</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Bias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Confidence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Macro Driver</a:t>
                      </a:r>
                      <a:endParaRPr b="1" sz="1100"/>
                    </a:p>
                  </a:txBody>
                  <a:tcPr marT="91425" marB="91425" marR="91425" marL="91425"/>
                </a:tc>
              </a:tr>
              <a:tr h="238125">
                <a:tc>
                  <a:txBody>
                    <a:bodyPr/>
                    <a:lstStyle/>
                    <a:p>
                      <a:pPr indent="0" lvl="0" marL="0" rtl="0" algn="l">
                        <a:spcBef>
                          <a:spcPts val="0"/>
                        </a:spcBef>
                        <a:spcAft>
                          <a:spcPts val="0"/>
                        </a:spcAft>
                        <a:buNone/>
                      </a:pPr>
                      <a:r>
                        <a:rPr lang="en-GB"/>
                        <a:t>ChatGPT</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AI + Growth</a:t>
                      </a:r>
                      <a:endParaRPr/>
                    </a:p>
                  </a:txBody>
                  <a:tcPr marT="91425" marB="91425" marR="91425" marL="91425"/>
                </a:tc>
              </a:tr>
              <a:tr h="238125">
                <a:tc>
                  <a:txBody>
                    <a:bodyPr/>
                    <a:lstStyle/>
                    <a:p>
                      <a:pPr indent="0" lvl="0" marL="0" rtl="0" algn="l">
                        <a:spcBef>
                          <a:spcPts val="0"/>
                        </a:spcBef>
                        <a:spcAft>
                          <a:spcPts val="0"/>
                        </a:spcAft>
                        <a:buNone/>
                      </a:pPr>
                      <a:r>
                        <a:rPr lang="en-GB"/>
                        <a:t>Claude</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Growth + Fed</a:t>
                      </a:r>
                      <a:endParaRPr/>
                    </a:p>
                  </a:txBody>
                  <a:tcPr marT="91425" marB="91425" marR="91425" marL="91425"/>
                </a:tc>
              </a:tr>
              <a:tr h="238125">
                <a:tc>
                  <a:txBody>
                    <a:bodyPr/>
                    <a:lstStyle/>
                    <a:p>
                      <a:pPr indent="0" lvl="0" marL="0" rtl="0" algn="l">
                        <a:spcBef>
                          <a:spcPts val="0"/>
                        </a:spcBef>
                        <a:spcAft>
                          <a:spcPts val="0"/>
                        </a:spcAft>
                        <a:buNone/>
                      </a:pPr>
                      <a:r>
                        <a:rPr lang="en-GB"/>
                        <a:t>Gemini</a:t>
                      </a:r>
                      <a:endParaRPr/>
                    </a:p>
                  </a:txBody>
                  <a:tcPr marT="91425" marB="91425" marR="91425" marL="91425"/>
                </a:tc>
                <a:tc>
                  <a:txBody>
                    <a:bodyPr/>
                    <a:lstStyle/>
                    <a:p>
                      <a:pPr indent="0" lvl="0" marL="0" rtl="0" algn="l">
                        <a:spcBef>
                          <a:spcPts val="0"/>
                        </a:spcBef>
                        <a:spcAft>
                          <a:spcPts val="0"/>
                        </a:spcAft>
                        <a:buNone/>
                      </a:pPr>
                      <a:r>
                        <a:rPr lang="en-GB"/>
                        <a:t>Neutral</a:t>
                      </a:r>
                      <a:endParaRPr/>
                    </a:p>
                  </a:txBody>
                  <a:tcPr marT="91425" marB="91425" marR="91425" marL="91425"/>
                </a:tc>
                <a:tc>
                  <a:txBody>
                    <a:bodyPr/>
                    <a:lstStyle/>
                    <a:p>
                      <a:pPr indent="0" lvl="0" marL="0" rtl="0" algn="l">
                        <a:spcBef>
                          <a:spcPts val="0"/>
                        </a:spcBef>
                        <a:spcAft>
                          <a:spcPts val="0"/>
                        </a:spcAft>
                        <a:buNone/>
                      </a:pPr>
                      <a:r>
                        <a:rPr lang="en-GB"/>
                        <a:t>Neutral</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Growth + Yields</a:t>
                      </a:r>
                      <a:endParaRPr/>
                    </a:p>
                  </a:txBody>
                  <a:tcPr marT="91425" marB="91425" marR="91425" marL="91425"/>
                </a:tc>
              </a:tr>
              <a:tr h="238125">
                <a:tc>
                  <a:txBody>
                    <a:bodyPr/>
                    <a:lstStyle/>
                    <a:p>
                      <a:pPr indent="0" lvl="0" marL="0" rtl="0" algn="l">
                        <a:spcBef>
                          <a:spcPts val="0"/>
                        </a:spcBef>
                        <a:spcAft>
                          <a:spcPts val="0"/>
                        </a:spcAft>
                        <a:buNone/>
                      </a:pPr>
                      <a:r>
                        <a:rPr lang="en-GB"/>
                        <a:t>DeepSeek</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GDP + Yields</a:t>
                      </a:r>
                      <a:endParaRPr/>
                    </a:p>
                  </a:txBody>
                  <a:tcPr marT="91425" marB="91425" marR="91425" marL="91425"/>
                </a:tc>
              </a:tr>
            </a:tbl>
          </a:graphicData>
        </a:graphic>
      </p:graphicFrame>
      <p:sp>
        <p:nvSpPr>
          <p:cNvPr id="307" name="Google Shape;307;p34"/>
          <p:cNvSpPr txBox="1"/>
          <p:nvPr/>
        </p:nvSpPr>
        <p:spPr>
          <a:xfrm>
            <a:off x="0" y="3333050"/>
            <a:ext cx="2154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AI Consensus Call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Direction:</a:t>
            </a:r>
            <a:endParaRPr/>
          </a:p>
          <a:p>
            <a:pPr indent="0" lvl="0" marL="0" rtl="0" algn="l">
              <a:spcBef>
                <a:spcPts val="0"/>
              </a:spcBef>
              <a:spcAft>
                <a:spcPts val="0"/>
              </a:spcAft>
              <a:buNone/>
            </a:pPr>
            <a:r>
              <a:rPr lang="en-GB"/>
              <a:t>NEUTRAL-BULLISH</a:t>
            </a:r>
            <a:endParaRPr/>
          </a:p>
        </p:txBody>
      </p:sp>
      <p:sp>
        <p:nvSpPr>
          <p:cNvPr id="308" name="Google Shape;308;p34"/>
          <p:cNvSpPr txBox="1"/>
          <p:nvPr/>
        </p:nvSpPr>
        <p:spPr>
          <a:xfrm>
            <a:off x="2022550" y="3333050"/>
            <a:ext cx="3000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Risk Profile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Bias:</a:t>
            </a:r>
            <a:endParaRPr/>
          </a:p>
          <a:p>
            <a:pPr indent="0" lvl="0" marL="0" rtl="0" algn="l">
              <a:spcBef>
                <a:spcPts val="0"/>
              </a:spcBef>
              <a:spcAft>
                <a:spcPts val="0"/>
              </a:spcAft>
              <a:buNone/>
            </a:pPr>
            <a:r>
              <a:rPr lang="en-GB"/>
              <a:t>Neutral-Bullish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Confidence:</a:t>
            </a:r>
            <a:endParaRPr/>
          </a:p>
          <a:p>
            <a:pPr indent="0" lvl="0" marL="0" rtl="0" algn="l">
              <a:spcBef>
                <a:spcPts val="0"/>
              </a:spcBef>
              <a:spcAft>
                <a:spcPts val="0"/>
              </a:spcAft>
              <a:buNone/>
            </a:pPr>
            <a:r>
              <a:rPr lang="en-GB"/>
              <a:t>Medium</a:t>
            </a:r>
            <a:endParaRPr/>
          </a:p>
        </p:txBody>
      </p:sp>
      <p:sp>
        <p:nvSpPr>
          <p:cNvPr id="309" name="Google Shape;309;p34"/>
          <p:cNvSpPr txBox="1"/>
          <p:nvPr/>
        </p:nvSpPr>
        <p:spPr>
          <a:xfrm>
            <a:off x="3570950" y="33330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Strong Agreement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NDX = Bullish</a:t>
            </a:r>
            <a:endParaRPr/>
          </a:p>
          <a:p>
            <a:pPr indent="0" lvl="0" marL="0" rtl="0" algn="l">
              <a:spcBef>
                <a:spcPts val="0"/>
              </a:spcBef>
              <a:spcAft>
                <a:spcPts val="0"/>
              </a:spcAft>
              <a:buNone/>
            </a:pPr>
            <a:r>
              <a:rPr lang="en-GB"/>
              <a:t>XLK = Bullish</a:t>
            </a:r>
            <a:endParaRPr/>
          </a:p>
          <a:p>
            <a:pPr indent="0" lvl="0" marL="0" rtl="0" algn="l">
              <a:spcBef>
                <a:spcPts val="0"/>
              </a:spcBef>
              <a:spcAft>
                <a:spcPts val="0"/>
              </a:spcAft>
              <a:buNone/>
            </a:pPr>
            <a:r>
              <a:rPr lang="en-GB"/>
              <a:t>XLE = Bearish</a:t>
            </a:r>
            <a:endParaRPr/>
          </a:p>
        </p:txBody>
      </p:sp>
      <p:sp>
        <p:nvSpPr>
          <p:cNvPr id="310" name="Google Shape;310;p34"/>
          <p:cNvSpPr txBox="1"/>
          <p:nvPr/>
        </p:nvSpPr>
        <p:spPr>
          <a:xfrm>
            <a:off x="5848000" y="344090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Highest Uncertainty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XLU</a:t>
            </a:r>
            <a:endParaRPr/>
          </a:p>
          <a:p>
            <a:pPr indent="0" lvl="0" marL="0" rtl="0" algn="l">
              <a:spcBef>
                <a:spcPts val="0"/>
              </a:spcBef>
              <a:spcAft>
                <a:spcPts val="0"/>
              </a:spcAft>
              <a:buNone/>
            </a:pPr>
            <a:r>
              <a:rPr lang="en-GB"/>
              <a:t>XLB</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Mixed Forecasts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14" name="Shape 314"/>
        <p:cNvGrpSpPr/>
        <p:nvPr/>
      </p:nvGrpSpPr>
      <p:grpSpPr>
        <a:xfrm>
          <a:off x="0" y="0"/>
          <a:ext cx="0" cy="0"/>
          <a:chOff x="0" y="0"/>
          <a:chExt cx="0" cy="0"/>
        </a:xfrm>
      </p:grpSpPr>
      <p:sp>
        <p:nvSpPr>
          <p:cNvPr id="315" name="Google Shape;315;p3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35"/>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3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R7 Human Score</a:t>
            </a:r>
            <a:endParaRPr/>
          </a:p>
        </p:txBody>
      </p:sp>
      <p:sp>
        <p:nvSpPr>
          <p:cNvPr id="318" name="Google Shape;318;p35"/>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200">
                <a:solidFill>
                  <a:schemeClr val="dk1"/>
                </a:solidFill>
                <a:latin typeface="Calibri"/>
                <a:ea typeface="Calibri"/>
                <a:cs typeface="Calibri"/>
                <a:sym typeface="Calibri"/>
              </a:rPr>
              <a:t>Human Score Dashboard</a:t>
            </a:r>
            <a:endParaRPr/>
          </a:p>
        </p:txBody>
      </p:sp>
      <p:sp>
        <p:nvSpPr>
          <p:cNvPr id="319" name="Google Shape;319;p35"/>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latin typeface="Calibri"/>
                <a:ea typeface="Calibri"/>
                <a:cs typeface="Calibri"/>
                <a:sym typeface="Calibri"/>
              </a:rPr>
              <a:t>   </a:t>
            </a:r>
            <a:r>
              <a:rPr b="1" lang="en-GB">
                <a:solidFill>
                  <a:schemeClr val="dk1"/>
                </a:solidFill>
                <a:latin typeface="Calibri"/>
                <a:ea typeface="Calibri"/>
                <a:cs typeface="Calibri"/>
                <a:sym typeface="Calibri"/>
              </a:rPr>
              <a:t>Macro / News</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          ( +1 )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-AI infrastructure</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-GDP resilience</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-Stable yields</a:t>
            </a:r>
            <a:endParaRPr b="1">
              <a:solidFill>
                <a:schemeClr val="dk1"/>
              </a:solidFill>
              <a:latin typeface="Calibri"/>
              <a:ea typeface="Calibri"/>
              <a:cs typeface="Calibri"/>
              <a:sym typeface="Calibri"/>
            </a:endParaRPr>
          </a:p>
          <a:p>
            <a:pPr indent="0" lvl="0" marL="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20" name="Google Shape;320;p35"/>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latin typeface="Calibri"/>
                <a:ea typeface="Calibri"/>
                <a:cs typeface="Calibri"/>
                <a:sym typeface="Calibri"/>
              </a:rPr>
              <a:t>       Technical</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latin typeface="Calibri"/>
                <a:ea typeface="Calibri"/>
                <a:cs typeface="Calibri"/>
                <a:sym typeface="Calibri"/>
              </a:rPr>
              <a:t>           (+1)</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latin typeface="Calibri"/>
                <a:ea typeface="Calibri"/>
                <a:cs typeface="Calibri"/>
                <a:sym typeface="Calibri"/>
              </a:rPr>
              <a:t>-Above 8 &amp; 21 EMA</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latin typeface="Calibri"/>
                <a:ea typeface="Calibri"/>
                <a:cs typeface="Calibri"/>
                <a:sym typeface="Calibri"/>
              </a:rPr>
              <a:t>-Bullish recovery</a:t>
            </a:r>
            <a:endParaRPr b="1" sz="13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300">
                <a:solidFill>
                  <a:schemeClr val="dk1"/>
                </a:solidFill>
                <a:latin typeface="Calibri"/>
                <a:ea typeface="Calibri"/>
                <a:cs typeface="Calibri"/>
                <a:sym typeface="Calibri"/>
              </a:rPr>
              <a:t>-Medium confidence</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21" name="Google Shape;321;p35"/>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        Almanac</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            (-1)</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-Post Triple Witch</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-June weakness</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-Midterm drag</a:t>
            </a:r>
            <a:endParaRPr b="1">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a:solidFill>
                <a:schemeClr val="dk1"/>
              </a:solidFill>
              <a:latin typeface="Calibri"/>
              <a:ea typeface="Calibri"/>
              <a:cs typeface="Calibri"/>
              <a:sym typeface="Calibri"/>
            </a:endParaRPr>
          </a:p>
        </p:txBody>
      </p:sp>
      <p:sp>
        <p:nvSpPr>
          <p:cNvPr id="322" name="Google Shape;322;p35"/>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    AI Agreement</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             (0)</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-Similar evidence</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-Consensus adds</a:t>
            </a:r>
            <a:endParaRPr b="1">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Calibri"/>
                <a:ea typeface="Calibri"/>
                <a:cs typeface="Calibri"/>
                <a:sym typeface="Calibri"/>
              </a:rPr>
              <a:t>-little conviction</a:t>
            </a:r>
            <a:endParaRPr b="1">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000">
              <a:solidFill>
                <a:schemeClr val="dk1"/>
              </a:solidFill>
              <a:latin typeface="Calibri"/>
              <a:ea typeface="Calibri"/>
              <a:cs typeface="Calibri"/>
              <a:sym typeface="Calibri"/>
            </a:endParaRPr>
          </a:p>
        </p:txBody>
      </p:sp>
      <p:sp>
        <p:nvSpPr>
          <p:cNvPr id="323" name="Google Shape;323;p35"/>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500">
                <a:solidFill>
                  <a:schemeClr val="dk1"/>
                </a:solidFill>
                <a:latin typeface="Calibri"/>
                <a:ea typeface="Calibri"/>
                <a:cs typeface="Calibri"/>
                <a:sym typeface="Calibri"/>
              </a:rPr>
              <a:t>      Wild Card</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500">
                <a:solidFill>
                  <a:schemeClr val="dk1"/>
                </a:solidFill>
                <a:latin typeface="Calibri"/>
                <a:ea typeface="Calibri"/>
                <a:cs typeface="Calibri"/>
                <a:sym typeface="Calibri"/>
              </a:rPr>
              <a:t>           (+1)</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500">
                <a:solidFill>
                  <a:schemeClr val="dk1"/>
                </a:solidFill>
                <a:latin typeface="Calibri"/>
                <a:ea typeface="Calibri"/>
                <a:cs typeface="Calibri"/>
                <a:sym typeface="Calibri"/>
              </a:rPr>
              <a:t>-Technology</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500">
                <a:solidFill>
                  <a:schemeClr val="dk1"/>
                </a:solidFill>
                <a:latin typeface="Calibri"/>
                <a:ea typeface="Calibri"/>
                <a:cs typeface="Calibri"/>
                <a:sym typeface="Calibri"/>
              </a:rPr>
              <a:t>-leadership</a:t>
            </a:r>
            <a:endParaRPr b="1" sz="15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500">
                <a:solidFill>
                  <a:schemeClr val="dk1"/>
                </a:solidFill>
                <a:latin typeface="Calibri"/>
                <a:ea typeface="Calibri"/>
                <a:cs typeface="Calibri"/>
                <a:sym typeface="Calibri"/>
              </a:rPr>
              <a:t>-Semiconductors</a:t>
            </a:r>
            <a:endParaRPr b="1" sz="15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300">
              <a:solidFill>
                <a:schemeClr val="dk1"/>
              </a:solidFill>
              <a:latin typeface="Calibri"/>
              <a:ea typeface="Calibri"/>
              <a:cs typeface="Calibri"/>
              <a:sym typeface="Calibri"/>
            </a:endParaRPr>
          </a:p>
        </p:txBody>
      </p:sp>
      <p:sp>
        <p:nvSpPr>
          <p:cNvPr id="324" name="Google Shape;324;p35"/>
          <p:cNvSpPr/>
          <p:nvPr/>
        </p:nvSpPr>
        <p:spPr>
          <a:xfrm>
            <a:off x="2740342" y="3108960"/>
            <a:ext cx="3353400" cy="457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TOTAL SCORE: +2 (NEUTRAL-BULLISH)</a:t>
            </a:r>
            <a:endParaRPr/>
          </a:p>
        </p:txBody>
      </p:sp>
      <p:sp>
        <p:nvSpPr>
          <p:cNvPr id="325" name="Google Shape;325;p35"/>
          <p:cNvSpPr txBox="1"/>
          <p:nvPr/>
        </p:nvSpPr>
        <p:spPr>
          <a:xfrm>
            <a:off x="1301325" y="3831625"/>
            <a:ext cx="6921900" cy="687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Strong technical recovery and AI leadership support equities,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100"/>
              <a:buNone/>
            </a:pPr>
            <a:r>
              <a:rPr b="1" lang="en-GB" sz="1800">
                <a:solidFill>
                  <a:schemeClr val="dk1"/>
                </a:solidFill>
                <a:latin typeface="Calibri"/>
                <a:ea typeface="Calibri"/>
                <a:cs typeface="Calibri"/>
                <a:sym typeface="Calibri"/>
              </a:rPr>
              <a:t>but June seasonality and PCE inflation risk continue to limit conviction.</a:t>
            </a:r>
            <a:endParaRPr b="1"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29" name="Shape 329"/>
        <p:cNvGrpSpPr/>
        <p:nvPr/>
      </p:nvGrpSpPr>
      <p:grpSpPr>
        <a:xfrm>
          <a:off x="0" y="0"/>
          <a:ext cx="0" cy="0"/>
          <a:chOff x="0" y="0"/>
          <a:chExt cx="0" cy="0"/>
        </a:xfrm>
      </p:grpSpPr>
      <p:sp>
        <p:nvSpPr>
          <p:cNvPr id="330" name="Google Shape;330;p3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 name="Google Shape;331;p36"/>
          <p:cNvSpPr/>
          <p:nvPr/>
        </p:nvSpPr>
        <p:spPr>
          <a:xfrm>
            <a:off x="0" y="640080"/>
            <a:ext cx="9144000" cy="36600"/>
          </a:xfrm>
          <a:prstGeom prst="rect">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2" name="Google Shape;332;p3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R7 Human Score</a:t>
            </a:r>
            <a:endParaRPr/>
          </a:p>
        </p:txBody>
      </p:sp>
      <p:sp>
        <p:nvSpPr>
          <p:cNvPr id="333" name="Google Shape;333;p36"/>
          <p:cNvSpPr/>
          <p:nvPr/>
        </p:nvSpPr>
        <p:spPr>
          <a:xfrm>
            <a:off x="3291840" y="822960"/>
            <a:ext cx="1828800" cy="4116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HUMAN OVERRIDE</a:t>
            </a:r>
            <a:endParaRPr/>
          </a:p>
        </p:txBody>
      </p:sp>
      <p:sp>
        <p:nvSpPr>
          <p:cNvPr id="334" name="Google Shape;334;p36"/>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AI CONSENSUS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AI infrastructure growth</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Economic resilience</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Stable Treasury yields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Bullish technical recovery</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Neutral-Bullish</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36"/>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l">
              <a:lnSpc>
                <a:spcPct val="115000"/>
              </a:lnSpc>
              <a:spcBef>
                <a:spcPts val="0"/>
              </a:spcBef>
              <a:spcAft>
                <a:spcPts val="0"/>
              </a:spcAft>
              <a:buSzPts val="1100"/>
              <a:buNone/>
            </a:pPr>
            <a:r>
              <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HUMAN ADJUSTMENT</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Post Triple Witch weakness</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June seasonality</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PCE inflation risk</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1" lang="en-GB" sz="1800">
                <a:solidFill>
                  <a:schemeClr val="dk1"/>
                </a:solidFill>
                <a:latin typeface="Calibri"/>
                <a:ea typeface="Calibri"/>
                <a:cs typeface="Calibri"/>
                <a:sym typeface="Calibri"/>
              </a:rPr>
              <a:t>• Higher-for-longer Fed</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336" name="Google Shape;336;p36"/>
          <p:cNvSpPr/>
          <p:nvPr/>
        </p:nvSpPr>
        <p:spPr>
          <a:xfrm>
            <a:off x="731520" y="3749039"/>
            <a:ext cx="7315200" cy="640200"/>
          </a:xfrm>
          <a:prstGeom prst="roundRect">
            <a:avLst>
              <a:gd fmla="val 16667" name="adj"/>
            </a:avLst>
          </a:prstGeom>
          <a:solidFill>
            <a:srgbClr val="A64D79"/>
          </a:solidFill>
          <a:ln cap="flat" cmpd="sng" w="9525">
            <a:solidFill>
              <a:srgbClr val="A64D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FINAL VIEW: </a:t>
            </a:r>
            <a:r>
              <a:rPr lang="en-GB" sz="1800">
                <a:solidFill>
                  <a:srgbClr val="FFFFFF"/>
                </a:solidFill>
                <a:latin typeface="Calibri"/>
                <a:ea typeface="Calibri"/>
                <a:cs typeface="Calibri"/>
                <a:sym typeface="Calibri"/>
              </a:rPr>
              <a:t>Strong technical recovery and AI leadership support the market, but seasonal and inflation risks keep the outlook Neutral-Bullish.</a:t>
            </a:r>
            <a:r>
              <a:rPr lang="en-GB" sz="1100">
                <a:solidFill>
                  <a:schemeClr val="dk1"/>
                </a:solidFill>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40" name="Shape 340"/>
        <p:cNvGrpSpPr/>
        <p:nvPr/>
      </p:nvGrpSpPr>
      <p:grpSpPr>
        <a:xfrm>
          <a:off x="0" y="0"/>
          <a:ext cx="0" cy="0"/>
          <a:chOff x="0" y="0"/>
          <a:chExt cx="0" cy="0"/>
        </a:xfrm>
      </p:grpSpPr>
      <p:sp>
        <p:nvSpPr>
          <p:cNvPr id="341" name="Google Shape;341;p3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2" name="Google Shape;342;p37"/>
          <p:cNvSpPr/>
          <p:nvPr/>
        </p:nvSpPr>
        <p:spPr>
          <a:xfrm>
            <a:off x="0" y="640080"/>
            <a:ext cx="9144000" cy="36600"/>
          </a:xfrm>
          <a:prstGeom prst="rect">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3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R9 GitHub Lead</a:t>
            </a:r>
            <a:endParaRPr/>
          </a:p>
        </p:txBody>
      </p:sp>
      <p:pic>
        <p:nvPicPr>
          <p:cNvPr id="344" name="Google Shape;344;p37"/>
          <p:cNvPicPr preferRelativeResize="0"/>
          <p:nvPr/>
        </p:nvPicPr>
        <p:blipFill>
          <a:blip r:embed="rId3">
            <a:alphaModFix/>
          </a:blip>
          <a:stretch>
            <a:fillRect/>
          </a:stretch>
        </p:blipFill>
        <p:spPr>
          <a:xfrm>
            <a:off x="101775" y="744130"/>
            <a:ext cx="6319439" cy="4162020"/>
          </a:xfrm>
          <a:prstGeom prst="rect">
            <a:avLst/>
          </a:prstGeom>
          <a:noFill/>
          <a:ln>
            <a:noFill/>
          </a:ln>
        </p:spPr>
      </p:pic>
      <p:pic>
        <p:nvPicPr>
          <p:cNvPr id="345" name="Google Shape;345;p37"/>
          <p:cNvPicPr preferRelativeResize="0"/>
          <p:nvPr/>
        </p:nvPicPr>
        <p:blipFill>
          <a:blip r:embed="rId4">
            <a:alphaModFix/>
          </a:blip>
          <a:stretch>
            <a:fillRect/>
          </a:stretch>
        </p:blipFill>
        <p:spPr>
          <a:xfrm>
            <a:off x="6543239" y="815430"/>
            <a:ext cx="2417985" cy="17563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349" name="Shape 349"/>
        <p:cNvGrpSpPr/>
        <p:nvPr/>
      </p:nvGrpSpPr>
      <p:grpSpPr>
        <a:xfrm>
          <a:off x="0" y="0"/>
          <a:ext cx="0" cy="0"/>
          <a:chOff x="0" y="0"/>
          <a:chExt cx="0" cy="0"/>
        </a:xfrm>
      </p:grpSpPr>
      <p:sp>
        <p:nvSpPr>
          <p:cNvPr id="350" name="Google Shape;350;p3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38"/>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3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sp>
        <p:nvSpPr>
          <p:cNvPr id="353" name="Google Shape;353;p38"/>
          <p:cNvSpPr txBox="1"/>
          <p:nvPr/>
        </p:nvSpPr>
        <p:spPr>
          <a:xfrm>
            <a:off x="0" y="640075"/>
            <a:ext cx="8884800" cy="386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Delta Score Report — vW24 Calibration</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Performance Audit &amp; Accuracy Analysis of Week 24 Predictions</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Key Performance Indicators (KPIs):</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Directional Accuracy: 100% (6 out of 6 tickers correctly predicted for trend)</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Mean Absolute Error (MAE): 0.49%</a:t>
            </a:r>
            <a:endParaRPr sz="23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GB" sz="2300">
                <a:solidFill>
                  <a:schemeClr val="dk1"/>
                </a:solidFill>
                <a:latin typeface="Calibri"/>
                <a:ea typeface="Calibri"/>
                <a:cs typeface="Calibri"/>
                <a:sym typeface="Calibri"/>
              </a:rPr>
              <a:t>Summary: High directional precision; however, the model underestimated the magnitude of volatility in the Technology and Energy sectors.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9"/>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39"/>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39"/>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graphicFrame>
        <p:nvGraphicFramePr>
          <p:cNvPr id="361" name="Google Shape;361;p39"/>
          <p:cNvGraphicFramePr/>
          <p:nvPr/>
        </p:nvGraphicFramePr>
        <p:xfrm>
          <a:off x="384075" y="676750"/>
          <a:ext cx="3000000" cy="3000000"/>
        </p:xfrm>
        <a:graphic>
          <a:graphicData uri="http://schemas.openxmlformats.org/drawingml/2006/table">
            <a:tbl>
              <a:tblPr>
                <a:noFill/>
                <a:tableStyleId>{E6DD6BA8-A4C4-41E5-92F2-42DC04A6CF24}</a:tableStyleId>
              </a:tblPr>
              <a:tblGrid>
                <a:gridCol w="2609400"/>
                <a:gridCol w="1354700"/>
                <a:gridCol w="1194250"/>
                <a:gridCol w="1666650"/>
                <a:gridCol w="1737925"/>
              </a:tblGrid>
              <a:tr h="663250">
                <a:tc>
                  <a:txBody>
                    <a:bodyPr/>
                    <a:lstStyle/>
                    <a:p>
                      <a:pPr indent="0" lvl="0" marL="0" rtl="0" algn="l">
                        <a:lnSpc>
                          <a:spcPct val="150000"/>
                        </a:lnSpc>
                        <a:spcBef>
                          <a:spcPts val="0"/>
                        </a:spcBef>
                        <a:spcAft>
                          <a:spcPts val="1200"/>
                        </a:spcAft>
                        <a:buNone/>
                      </a:pPr>
                      <a:r>
                        <a:rPr b="1" lang="en-GB" sz="1050">
                          <a:solidFill>
                            <a:schemeClr val="dk1"/>
                          </a:solidFill>
                        </a:rPr>
                        <a:t>Ticker</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Predicted Direction</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Predicted Range</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Actual Performance (R6)</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Status</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0675">
                <a:tc>
                  <a:txBody>
                    <a:bodyPr/>
                    <a:lstStyle/>
                    <a:p>
                      <a:pPr indent="0" lvl="0" marL="0" rtl="0" algn="l">
                        <a:lnSpc>
                          <a:spcPct val="150000"/>
                        </a:lnSpc>
                        <a:spcBef>
                          <a:spcPts val="0"/>
                        </a:spcBef>
                        <a:spcAft>
                          <a:spcPts val="1200"/>
                        </a:spcAft>
                        <a:buNone/>
                      </a:pPr>
                      <a:r>
                        <a:rPr b="1" lang="en-GB" sz="1050">
                          <a:solidFill>
                            <a:schemeClr val="dk1"/>
                          </a:solidFill>
                        </a:rPr>
                        <a:t>SPX</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Cautiously Up</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-0.2% to +0.8%</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+0.65%</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Within Range</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663250">
                <a:tc>
                  <a:txBody>
                    <a:bodyPr/>
                    <a:lstStyle/>
                    <a:p>
                      <a:pPr indent="0" lvl="0" marL="0" rtl="0" algn="l">
                        <a:lnSpc>
                          <a:spcPct val="150000"/>
                        </a:lnSpc>
                        <a:spcBef>
                          <a:spcPts val="0"/>
                        </a:spcBef>
                        <a:spcAft>
                          <a:spcPts val="1200"/>
                        </a:spcAft>
                        <a:buNone/>
                      </a:pPr>
                      <a:r>
                        <a:rPr b="1" lang="en-GB" sz="1050">
                          <a:solidFill>
                            <a:schemeClr val="dk1"/>
                          </a:solidFill>
                        </a:rPr>
                        <a:t>NDX</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Bullish</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+0.4% to +1.4%</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+1.92%</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Correct Dir / Range Miss</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0675">
                <a:tc>
                  <a:txBody>
                    <a:bodyPr/>
                    <a:lstStyle/>
                    <a:p>
                      <a:pPr indent="0" lvl="0" marL="0" rtl="0" algn="l">
                        <a:lnSpc>
                          <a:spcPct val="150000"/>
                        </a:lnSpc>
                        <a:spcBef>
                          <a:spcPts val="0"/>
                        </a:spcBef>
                        <a:spcAft>
                          <a:spcPts val="1200"/>
                        </a:spcAft>
                        <a:buNone/>
                      </a:pPr>
                      <a:r>
                        <a:rPr b="1" lang="en-GB" sz="1050">
                          <a:solidFill>
                            <a:schemeClr val="dk1"/>
                          </a:solidFill>
                        </a:rPr>
                        <a:t>IWM</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Neutral-Up</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-0.3% to +0.9%</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-0.12%</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Within Range</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663250">
                <a:tc>
                  <a:txBody>
                    <a:bodyPr/>
                    <a:lstStyle/>
                    <a:p>
                      <a:pPr indent="0" lvl="0" marL="0" rtl="0" algn="l">
                        <a:lnSpc>
                          <a:spcPct val="150000"/>
                        </a:lnSpc>
                        <a:spcBef>
                          <a:spcPts val="0"/>
                        </a:spcBef>
                        <a:spcAft>
                          <a:spcPts val="1200"/>
                        </a:spcAft>
                        <a:buNone/>
                      </a:pPr>
                      <a:r>
                        <a:rPr b="1" lang="en-GB" sz="1050">
                          <a:solidFill>
                            <a:schemeClr val="dk1"/>
                          </a:solidFill>
                        </a:rPr>
                        <a:t>XLK</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Bullish</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+0.8% to +2.0%</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+2.45%</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Correct Dir / Range Miss</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0675">
                <a:tc>
                  <a:txBody>
                    <a:bodyPr/>
                    <a:lstStyle/>
                    <a:p>
                      <a:pPr indent="0" lvl="0" marL="0" rtl="0" algn="l">
                        <a:lnSpc>
                          <a:spcPct val="150000"/>
                        </a:lnSpc>
                        <a:spcBef>
                          <a:spcPts val="0"/>
                        </a:spcBef>
                        <a:spcAft>
                          <a:spcPts val="1200"/>
                        </a:spcAft>
                        <a:buNone/>
                      </a:pPr>
                      <a:r>
                        <a:rPr b="1" lang="en-GB" sz="1050">
                          <a:solidFill>
                            <a:schemeClr val="dk1"/>
                          </a:solidFill>
                        </a:rPr>
                        <a:t>XLF</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Neutral-Up</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0.0% to +1.0%</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+0.35%</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Within Range</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663250">
                <a:tc>
                  <a:txBody>
                    <a:bodyPr/>
                    <a:lstStyle/>
                    <a:p>
                      <a:pPr indent="0" lvl="0" marL="0" rtl="0" algn="l">
                        <a:lnSpc>
                          <a:spcPct val="150000"/>
                        </a:lnSpc>
                        <a:spcBef>
                          <a:spcPts val="0"/>
                        </a:spcBef>
                        <a:spcAft>
                          <a:spcPts val="1200"/>
                        </a:spcAft>
                        <a:buNone/>
                      </a:pPr>
                      <a:r>
                        <a:rPr b="1" lang="en-GB" sz="1050">
                          <a:solidFill>
                            <a:schemeClr val="dk1"/>
                          </a:solidFill>
                        </a:rPr>
                        <a:t>XLE</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Bearish</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-1.5% to -0.3%</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b="1" lang="en-GB" sz="1050">
                          <a:solidFill>
                            <a:schemeClr val="dk1"/>
                          </a:solidFill>
                        </a:rPr>
                        <a:t>-2.80%</a:t>
                      </a:r>
                      <a:endParaRPr b="1"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50000"/>
                        </a:lnSpc>
                        <a:spcBef>
                          <a:spcPts val="0"/>
                        </a:spcBef>
                        <a:spcAft>
                          <a:spcPts val="1200"/>
                        </a:spcAft>
                        <a:buNone/>
                      </a:pPr>
                      <a:r>
                        <a:rPr lang="en-GB" sz="1050">
                          <a:solidFill>
                            <a:schemeClr val="dk1"/>
                          </a:solidFill>
                        </a:rPr>
                        <a:t>✅ Correct Dir / Range Miss</a:t>
                      </a:r>
                      <a:endParaRPr sz="1050">
                        <a:solidFill>
                          <a:schemeClr val="dk1"/>
                        </a:solidFill>
                      </a:endParaRPr>
                    </a:p>
                  </a:txBody>
                  <a:tcPr marT="57150" marB="57150" marR="114300" marL="1143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7" name="Google Shape;367;p40"/>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40"/>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sp>
        <p:nvSpPr>
          <p:cNvPr id="369" name="Google Shape;369;p40"/>
          <p:cNvSpPr txBox="1"/>
          <p:nvPr/>
        </p:nvSpPr>
        <p:spPr>
          <a:xfrm>
            <a:off x="192500" y="1267325"/>
            <a:ext cx="8566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1. Calibration Successes: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Technology Momentum: Successfully captured the correlation between declining Treasury yields and the "mid-July seasonal window" for XLK.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Energy Weakness: Accurately identified XLE as the Bottom Sector due to crude oil price pressures.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2. Root Causes of Deviation: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Volatility Underestimation: "Triple Witching" (June 19) generated massive short-covering volume in Mega-cap Tech, pushing NDX and XLK above our upper-bound projections.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Conservative Bias: The model prioritized hawkish FOMC risks, failing to fully price in the bullish sentiment driven by the "GDPNow 3.3%" economic growth report.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373" name="Shape 373"/>
        <p:cNvGrpSpPr/>
        <p:nvPr/>
      </p:nvGrpSpPr>
      <p:grpSpPr>
        <a:xfrm>
          <a:off x="0" y="0"/>
          <a:ext cx="0" cy="0"/>
          <a:chOff x="0" y="0"/>
          <a:chExt cx="0" cy="0"/>
        </a:xfrm>
      </p:grpSpPr>
      <p:sp>
        <p:nvSpPr>
          <p:cNvPr id="374" name="Google Shape;374;p41"/>
          <p:cNvSpPr/>
          <p:nvPr/>
        </p:nvSpPr>
        <p:spPr>
          <a:xfrm>
            <a:off x="0" y="0"/>
            <a:ext cx="9144000" cy="915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5" name="Google Shape;375;p41"/>
          <p:cNvSpPr/>
          <p:nvPr/>
        </p:nvSpPr>
        <p:spPr>
          <a:xfrm>
            <a:off x="0" y="5047488"/>
            <a:ext cx="9144000" cy="915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41"/>
          <p:cNvSpPr txBox="1"/>
          <p:nvPr/>
        </p:nvSpPr>
        <p:spPr>
          <a:xfrm>
            <a:off x="640080" y="1627632"/>
            <a:ext cx="39318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800">
                <a:solidFill>
                  <a:srgbClr val="FFFFFF"/>
                </a:solidFill>
                <a:latin typeface="Arial"/>
                <a:ea typeface="Arial"/>
                <a:cs typeface="Arial"/>
                <a:sym typeface="Arial"/>
              </a:rPr>
              <a:t>Thank you</a:t>
            </a:r>
            <a:endParaRPr/>
          </a:p>
        </p:txBody>
      </p:sp>
      <p:sp>
        <p:nvSpPr>
          <p:cNvPr id="377" name="Google Shape;377;p41"/>
          <p:cNvSpPr txBox="1"/>
          <p:nvPr/>
        </p:nvSpPr>
        <p:spPr>
          <a:xfrm>
            <a:off x="676656" y="2267712"/>
            <a:ext cx="4389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800">
                <a:solidFill>
                  <a:srgbClr val="C8D4E3"/>
                </a:solidFill>
              </a:rPr>
              <a:t>Any </a:t>
            </a:r>
            <a:r>
              <a:rPr b="0" lang="en-GB" sz="1800">
                <a:solidFill>
                  <a:srgbClr val="C8D4E3"/>
                </a:solidFill>
                <a:latin typeface="Arial"/>
                <a:ea typeface="Arial"/>
                <a:cs typeface="Arial"/>
                <a:sym typeface="Arial"/>
              </a:rPr>
              <a:t>Questions?</a:t>
            </a:r>
            <a:endParaRPr/>
          </a:p>
        </p:txBody>
      </p:sp>
      <p:sp>
        <p:nvSpPr>
          <p:cNvPr id="378" name="Google Shape;378;p41"/>
          <p:cNvSpPr/>
          <p:nvPr/>
        </p:nvSpPr>
        <p:spPr>
          <a:xfrm>
            <a:off x="3665950" y="2370455"/>
            <a:ext cx="201300" cy="201300"/>
          </a:xfrm>
          <a:prstGeom prst="ellipse">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41"/>
          <p:cNvSpPr/>
          <p:nvPr/>
        </p:nvSpPr>
        <p:spPr>
          <a:xfrm>
            <a:off x="676647" y="3733855"/>
            <a:ext cx="201300" cy="201300"/>
          </a:xfrm>
          <a:prstGeom prst="ellipse">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41"/>
          <p:cNvSpPr/>
          <p:nvPr/>
        </p:nvSpPr>
        <p:spPr>
          <a:xfrm>
            <a:off x="1030944" y="671680"/>
            <a:ext cx="201300" cy="201300"/>
          </a:xfrm>
          <a:prstGeom prst="ellipse">
            <a:avLst/>
          </a:prstGeom>
          <a:solidFill>
            <a:srgbClr val="F2B84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41"/>
          <p:cNvSpPr/>
          <p:nvPr/>
        </p:nvSpPr>
        <p:spPr>
          <a:xfrm>
            <a:off x="676650" y="671677"/>
            <a:ext cx="201300" cy="201300"/>
          </a:xfrm>
          <a:prstGeom prst="ellipse">
            <a:avLst/>
          </a:prstGeom>
          <a:solidFill>
            <a:srgbClr val="287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41"/>
          <p:cNvSpPr/>
          <p:nvPr/>
        </p:nvSpPr>
        <p:spPr>
          <a:xfrm>
            <a:off x="1385247" y="671677"/>
            <a:ext cx="201300" cy="201300"/>
          </a:xfrm>
          <a:prstGeom prst="ellipse">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41"/>
          <p:cNvSpPr/>
          <p:nvPr/>
        </p:nvSpPr>
        <p:spPr>
          <a:xfrm>
            <a:off x="1030944" y="3733852"/>
            <a:ext cx="201300" cy="201300"/>
          </a:xfrm>
          <a:prstGeom prst="ellipse">
            <a:avLst/>
          </a:prstGeom>
          <a:solidFill>
            <a:srgbClr val="5C6C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41"/>
          <p:cNvSpPr/>
          <p:nvPr/>
        </p:nvSpPr>
        <p:spPr>
          <a:xfrm>
            <a:off x="1385238" y="3733849"/>
            <a:ext cx="201300" cy="201300"/>
          </a:xfrm>
          <a:prstGeom prst="ellipse">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41"/>
          <p:cNvSpPr/>
          <p:nvPr/>
        </p:nvSpPr>
        <p:spPr>
          <a:xfrm>
            <a:off x="4370575" y="1959674"/>
            <a:ext cx="201300" cy="201300"/>
          </a:xfrm>
          <a:prstGeom prst="ellipse">
            <a:avLst/>
          </a:prstGeom>
          <a:solidFill>
            <a:srgbClr val="45818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41"/>
          <p:cNvSpPr/>
          <p:nvPr/>
        </p:nvSpPr>
        <p:spPr>
          <a:xfrm>
            <a:off x="4169263" y="2160974"/>
            <a:ext cx="201300" cy="201300"/>
          </a:xfrm>
          <a:prstGeom prst="ellipse">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41"/>
          <p:cNvSpPr/>
          <p:nvPr/>
        </p:nvSpPr>
        <p:spPr>
          <a:xfrm>
            <a:off x="3867250" y="2169149"/>
            <a:ext cx="201300" cy="201300"/>
          </a:xfrm>
          <a:prstGeom prst="ellipse">
            <a:avLst/>
          </a:prstGeom>
          <a:solidFill>
            <a:srgbClr val="D6454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