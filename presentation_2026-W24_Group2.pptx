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Inter"/>
      <p:bold r:id="rId23"/>
      <p:boldItalic r:id="rId24"/>
    </p:embeddedFont>
    <p:embeddedFont>
      <p:font typeface="Inter ExtraBold"/>
      <p:bold r:id="rId25"/>
      <p:boldItalic r:id="rId26"/>
    </p:embeddedFont>
    <p:embeddedFont>
      <p:font typeface="Roboto Mon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F8A4ED4-FCFA-469E-874F-6E732FB8C72B}">
  <a:tblStyle styleId="{6F8A4ED4-FCFA-469E-874F-6E732FB8C72B}"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E8F118DC-B23B-47FD-A7D6-695816414A83}"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9398E35E-1626-496E-ADD6-558A98D8C847}" styleName="Table_2">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rgbClr val="FFFFFF"/>
      </a:tcTxStyle>
      <a:tcStyle>
        <a:fill>
          <a:solidFill>
            <a:srgbClr val="4F81BD"/>
          </a:solidFill>
        </a:fill>
      </a:tcStyle>
    </a:lastCol>
    <a:firstCol>
      <a:tcTxStyle b="on" i="off">
        <a:font>
          <a:latin typeface="Calibri"/>
          <a:ea typeface="Calibri"/>
          <a:cs typeface="Calibri"/>
        </a:font>
        <a:srgbClr val="FFFFFF"/>
      </a:tcTxStyle>
      <a:tcStyle>
        <a:fill>
          <a:solidFill>
            <a:srgbClr val="4F81BD"/>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F81BD"/>
          </a:solidFill>
        </a:fill>
      </a:tcStyle>
    </a:lastRow>
    <a:seCell>
      <a:tcTxStyle/>
    </a:seCell>
    <a:swCell>
      <a:tcTxStyle/>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F81BD"/>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Inter-boldItalic.fntdata"/><Relationship Id="rId23" Type="http://schemas.openxmlformats.org/officeDocument/2006/relationships/font" Target="fonts/Inter-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ExtraBold-boldItalic.fntdata"/><Relationship Id="rId25" Type="http://schemas.openxmlformats.org/officeDocument/2006/relationships/font" Target="fonts/InterExtraBold-bold.fntdata"/><Relationship Id="rId28" Type="http://schemas.openxmlformats.org/officeDocument/2006/relationships/font" Target="fonts/RobotoMono-bold.fntdata"/><Relationship Id="rId27" Type="http://schemas.openxmlformats.org/officeDocument/2006/relationships/font" Target="fonts/RobotoMon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Mono-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RobotoMon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ebb073660b_0_9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g3ebb073660b_0_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bb073660b_0_38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For Sprint 4, our main sprint goal is focused on </a:t>
            </a:r>
            <a:r>
              <a:rPr b="1" lang="en-GB">
                <a:solidFill>
                  <a:schemeClr val="dk1"/>
                </a:solidFill>
              </a:rPr>
              <a:t>evidence automation</a:t>
            </a:r>
            <a:r>
              <a:rPr lang="en-GB">
                <a:solidFill>
                  <a:schemeClr val="dk1"/>
                </a:solidFill>
              </a:rPr>
              <a:t>. Instead of manually collecting all market data each week, we decided to automate one repeatable part of the prediction process using Python and yfinance.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The automation is designed to fetch market data for the main index proxies: SPX, NDX, and IWM, as well as the selected sector proxies: XLK for Information Technology, XLE for Energy, and XLF for Financials. The output should be generated as structured CSV or JSON files, so the team can use the data directly as supporting evidence for the W4 prediction.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On the right side, the “Done Means” section defines our acceptance criteria. The sprint is only considered complete if the Python script runs successfully, the latest market snapshot files are generated, and the GitHub Actions test workflow passes. We also need a real Friday-close workflow, updated documentation files, and a W4 prediction that actually uses the automated evidence. </a:t>
            </a:r>
            <a:endParaRPr>
              <a:solidFill>
                <a:schemeClr val="dk1"/>
              </a:solidFill>
            </a:endParaRPr>
          </a:p>
        </p:txBody>
      </p:sp>
      <p:sp>
        <p:nvSpPr>
          <p:cNvPr id="76" name="Google Shape;76;g3ebb073660b_0_3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ebb073660b_0_66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For the broad indices, our view is cautiously positive, but not aggressive. For the S&amp;P 500 proxy, we are forecasting a neutral to cautiously up move, with a range from slightly negative to around plus 0.8 percent. For the NASDAQ 100, our strongest broad index call is upward, with a range from plus 0.4 to plus 1.4 percent. For IWM, we expect a flat to mildly positive move, so the range is wider and still allows a small downside.</a:t>
            </a:r>
            <a:br>
              <a:rPr lang="en-GB"/>
            </a:br>
            <a:endParaRPr/>
          </a:p>
          <a:p>
            <a:pPr indent="0" lvl="0" marL="0" rtl="0" algn="l">
              <a:lnSpc>
                <a:spcPct val="100000"/>
              </a:lnSpc>
              <a:spcBef>
                <a:spcPts val="0"/>
              </a:spcBef>
              <a:spcAft>
                <a:spcPts val="0"/>
              </a:spcAft>
              <a:buSzPts val="1400"/>
              <a:buNone/>
            </a:pPr>
            <a:r>
              <a:rPr lang="en-GB"/>
              <a:t>For the sector commitments, we selected Information Technology, Energy, and Financials. Technology is our strongest sector call, with medium-high confidence, because it aligns with the stronger NASDAQ view. Energy is the weakest call, with a down direction and a negative range. Financials are more moderate, with a neutral to upward bias.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The main assumption behind this forecast is that the market remains guided by the FOMC dot plot and forward guidance after the near-certain rate hold. Our technical invalidation rule is also clear: if SPX, NDX, or IWM closes below the 21-day EMA or the listed support levels, then our cautiously bullish view is weakened. The forecast is only valid while the market holds above the technical support levels. If those levels break, our prediction should be treated as invalidated.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Finally, the evidence lock confirms that this prediction is tied to our market snapshot and committed to GitHub. That means R10 can later compare our forecast against the actual movement and calculate calibration fairly.</a:t>
            </a:r>
            <a:endParaRPr/>
          </a:p>
        </p:txBody>
      </p:sp>
      <p:sp>
        <p:nvSpPr>
          <p:cNvPr id="103" name="Google Shape;103;g3ebb073660b_0_6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ebebc0a9a0_3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Hi everyone, I have successfully updated the Week W23 Market Actuals Audit slide according to our official prediction_2026-W23_team2.md log.</a:t>
            </a:r>
            <a:endParaRPr/>
          </a:p>
          <a:p>
            <a:pPr indent="0" lvl="0" marL="0" rtl="0" algn="l">
              <a:spcBef>
                <a:spcPts val="0"/>
              </a:spcBef>
              <a:spcAft>
                <a:spcPts val="0"/>
              </a:spcAft>
              <a:buClr>
                <a:schemeClr val="dk1"/>
              </a:buClr>
              <a:buSzPts val="1100"/>
              <a:buFont typeface="Arial"/>
              <a:buNone/>
            </a:pPr>
            <a:r>
              <a:rPr lang="en-GB"/>
              <a:t>***In this final version, we have completely removed the commodities placeholder lines and narrowed our audit scope down strictly to the 3 major equity indices that our team predicted.*** You don’t need this</a:t>
            </a:r>
            <a:endParaRPr/>
          </a:p>
          <a:p>
            <a:pPr indent="0" lvl="0" marL="0" rtl="0" algn="l">
              <a:spcBef>
                <a:spcPts val="0"/>
              </a:spcBef>
              <a:spcAft>
                <a:spcPts val="0"/>
              </a:spcAft>
              <a:buClr>
                <a:schemeClr val="dk1"/>
              </a:buClr>
              <a:buSzPts val="1100"/>
              <a:buFont typeface="Arial"/>
              <a:buNone/>
            </a:pPr>
            <a:r>
              <a:rPr lang="en-GB"/>
              <a:t>Driven by our automated yfinance API ingestion pipeline, here is our definitive score for W23:</a:t>
            </a:r>
            <a:endParaRPr/>
          </a:p>
          <a:p>
            <a:pPr indent="0" lvl="0" marL="0" rtl="0" algn="l">
              <a:spcBef>
                <a:spcPts val="0"/>
              </a:spcBef>
              <a:spcAft>
                <a:spcPts val="0"/>
              </a:spcAft>
              <a:buClr>
                <a:schemeClr val="dk1"/>
              </a:buClr>
              <a:buSzPts val="1100"/>
              <a:buFont typeface="Arial"/>
              <a:buNone/>
            </a:pPr>
            <a:r>
              <a:rPr lang="en-GB"/>
              <a:t>Our team achieved an impressive Hit Rate of 2 out of 3.</a:t>
            </a:r>
            <a:endParaRPr/>
          </a:p>
          <a:p>
            <a:pPr indent="0" lvl="0" marL="0" rtl="0" algn="l">
              <a:spcBef>
                <a:spcPts val="0"/>
              </a:spcBef>
              <a:spcAft>
                <a:spcPts val="0"/>
              </a:spcAft>
              <a:buClr>
                <a:schemeClr val="dk1"/>
              </a:buClr>
              <a:buSzPts val="1100"/>
              <a:buFont typeface="Arial"/>
              <a:buNone/>
            </a:pPr>
            <a:r>
              <a:rPr lang="en-GB"/>
              <a:t>We successfully anticipated the broad market correction, delivering solid HITs on both SPX (which dropped -1.40%) and NDX (which dropped -1.19%).</a:t>
            </a:r>
            <a:endParaRPr/>
          </a:p>
          <a:p>
            <a:pPr indent="0" lvl="0" marL="0" rtl="0" algn="l">
              <a:spcBef>
                <a:spcPts val="0"/>
              </a:spcBef>
              <a:spcAft>
                <a:spcPts val="0"/>
              </a:spcAft>
              <a:buClr>
                <a:schemeClr val="dk1"/>
              </a:buClr>
              <a:buSzPts val="1100"/>
              <a:buFont typeface="Arial"/>
              <a:buNone/>
            </a:pPr>
            <a:r>
              <a:rPr lang="en-GB"/>
              <a:t>Our Largest Miss was IWM, where we forecasted a downward move but small-caps experienced a defensive rotation, ending the week up +1.33%.</a:t>
            </a:r>
            <a:endParaRPr/>
          </a:p>
          <a:p>
            <a:pPr indent="0" lvl="0" marL="0" rtl="0" algn="l">
              <a:spcBef>
                <a:spcPts val="0"/>
              </a:spcBef>
              <a:spcAft>
                <a:spcPts val="0"/>
              </a:spcAft>
              <a:buNone/>
            </a:pPr>
            <a:r>
              <a:t/>
            </a:r>
            <a:endParaRPr/>
          </a:p>
        </p:txBody>
      </p:sp>
      <p:sp>
        <p:nvSpPr>
          <p:cNvPr id="147" name="Google Shape;147;g3ebebc0a9a0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ebeda5567c_6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ebeda5567c_6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ebb073660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ebb073660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P1</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slide shows the Almanac analysis for Week 24.</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First, 2026 is a U.S. midterm election year.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June is usually a weak month.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S&amp;P 500 average June return is only 0.2%, and the midterm year return is -2.1%.</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So, the seasonal outlook is weak.</a:t>
            </a:r>
            <a:endParaRPr>
              <a:solidFill>
                <a:schemeClr val="dk1"/>
              </a:solidFill>
            </a:endParaRPr>
          </a:p>
          <a:p>
            <a:pPr indent="0" lvl="0" marL="0" rtl="0" algn="l">
              <a:spcBef>
                <a:spcPts val="1200"/>
              </a:spcBef>
              <a:spcAft>
                <a:spcPts val="0"/>
              </a:spcAft>
              <a:buNone/>
            </a:pPr>
            <a:br>
              <a:rPr lang="en-GB"/>
            </a:br>
            <a:r>
              <a:rPr b="1" lang="en-GB">
                <a:solidFill>
                  <a:schemeClr val="dk1"/>
                </a:solidFill>
              </a:rPr>
              <a:t>P2</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week is also June Triple Witching week.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It may increase market volatility.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Technology and Utilities have positive seasonal signals.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Financials, Energy, and Materials have negative seasonal signals.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Overall, our Almanac view is </a:t>
            </a:r>
            <a:r>
              <a:rPr b="1" lang="en-GB">
                <a:solidFill>
                  <a:schemeClr val="dk1"/>
                </a:solidFill>
              </a:rPr>
              <a:t>Bearish to Neutral</a:t>
            </a:r>
            <a:r>
              <a:rPr lang="en-GB">
                <a:solidFill>
                  <a:schemeClr val="dk1"/>
                </a:solidFill>
              </a:rPr>
              <a:t> with </a:t>
            </a:r>
            <a:r>
              <a:rPr b="1" lang="en-GB">
                <a:solidFill>
                  <a:schemeClr val="dk1"/>
                </a:solidFill>
              </a:rPr>
              <a:t>Medium confidence</a:t>
            </a:r>
            <a:r>
              <a:rPr lang="en-GB">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Thank you.</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ebe7554ea3_0_10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Good morning, everyone. As the R4 Macro Lead, I will walk you through our Week 24 macro environment.On the inflation front, it is confirmed that headline CPI rose 0.5% month-over-month, bringing the year-over-year rate to 4.2%, while Core PPI came in softer than forecast. In the bond market, the US 10-year yield is confirmed at 4.48%, which is currently easing the pressure on growth and tech valuations.  Our primary driver for the upcoming week is the confirmed FOMC meeting, where there is a 97.4% probability of a rate hold, meaning market attention will shift entirely to the Fed's Dot Plot. Meanwhile, an unverified but highly impactful event is the looming U.S.-Iran peace deal and associated Hormuz risk. Although unverified, this anticipation has already crashed WTI crude by 3.23%.</a:t>
            </a:r>
            <a:endParaRPr/>
          </a:p>
        </p:txBody>
      </p:sp>
      <p:sp>
        <p:nvSpPr>
          <p:cNvPr id="182" name="Google Shape;182;g3ebe7554ea3_0_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ebe7554ea3_0_32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Moving to our macro transmission chain, we can trace how these catalysts directly impact our equity sectors.The expectations surrounding the FOMC meeting and the U.S.-Iran peace talks have driven the 10-year Treasury yield down to 4.48%. This drop in rates has significantly improved market liquidity, evidenced by the DXY declining 0.11% and the VIX falling 6.59%, signaling that risk appetite is up.  For our specific equities:Technology (XLK) is primed for a rebound after a recent pullback, benefiting from these lower yields.  Financials (XLF) is showing a +2.4% outperformance, supported by strong GDPNow estimates.  However, Energy (XLE) remains pressured by the crashing crude prices.  Finally, we must monitor two critical risk factors that could invalidate this setup: a hawkish shift in the Fed's Dot Plot, or a breakdown in the Iran negotiations that could trigger an oil price spike.  Thank you. I'll now pass it on to the next segment.</a:t>
            </a:r>
            <a:endParaRPr/>
          </a:p>
        </p:txBody>
      </p:sp>
      <p:sp>
        <p:nvSpPr>
          <p:cNvPr id="217" name="Google Shape;217;g3ebe7554ea3_0_3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ebf262106f_13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g3ebf262106f_1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ebb073660b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ebb073660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ebebc0a9a0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This week, our Human Score improved from </a:t>
            </a:r>
            <a:r>
              <a:rPr b="1" lang="en-GB">
                <a:solidFill>
                  <a:schemeClr val="dk1"/>
                </a:solidFill>
              </a:rPr>
              <a:t>-3 to +1</a:t>
            </a:r>
            <a:r>
              <a:rPr lang="en-GB">
                <a:solidFill>
                  <a:schemeClr val="dk1"/>
                </a:solidFill>
              </a:rPr>
              <a:t>, showing that market conditions have become more supportive compared to last week. The main positives were stable Fed expectations, lower Treasury yields, and stronger GDP growth. Technology also continues to lead the market and remains our strongest bullish factor. However, June is still a historically weak month during Midterm Election Years, so we can't ignore the seasonal risks. We also believe the recent technical recovery needs more time before it can be fully trusted. Taking everything together, we arrived at a </a:t>
            </a:r>
            <a:r>
              <a:rPr b="1" lang="en-GB">
                <a:solidFill>
                  <a:schemeClr val="dk1"/>
                </a:solidFill>
              </a:rPr>
              <a:t>Neutral-Bullish outlook</a:t>
            </a:r>
            <a:r>
              <a:rPr lang="en-GB">
                <a:solidFill>
                  <a:schemeClr val="dk1"/>
                </a:solidFill>
              </a:rPr>
              <a:t>. </a:t>
            </a:r>
            <a:endParaRPr/>
          </a:p>
        </p:txBody>
      </p:sp>
      <p:sp>
        <p:nvSpPr>
          <p:cNvPr id="270" name="Google Shape;270;g3ebebc0a9a0_4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ebebc0a9a0_4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Overall, we agree with the AI consensus that the market outlook is Neutral-Bullish. The AI models correctly highlighted Fed stability, improving growth, lower yields, and Technology leadership as key positives. However, we gave additional weight to factors such as Triple Witch volatility and the seasonal weakness typically seen in June. We also think it's too early to fully confirm the recent recovery in market momentum. Any unexpected hawkish comments from the Fed could quickly change sentiment. Because of these risks, we remain cautiously optimistic rather than fully bullish. </a:t>
            </a:r>
            <a:endParaRPr/>
          </a:p>
        </p:txBody>
      </p:sp>
      <p:sp>
        <p:nvSpPr>
          <p:cNvPr id="285" name="Google Shape;285;g3ebebc0a9a0_4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ebb073660b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ebb073660b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As you can see from our repository status, all core deliverables from our team agents have been successfully verified and committed, bringing our project to a total of </a:t>
            </a:r>
            <a:r>
              <a:rPr b="1" lang="en-GB">
                <a:solidFill>
                  <a:schemeClr val="dk1"/>
                </a:solidFill>
              </a:rPr>
              <a:t>281 commits</a:t>
            </a:r>
            <a:r>
              <a:rPr lang="en-GB">
                <a:solidFill>
                  <a:schemeClr val="dk1"/>
                </a:solidFill>
              </a:rPr>
              <a:t>. This includes R6's market actuals, R8's multi-LLM comparison tables, and R10's calibration metrics.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 satisfy our </a:t>
            </a:r>
            <a:r>
              <a:rPr b="1" lang="en-GB">
                <a:solidFill>
                  <a:schemeClr val="dk1"/>
                </a:solidFill>
              </a:rPr>
              <a:t>Definition of Done (DoD)</a:t>
            </a:r>
            <a:r>
              <a:rPr lang="en-GB">
                <a:solidFill>
                  <a:schemeClr val="dk1"/>
                </a:solidFill>
              </a:rPr>
              <a:t>, I have audited the codebase and ensured that all independent reports are cleanly archived within the </a:t>
            </a:r>
            <a:r>
              <a:rPr lang="en-GB">
                <a:solidFill>
                  <a:srgbClr val="188038"/>
                </a:solidFill>
                <a:latin typeface="Roboto Mono"/>
                <a:ea typeface="Roboto Mono"/>
                <a:cs typeface="Roboto Mono"/>
                <a:sym typeface="Roboto Mono"/>
              </a:rPr>
              <a:t>/evidence</a:t>
            </a:r>
            <a:r>
              <a:rPr lang="en-GB">
                <a:solidFill>
                  <a:schemeClr val="dk1"/>
                </a:solidFill>
              </a:rPr>
              <a:t> folder.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Finally, the official production release tag, </a:t>
            </a:r>
            <a:r>
              <a:rPr b="1" lang="en-GB">
                <a:solidFill>
                  <a:schemeClr val="dk1"/>
                </a:solidFill>
              </a:rPr>
              <a:t>'Week 3 Submission'</a:t>
            </a:r>
            <a:r>
              <a:rPr lang="en-GB">
                <a:solidFill>
                  <a:schemeClr val="dk1"/>
                </a:solidFill>
              </a:rPr>
              <a:t>, has been successfully deployed. I have verified via an external browser session that the release bundle is fully locked, public, and accessible for grading.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repository is frozen and ready. Thank you."</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ebb073660b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ebb073660b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ebeda5567c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ebeda5567c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ebeda5567c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ebeda5567c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7.png"/><Relationship Id="rId9" Type="http://schemas.openxmlformats.org/officeDocument/2006/relationships/image" Target="../media/image11.png"/><Relationship Id="rId5" Type="http://schemas.openxmlformats.org/officeDocument/2006/relationships/image" Target="../media/image6.png"/><Relationship Id="rId6" Type="http://schemas.openxmlformats.org/officeDocument/2006/relationships/image" Target="../media/image3.png"/><Relationship Id="rId7" Type="http://schemas.openxmlformats.org/officeDocument/2006/relationships/image" Target="../media/image9.png"/><Relationship Id="rId8"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72E"/>
        </a:solidFill>
      </p:bgPr>
    </p:bg>
    <p:spTree>
      <p:nvGrpSpPr>
        <p:cNvPr id="53" name="Shape 53"/>
        <p:cNvGrpSpPr/>
        <p:nvPr/>
      </p:nvGrpSpPr>
      <p:grpSpPr>
        <a:xfrm>
          <a:off x="0" y="0"/>
          <a:ext cx="0" cy="0"/>
          <a:chOff x="0" y="0"/>
          <a:chExt cx="0" cy="0"/>
        </a:xfrm>
      </p:grpSpPr>
      <p:sp>
        <p:nvSpPr>
          <p:cNvPr id="54" name="Google Shape;54;p13"/>
          <p:cNvSpPr/>
          <p:nvPr/>
        </p:nvSpPr>
        <p:spPr>
          <a:xfrm>
            <a:off x="0" y="0"/>
            <a:ext cx="9144000" cy="109800"/>
          </a:xfrm>
          <a:prstGeom prst="rect">
            <a:avLst/>
          </a:prstGeom>
          <a:solidFill>
            <a:srgbClr val="00B8A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 name="Google Shape;55;p13"/>
          <p:cNvSpPr/>
          <p:nvPr/>
        </p:nvSpPr>
        <p:spPr>
          <a:xfrm>
            <a:off x="0" y="5010912"/>
            <a:ext cx="9144000" cy="137100"/>
          </a:xfrm>
          <a:prstGeom prst="rect">
            <a:avLst/>
          </a:prstGeom>
          <a:solidFill>
            <a:srgbClr val="7C4D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 name="Google Shape;56;p13"/>
          <p:cNvSpPr txBox="1"/>
          <p:nvPr/>
        </p:nvSpPr>
        <p:spPr>
          <a:xfrm>
            <a:off x="621811" y="1079000"/>
            <a:ext cx="30375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2000">
                <a:solidFill>
                  <a:srgbClr val="00B8A9"/>
                </a:solidFill>
                <a:latin typeface="Arial"/>
                <a:ea typeface="Arial"/>
                <a:cs typeface="Arial"/>
                <a:sym typeface="Arial"/>
              </a:rPr>
              <a:t>CP3405 TR2 2026 </a:t>
            </a:r>
            <a:endParaRPr b="1" sz="2000">
              <a:solidFill>
                <a:srgbClr val="00B8A9"/>
              </a:solidFill>
              <a:latin typeface="Arial"/>
              <a:ea typeface="Arial"/>
              <a:cs typeface="Arial"/>
              <a:sym typeface="Arial"/>
            </a:endParaRPr>
          </a:p>
        </p:txBody>
      </p:sp>
      <p:sp>
        <p:nvSpPr>
          <p:cNvPr id="57" name="Google Shape;57;p13"/>
          <p:cNvSpPr txBox="1"/>
          <p:nvPr/>
        </p:nvSpPr>
        <p:spPr>
          <a:xfrm>
            <a:off x="566928" y="1408176"/>
            <a:ext cx="1568700" cy="554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3000">
                <a:solidFill>
                  <a:srgbClr val="FFFFFF"/>
                </a:solidFill>
                <a:latin typeface="Arial"/>
                <a:ea typeface="Arial"/>
                <a:cs typeface="Arial"/>
                <a:sym typeface="Arial"/>
              </a:rPr>
              <a:t>Group 2</a:t>
            </a:r>
            <a:endParaRPr b="1" sz="3000">
              <a:solidFill>
                <a:srgbClr val="FFFFFF"/>
              </a:solidFill>
              <a:latin typeface="Arial"/>
              <a:ea typeface="Arial"/>
              <a:cs typeface="Arial"/>
              <a:sym typeface="Arial"/>
            </a:endParaRPr>
          </a:p>
        </p:txBody>
      </p:sp>
      <p:sp>
        <p:nvSpPr>
          <p:cNvPr id="58" name="Google Shape;58;p13"/>
          <p:cNvSpPr txBox="1"/>
          <p:nvPr/>
        </p:nvSpPr>
        <p:spPr>
          <a:xfrm>
            <a:off x="603497" y="2029975"/>
            <a:ext cx="1344000" cy="323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1500">
                <a:solidFill>
                  <a:srgbClr val="C8D4E3"/>
                </a:solidFill>
                <a:latin typeface="Arial"/>
                <a:ea typeface="Arial"/>
                <a:cs typeface="Arial"/>
                <a:sym typeface="Arial"/>
              </a:rPr>
              <a:t>Sprint </a:t>
            </a:r>
            <a:r>
              <a:rPr lang="en-GB" sz="1500">
                <a:solidFill>
                  <a:srgbClr val="C8D4E3"/>
                </a:solidFill>
              </a:rPr>
              <a:t>4 - W24</a:t>
            </a:r>
            <a:r>
              <a:rPr b="0" lang="en-GB" sz="1500">
                <a:solidFill>
                  <a:srgbClr val="C8D4E3"/>
                </a:solidFill>
                <a:latin typeface="Arial"/>
                <a:ea typeface="Arial"/>
                <a:cs typeface="Arial"/>
                <a:sym typeface="Arial"/>
              </a:rPr>
              <a:t> </a:t>
            </a:r>
            <a:endParaRPr b="0" sz="1500">
              <a:solidFill>
                <a:srgbClr val="C8D4E3"/>
              </a:solidFill>
              <a:latin typeface="Arial"/>
              <a:ea typeface="Arial"/>
              <a:cs typeface="Arial"/>
              <a:sym typeface="Arial"/>
            </a:endParaRPr>
          </a:p>
        </p:txBody>
      </p:sp>
      <p:sp>
        <p:nvSpPr>
          <p:cNvPr id="59" name="Google Shape;59;p13"/>
          <p:cNvSpPr/>
          <p:nvPr/>
        </p:nvSpPr>
        <p:spPr>
          <a:xfrm>
            <a:off x="621792" y="2642616"/>
            <a:ext cx="1783200" cy="210300"/>
          </a:xfrm>
          <a:prstGeom prst="roundRect">
            <a:avLst>
              <a:gd fmla="val 16667" name="adj"/>
            </a:avLst>
          </a:prstGeom>
          <a:solidFill>
            <a:srgbClr val="7C4DFF"/>
          </a:solidFill>
          <a:ln cap="flat" cmpd="sng" w="12700">
            <a:solidFill>
              <a:srgbClr val="7C4D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Arial"/>
                <a:ea typeface="Arial"/>
                <a:cs typeface="Arial"/>
                <a:sym typeface="Arial"/>
              </a:rPr>
              <a:t>The Bao Le</a:t>
            </a:r>
            <a:endParaRPr sz="1200">
              <a:solidFill>
                <a:schemeClr val="lt1"/>
              </a:solidFill>
              <a:latin typeface="Arial"/>
              <a:ea typeface="Arial"/>
              <a:cs typeface="Arial"/>
              <a:sym typeface="Arial"/>
            </a:endParaRPr>
          </a:p>
        </p:txBody>
      </p:sp>
      <p:sp>
        <p:nvSpPr>
          <p:cNvPr id="60" name="Google Shape;60;p13"/>
          <p:cNvSpPr/>
          <p:nvPr/>
        </p:nvSpPr>
        <p:spPr>
          <a:xfrm>
            <a:off x="621802" y="3826754"/>
            <a:ext cx="1783200" cy="210300"/>
          </a:xfrm>
          <a:prstGeom prst="roundRect">
            <a:avLst>
              <a:gd fmla="val 16667" name="adj"/>
            </a:avLst>
          </a:prstGeom>
          <a:solidFill>
            <a:srgbClr val="26364F"/>
          </a:solidFill>
          <a:ln cap="flat" cmpd="sng" w="12700">
            <a:solidFill>
              <a:srgbClr val="26364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Arial"/>
                <a:ea typeface="Arial"/>
                <a:cs typeface="Arial"/>
                <a:sym typeface="Arial"/>
              </a:rPr>
              <a:t>Kan Yijie</a:t>
            </a:r>
            <a:endParaRPr sz="1200">
              <a:solidFill>
                <a:schemeClr val="lt1"/>
              </a:solidFill>
              <a:latin typeface="Arial"/>
              <a:ea typeface="Arial"/>
              <a:cs typeface="Arial"/>
              <a:sym typeface="Arial"/>
            </a:endParaRPr>
          </a:p>
        </p:txBody>
      </p:sp>
      <p:sp>
        <p:nvSpPr>
          <p:cNvPr id="61" name="Google Shape;61;p13"/>
          <p:cNvSpPr/>
          <p:nvPr/>
        </p:nvSpPr>
        <p:spPr>
          <a:xfrm>
            <a:off x="621812" y="3444991"/>
            <a:ext cx="1783200" cy="210300"/>
          </a:xfrm>
          <a:prstGeom prst="roundRect">
            <a:avLst>
              <a:gd fmla="val 16667" name="adj"/>
            </a:avLst>
          </a:prstGeom>
          <a:solidFill>
            <a:srgbClr val="2FB344"/>
          </a:solidFill>
          <a:ln cap="flat" cmpd="sng" w="12700">
            <a:solidFill>
              <a:srgbClr val="2FB34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Arial"/>
                <a:ea typeface="Arial"/>
                <a:cs typeface="Arial"/>
                <a:sym typeface="Arial"/>
              </a:rPr>
              <a:t>Hamzah Nutt</a:t>
            </a:r>
            <a:endParaRPr sz="1200">
              <a:solidFill>
                <a:schemeClr val="lt1"/>
              </a:solidFill>
              <a:latin typeface="Arial"/>
              <a:ea typeface="Arial"/>
              <a:cs typeface="Arial"/>
              <a:sym typeface="Arial"/>
            </a:endParaRPr>
          </a:p>
        </p:txBody>
      </p:sp>
      <p:sp>
        <p:nvSpPr>
          <p:cNvPr id="62" name="Google Shape;62;p13"/>
          <p:cNvSpPr/>
          <p:nvPr/>
        </p:nvSpPr>
        <p:spPr>
          <a:xfrm>
            <a:off x="621792" y="3044952"/>
            <a:ext cx="1783200" cy="210300"/>
          </a:xfrm>
          <a:prstGeom prst="roundRect">
            <a:avLst>
              <a:gd fmla="val 16667" name="adj"/>
            </a:avLst>
          </a:prstGeom>
          <a:solidFill>
            <a:srgbClr val="F2B84B"/>
          </a:solidFill>
          <a:ln cap="flat" cmpd="sng" w="12700">
            <a:solidFill>
              <a:srgbClr val="F2B84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Arial"/>
                <a:ea typeface="Arial"/>
                <a:cs typeface="Arial"/>
                <a:sym typeface="Arial"/>
              </a:rPr>
              <a:t>Wenhan Hu</a:t>
            </a:r>
            <a:endParaRPr sz="1200">
              <a:solidFill>
                <a:schemeClr val="lt1"/>
              </a:solidFill>
              <a:latin typeface="Arial"/>
              <a:ea typeface="Arial"/>
              <a:cs typeface="Arial"/>
              <a:sym typeface="Arial"/>
            </a:endParaRPr>
          </a:p>
        </p:txBody>
      </p:sp>
      <p:sp>
        <p:nvSpPr>
          <p:cNvPr id="63" name="Google Shape;63;p13"/>
          <p:cNvSpPr/>
          <p:nvPr/>
        </p:nvSpPr>
        <p:spPr>
          <a:xfrm>
            <a:off x="2587752" y="3044952"/>
            <a:ext cx="1783200" cy="210300"/>
          </a:xfrm>
          <a:prstGeom prst="roundRect">
            <a:avLst>
              <a:gd fmla="val 16667" name="adj"/>
            </a:avLst>
          </a:prstGeom>
          <a:solidFill>
            <a:srgbClr val="F2B84B"/>
          </a:solidFill>
          <a:ln cap="flat" cmpd="sng" w="12700">
            <a:solidFill>
              <a:srgbClr val="F2B84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Arial"/>
                <a:ea typeface="Arial"/>
                <a:cs typeface="Arial"/>
                <a:sym typeface="Arial"/>
              </a:rPr>
              <a:t>Hao Wang</a:t>
            </a:r>
            <a:endParaRPr sz="1200">
              <a:solidFill>
                <a:schemeClr val="lt1"/>
              </a:solidFill>
              <a:latin typeface="Arial"/>
              <a:ea typeface="Arial"/>
              <a:cs typeface="Arial"/>
              <a:sym typeface="Arial"/>
            </a:endParaRPr>
          </a:p>
        </p:txBody>
      </p:sp>
      <p:sp>
        <p:nvSpPr>
          <p:cNvPr id="64" name="Google Shape;64;p13"/>
          <p:cNvSpPr/>
          <p:nvPr/>
        </p:nvSpPr>
        <p:spPr>
          <a:xfrm>
            <a:off x="2587762" y="3826765"/>
            <a:ext cx="1783200" cy="210300"/>
          </a:xfrm>
          <a:prstGeom prst="roundRect">
            <a:avLst>
              <a:gd fmla="val 16667" name="adj"/>
            </a:avLst>
          </a:prstGeom>
          <a:solidFill>
            <a:srgbClr val="F07C3E"/>
          </a:solidFill>
          <a:ln cap="flat" cmpd="sng" w="12700">
            <a:solidFill>
              <a:srgbClr val="F07C3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Arial"/>
                <a:ea typeface="Arial"/>
                <a:cs typeface="Arial"/>
                <a:sym typeface="Arial"/>
              </a:rPr>
              <a:t>Yu-Chu Lin</a:t>
            </a:r>
            <a:endParaRPr sz="1200">
              <a:solidFill>
                <a:schemeClr val="lt1"/>
              </a:solidFill>
              <a:latin typeface="Arial"/>
              <a:ea typeface="Arial"/>
              <a:cs typeface="Arial"/>
              <a:sym typeface="Arial"/>
            </a:endParaRPr>
          </a:p>
        </p:txBody>
      </p:sp>
      <p:sp>
        <p:nvSpPr>
          <p:cNvPr id="65" name="Google Shape;65;p13"/>
          <p:cNvSpPr/>
          <p:nvPr/>
        </p:nvSpPr>
        <p:spPr>
          <a:xfrm>
            <a:off x="4553692" y="3044938"/>
            <a:ext cx="1783200" cy="210300"/>
          </a:xfrm>
          <a:prstGeom prst="roundRect">
            <a:avLst>
              <a:gd fmla="val 16667" name="adj"/>
            </a:avLst>
          </a:prstGeom>
          <a:solidFill>
            <a:srgbClr val="2878E2"/>
          </a:solidFill>
          <a:ln cap="flat" cmpd="sng" w="12700">
            <a:solidFill>
              <a:srgbClr val="2878E2"/>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Arial"/>
                <a:ea typeface="Arial"/>
                <a:cs typeface="Arial"/>
                <a:sym typeface="Arial"/>
              </a:rPr>
              <a:t>Guanyu Lu</a:t>
            </a:r>
            <a:endParaRPr sz="1200">
              <a:solidFill>
                <a:schemeClr val="lt1"/>
              </a:solidFill>
              <a:latin typeface="Arial"/>
              <a:ea typeface="Arial"/>
              <a:cs typeface="Arial"/>
              <a:sym typeface="Arial"/>
            </a:endParaRPr>
          </a:p>
        </p:txBody>
      </p:sp>
      <p:sp>
        <p:nvSpPr>
          <p:cNvPr id="66" name="Google Shape;66;p13"/>
          <p:cNvSpPr/>
          <p:nvPr/>
        </p:nvSpPr>
        <p:spPr>
          <a:xfrm>
            <a:off x="2587752" y="2642613"/>
            <a:ext cx="1783200" cy="210300"/>
          </a:xfrm>
          <a:prstGeom prst="roundRect">
            <a:avLst>
              <a:gd fmla="val 16667" name="adj"/>
            </a:avLst>
          </a:prstGeom>
          <a:solidFill>
            <a:srgbClr val="00B8A9"/>
          </a:solidFill>
          <a:ln cap="flat" cmpd="sng" w="12700">
            <a:solidFill>
              <a:srgbClr val="00B8A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Arial"/>
                <a:ea typeface="Arial"/>
                <a:cs typeface="Arial"/>
                <a:sym typeface="Arial"/>
              </a:rPr>
              <a:t>Zheng Zaikun</a:t>
            </a:r>
            <a:endParaRPr sz="1200">
              <a:solidFill>
                <a:schemeClr val="lt1"/>
              </a:solidFill>
              <a:latin typeface="Arial"/>
              <a:ea typeface="Arial"/>
              <a:cs typeface="Arial"/>
              <a:sym typeface="Arial"/>
            </a:endParaRPr>
          </a:p>
        </p:txBody>
      </p:sp>
      <p:sp>
        <p:nvSpPr>
          <p:cNvPr id="67" name="Google Shape;67;p13"/>
          <p:cNvSpPr/>
          <p:nvPr/>
        </p:nvSpPr>
        <p:spPr>
          <a:xfrm>
            <a:off x="4553712" y="3447288"/>
            <a:ext cx="1783200" cy="210300"/>
          </a:xfrm>
          <a:prstGeom prst="roundRect">
            <a:avLst>
              <a:gd fmla="val 16667" name="adj"/>
            </a:avLst>
          </a:prstGeom>
          <a:solidFill>
            <a:srgbClr val="E855A7"/>
          </a:solidFill>
          <a:ln cap="flat" cmpd="sng" w="12700">
            <a:solidFill>
              <a:srgbClr val="E855A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Arial"/>
                <a:ea typeface="Arial"/>
                <a:cs typeface="Arial"/>
                <a:sym typeface="Arial"/>
              </a:rPr>
              <a:t>Swan Htet Zaw</a:t>
            </a:r>
            <a:endParaRPr sz="1200">
              <a:solidFill>
                <a:schemeClr val="lt1"/>
              </a:solidFill>
              <a:latin typeface="Arial"/>
              <a:ea typeface="Arial"/>
              <a:cs typeface="Arial"/>
              <a:sym typeface="Arial"/>
            </a:endParaRPr>
          </a:p>
        </p:txBody>
      </p:sp>
      <p:sp>
        <p:nvSpPr>
          <p:cNvPr id="68" name="Google Shape;68;p13"/>
          <p:cNvSpPr/>
          <p:nvPr/>
        </p:nvSpPr>
        <p:spPr>
          <a:xfrm>
            <a:off x="4553712" y="2642602"/>
            <a:ext cx="1783200" cy="210300"/>
          </a:xfrm>
          <a:prstGeom prst="roundRect">
            <a:avLst>
              <a:gd fmla="val 16667" name="adj"/>
            </a:avLst>
          </a:prstGeom>
          <a:solidFill>
            <a:srgbClr val="00B8A9"/>
          </a:solidFill>
          <a:ln cap="flat" cmpd="sng" w="12700">
            <a:solidFill>
              <a:srgbClr val="00B8A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Arial"/>
                <a:ea typeface="Arial"/>
                <a:cs typeface="Arial"/>
                <a:sym typeface="Arial"/>
              </a:rPr>
              <a:t>WuQin </a:t>
            </a:r>
            <a:r>
              <a:rPr lang="en-GB" sz="1200">
                <a:solidFill>
                  <a:schemeClr val="lt1"/>
                </a:solidFill>
              </a:rPr>
              <a:t>Y</a:t>
            </a:r>
            <a:r>
              <a:rPr lang="en-GB" sz="1200">
                <a:solidFill>
                  <a:schemeClr val="lt1"/>
                </a:solidFill>
                <a:latin typeface="Arial"/>
                <a:ea typeface="Arial"/>
                <a:cs typeface="Arial"/>
                <a:sym typeface="Arial"/>
              </a:rPr>
              <a:t>ang</a:t>
            </a:r>
            <a:endParaRPr sz="1200">
              <a:solidFill>
                <a:schemeClr val="lt1"/>
              </a:solidFill>
              <a:latin typeface="Arial"/>
              <a:ea typeface="Arial"/>
              <a:cs typeface="Arial"/>
              <a:sym typeface="Arial"/>
            </a:endParaRPr>
          </a:p>
        </p:txBody>
      </p:sp>
      <p:sp>
        <p:nvSpPr>
          <p:cNvPr id="69" name="Google Shape;69;p13"/>
          <p:cNvSpPr/>
          <p:nvPr/>
        </p:nvSpPr>
        <p:spPr>
          <a:xfrm>
            <a:off x="2587742" y="3445002"/>
            <a:ext cx="1783200" cy="210300"/>
          </a:xfrm>
          <a:prstGeom prst="roundRect">
            <a:avLst>
              <a:gd fmla="val 16667" name="adj"/>
            </a:avLst>
          </a:prstGeom>
          <a:solidFill>
            <a:srgbClr val="5C6CFF"/>
          </a:solidFill>
          <a:ln cap="flat" cmpd="sng" w="12700">
            <a:solidFill>
              <a:srgbClr val="5C6C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Arial"/>
                <a:ea typeface="Arial"/>
                <a:cs typeface="Arial"/>
                <a:sym typeface="Arial"/>
              </a:rPr>
              <a:t>Lu Junwen</a:t>
            </a:r>
            <a:endParaRPr sz="1200">
              <a:solidFill>
                <a:schemeClr val="lt1"/>
              </a:solidFill>
              <a:latin typeface="Arial"/>
              <a:ea typeface="Arial"/>
              <a:cs typeface="Arial"/>
              <a:sym typeface="Arial"/>
            </a:endParaRPr>
          </a:p>
        </p:txBody>
      </p:sp>
      <p:sp>
        <p:nvSpPr>
          <p:cNvPr id="70" name="Google Shape;70;p13"/>
          <p:cNvSpPr/>
          <p:nvPr/>
        </p:nvSpPr>
        <p:spPr>
          <a:xfrm>
            <a:off x="4553702" y="3826752"/>
            <a:ext cx="1783200" cy="210300"/>
          </a:xfrm>
          <a:prstGeom prst="roundRect">
            <a:avLst>
              <a:gd fmla="val 16667" name="adj"/>
            </a:avLst>
          </a:prstGeom>
          <a:solidFill>
            <a:srgbClr val="D64545"/>
          </a:solidFill>
          <a:ln cap="flat" cmpd="sng" w="12700">
            <a:solidFill>
              <a:srgbClr val="D6454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GB" sz="1200">
                <a:solidFill>
                  <a:schemeClr val="lt1"/>
                </a:solidFill>
                <a:latin typeface="Arial"/>
                <a:ea typeface="Arial"/>
                <a:cs typeface="Arial"/>
                <a:sym typeface="Arial"/>
              </a:rPr>
              <a:t>Yue Zhou</a:t>
            </a:r>
            <a:endParaRPr sz="1200">
              <a:solidFill>
                <a:schemeClr val="lt1"/>
              </a:solidFill>
              <a:latin typeface="Arial"/>
              <a:ea typeface="Arial"/>
              <a:cs typeface="Arial"/>
              <a:sym typeface="Arial"/>
            </a:endParaRPr>
          </a:p>
        </p:txBody>
      </p:sp>
      <p:grpSp>
        <p:nvGrpSpPr>
          <p:cNvPr id="71" name="Google Shape;71;p13"/>
          <p:cNvGrpSpPr/>
          <p:nvPr/>
        </p:nvGrpSpPr>
        <p:grpSpPr>
          <a:xfrm>
            <a:off x="6931235" y="388848"/>
            <a:ext cx="1986795" cy="1019329"/>
            <a:chOff x="6392111" y="726475"/>
            <a:chExt cx="2408529" cy="1235700"/>
          </a:xfrm>
        </p:grpSpPr>
        <p:sp>
          <p:nvSpPr>
            <p:cNvPr id="72" name="Google Shape;72;p13"/>
            <p:cNvSpPr/>
            <p:nvPr/>
          </p:nvSpPr>
          <p:spPr>
            <a:xfrm>
              <a:off x="6392175" y="726475"/>
              <a:ext cx="2408400" cy="1235700"/>
            </a:xfrm>
            <a:prstGeom prst="roundRect">
              <a:avLst>
                <a:gd fmla="val 16667" name="adj"/>
              </a:avLst>
            </a:prstGeom>
            <a:solidFill>
              <a:srgbClr val="F4F8FC"/>
            </a:solidFill>
            <a:ln cap="flat" cmpd="sng" w="7850">
              <a:solidFill>
                <a:schemeClr val="dk2"/>
              </a:solidFill>
              <a:prstDash val="solid"/>
              <a:round/>
              <a:headEnd len="sm" w="sm" type="none"/>
              <a:tailEnd len="sm" w="sm" type="none"/>
            </a:ln>
          </p:spPr>
          <p:txBody>
            <a:bodyPr anchorCtr="0" anchor="ctr" bIns="75425" lIns="75425" spcFirstLastPara="1" rIns="75425" wrap="square" tIns="75425">
              <a:noAutofit/>
            </a:bodyPr>
            <a:lstStyle/>
            <a:p>
              <a:pPr indent="0" lvl="0" marL="0" rtl="0" algn="ctr">
                <a:spcBef>
                  <a:spcPts val="0"/>
                </a:spcBef>
                <a:spcAft>
                  <a:spcPts val="0"/>
                </a:spcAft>
                <a:buNone/>
              </a:pPr>
              <a:r>
                <a:t/>
              </a:r>
              <a:endParaRPr sz="1155">
                <a:latin typeface="Calibri"/>
                <a:ea typeface="Calibri"/>
                <a:cs typeface="Calibri"/>
                <a:sym typeface="Calibri"/>
              </a:endParaRPr>
            </a:p>
          </p:txBody>
        </p:sp>
        <p:pic>
          <p:nvPicPr>
            <p:cNvPr id="73" name="Google Shape;73;p13" title="JCU-SINGAPORE-Logo-Horizontal-CMYK-768x394-1.png"/>
            <p:cNvPicPr preferRelativeResize="0"/>
            <p:nvPr/>
          </p:nvPicPr>
          <p:blipFill>
            <a:blip r:embed="rId3">
              <a:alphaModFix/>
            </a:blip>
            <a:stretch>
              <a:fillRect/>
            </a:stretch>
          </p:blipFill>
          <p:spPr>
            <a:xfrm>
              <a:off x="6392111" y="726514"/>
              <a:ext cx="2408529" cy="123562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77" name="Shape 77"/>
        <p:cNvGrpSpPr/>
        <p:nvPr/>
      </p:nvGrpSpPr>
      <p:grpSpPr>
        <a:xfrm>
          <a:off x="0" y="0"/>
          <a:ext cx="0" cy="0"/>
          <a:chOff x="0" y="0"/>
          <a:chExt cx="0" cy="0"/>
        </a:xfrm>
      </p:grpSpPr>
      <p:sp>
        <p:nvSpPr>
          <p:cNvPr id="78" name="Google Shape;78;p14"/>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 name="Google Shape;79;p14"/>
          <p:cNvSpPr/>
          <p:nvPr/>
        </p:nvSpPr>
        <p:spPr>
          <a:xfrm>
            <a:off x="0" y="640080"/>
            <a:ext cx="9144000" cy="36600"/>
          </a:xfrm>
          <a:prstGeom prst="rect">
            <a:avLst/>
          </a:prstGeom>
          <a:solidFill>
            <a:srgbClr val="7C4D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 name="Google Shape;80;p14"/>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R1 Product Owner</a:t>
            </a:r>
            <a:endParaRPr/>
          </a:p>
        </p:txBody>
      </p:sp>
      <p:sp>
        <p:nvSpPr>
          <p:cNvPr id="81" name="Google Shape;81;p14"/>
          <p:cNvSpPr/>
          <p:nvPr/>
        </p:nvSpPr>
        <p:spPr>
          <a:xfrm>
            <a:off x="2788920" y="201168"/>
            <a:ext cx="2331600" cy="210300"/>
          </a:xfrm>
          <a:prstGeom prst="roundRect">
            <a:avLst>
              <a:gd fmla="val 16667" name="adj"/>
            </a:avLst>
          </a:prstGeom>
          <a:solidFill>
            <a:srgbClr val="7C4DFF"/>
          </a:solidFill>
          <a:ln cap="flat" cmpd="sng" w="12700">
            <a:solidFill>
              <a:srgbClr val="7C4D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b="1" lang="en-GB" sz="1200">
                <a:solidFill>
                  <a:schemeClr val="lt1"/>
                </a:solidFill>
              </a:rPr>
              <a:t>Sprint Goal Board</a:t>
            </a:r>
            <a:endParaRPr sz="1200">
              <a:solidFill>
                <a:schemeClr val="lt1"/>
              </a:solidFill>
            </a:endParaRPr>
          </a:p>
        </p:txBody>
      </p:sp>
      <p:sp>
        <p:nvSpPr>
          <p:cNvPr id="82" name="Google Shape;82;p14"/>
          <p:cNvSpPr txBox="1"/>
          <p:nvPr/>
        </p:nvSpPr>
        <p:spPr>
          <a:xfrm>
            <a:off x="8577072" y="155448"/>
            <a:ext cx="292500" cy="246300"/>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b="1" lang="en-GB" sz="1000">
                <a:solidFill>
                  <a:srgbClr val="FFFFFF"/>
                </a:solidFill>
                <a:latin typeface="Arial"/>
                <a:ea typeface="Arial"/>
                <a:cs typeface="Arial"/>
                <a:sym typeface="Arial"/>
              </a:rPr>
              <a:t>0</a:t>
            </a:r>
            <a:r>
              <a:rPr b="1" lang="en-GB" sz="1000">
                <a:solidFill>
                  <a:srgbClr val="FFFFFF"/>
                </a:solidFill>
              </a:rPr>
              <a:t>2</a:t>
            </a:r>
            <a:endParaRPr/>
          </a:p>
        </p:txBody>
      </p:sp>
      <p:sp>
        <p:nvSpPr>
          <p:cNvPr id="83" name="Google Shape;83;p14"/>
          <p:cNvSpPr txBox="1"/>
          <p:nvPr/>
        </p:nvSpPr>
        <p:spPr>
          <a:xfrm>
            <a:off x="475488" y="877824"/>
            <a:ext cx="2834700" cy="3693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800">
                <a:solidFill>
                  <a:srgbClr val="08172E"/>
                </a:solidFill>
                <a:latin typeface="Arial"/>
                <a:ea typeface="Arial"/>
                <a:cs typeface="Arial"/>
                <a:sym typeface="Arial"/>
              </a:rPr>
              <a:t>Sprint goal statement</a:t>
            </a:r>
            <a:endParaRPr/>
          </a:p>
        </p:txBody>
      </p:sp>
      <p:sp>
        <p:nvSpPr>
          <p:cNvPr id="84" name="Google Shape;84;p14"/>
          <p:cNvSpPr/>
          <p:nvPr/>
        </p:nvSpPr>
        <p:spPr>
          <a:xfrm>
            <a:off x="493776" y="1627632"/>
            <a:ext cx="1664100" cy="9144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 name="Google Shape;85;p14"/>
          <p:cNvSpPr txBox="1"/>
          <p:nvPr/>
        </p:nvSpPr>
        <p:spPr>
          <a:xfrm>
            <a:off x="630936" y="1737360"/>
            <a:ext cx="13899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latin typeface="Arial"/>
                <a:ea typeface="Arial"/>
                <a:cs typeface="Arial"/>
                <a:sym typeface="Arial"/>
              </a:rPr>
              <a:t>LAST WEEK SCORE</a:t>
            </a:r>
            <a:endParaRPr/>
          </a:p>
        </p:txBody>
      </p:sp>
      <p:sp>
        <p:nvSpPr>
          <p:cNvPr id="86" name="Google Shape;86;p14"/>
          <p:cNvSpPr txBox="1"/>
          <p:nvPr/>
        </p:nvSpPr>
        <p:spPr>
          <a:xfrm>
            <a:off x="630936" y="1947672"/>
            <a:ext cx="5202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2000">
                <a:solidFill>
                  <a:srgbClr val="7C4DFF"/>
                </a:solidFill>
                <a:latin typeface="Arial"/>
                <a:ea typeface="Arial"/>
                <a:cs typeface="Arial"/>
                <a:sym typeface="Arial"/>
              </a:rPr>
              <a:t>###</a:t>
            </a:r>
            <a:endParaRPr b="1" sz="2000">
              <a:solidFill>
                <a:srgbClr val="7C4DFF"/>
              </a:solidFill>
              <a:latin typeface="Arial"/>
              <a:ea typeface="Arial"/>
              <a:cs typeface="Arial"/>
              <a:sym typeface="Arial"/>
            </a:endParaRPr>
          </a:p>
        </p:txBody>
      </p:sp>
      <p:sp>
        <p:nvSpPr>
          <p:cNvPr id="87" name="Google Shape;87;p14"/>
          <p:cNvSpPr/>
          <p:nvPr/>
        </p:nvSpPr>
        <p:spPr>
          <a:xfrm>
            <a:off x="2331720" y="1627632"/>
            <a:ext cx="1874400" cy="9144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8" name="Google Shape;88;p14"/>
          <p:cNvSpPr txBox="1"/>
          <p:nvPr/>
        </p:nvSpPr>
        <p:spPr>
          <a:xfrm>
            <a:off x="2468879" y="1737360"/>
            <a:ext cx="16002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latin typeface="Arial"/>
                <a:ea typeface="Arial"/>
                <a:cs typeface="Arial"/>
                <a:sym typeface="Arial"/>
              </a:rPr>
              <a:t>PRIMARY QUESTION</a:t>
            </a:r>
            <a:endParaRPr/>
          </a:p>
        </p:txBody>
      </p:sp>
      <p:sp>
        <p:nvSpPr>
          <p:cNvPr id="89" name="Google Shape;89;p14"/>
          <p:cNvSpPr txBox="1"/>
          <p:nvPr/>
        </p:nvSpPr>
        <p:spPr>
          <a:xfrm>
            <a:off x="2473400" y="1902250"/>
            <a:ext cx="1600200" cy="615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700">
                <a:solidFill>
                  <a:srgbClr val="2878E2"/>
                </a:solidFill>
              </a:rPr>
              <a:t>Evidence Automation</a:t>
            </a:r>
            <a:endParaRPr b="1" sz="1700">
              <a:solidFill>
                <a:srgbClr val="2878E2"/>
              </a:solidFill>
              <a:latin typeface="Arial"/>
              <a:ea typeface="Arial"/>
              <a:cs typeface="Arial"/>
              <a:sym typeface="Arial"/>
            </a:endParaRPr>
          </a:p>
        </p:txBody>
      </p:sp>
      <p:sp>
        <p:nvSpPr>
          <p:cNvPr id="90" name="Google Shape;90;p14"/>
          <p:cNvSpPr/>
          <p:nvPr/>
        </p:nvSpPr>
        <p:spPr>
          <a:xfrm>
            <a:off x="4389120" y="1627632"/>
            <a:ext cx="1965900" cy="9144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1" name="Google Shape;91;p14"/>
          <p:cNvSpPr txBox="1"/>
          <p:nvPr/>
        </p:nvSpPr>
        <p:spPr>
          <a:xfrm>
            <a:off x="4526280" y="1737360"/>
            <a:ext cx="6261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latin typeface="Arial"/>
                <a:ea typeface="Arial"/>
                <a:cs typeface="Arial"/>
                <a:sym typeface="Arial"/>
              </a:rPr>
              <a:t>Release no.</a:t>
            </a:r>
            <a:endParaRPr b="1" sz="750">
              <a:solidFill>
                <a:srgbClr val="708099"/>
              </a:solidFill>
              <a:latin typeface="Arial"/>
              <a:ea typeface="Arial"/>
              <a:cs typeface="Arial"/>
              <a:sym typeface="Arial"/>
            </a:endParaRPr>
          </a:p>
        </p:txBody>
      </p:sp>
      <p:sp>
        <p:nvSpPr>
          <p:cNvPr id="92" name="Google Shape;92;p14"/>
          <p:cNvSpPr txBox="1"/>
          <p:nvPr/>
        </p:nvSpPr>
        <p:spPr>
          <a:xfrm>
            <a:off x="4526281" y="1947672"/>
            <a:ext cx="8139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2000">
                <a:solidFill>
                  <a:srgbClr val="2FB344"/>
                </a:solidFill>
                <a:latin typeface="Arial"/>
                <a:ea typeface="Arial"/>
                <a:cs typeface="Arial"/>
                <a:sym typeface="Arial"/>
              </a:rPr>
              <a:t>W</a:t>
            </a:r>
            <a:r>
              <a:rPr b="1" lang="en-GB" sz="2000">
                <a:solidFill>
                  <a:srgbClr val="2FB344"/>
                </a:solidFill>
              </a:rPr>
              <a:t>24</a:t>
            </a:r>
            <a:endParaRPr b="1" sz="2000">
              <a:solidFill>
                <a:srgbClr val="2FB344"/>
              </a:solidFill>
              <a:latin typeface="Arial"/>
              <a:ea typeface="Arial"/>
              <a:cs typeface="Arial"/>
              <a:sym typeface="Arial"/>
            </a:endParaRPr>
          </a:p>
        </p:txBody>
      </p:sp>
      <p:sp>
        <p:nvSpPr>
          <p:cNvPr id="93" name="Google Shape;93;p14"/>
          <p:cNvSpPr/>
          <p:nvPr/>
        </p:nvSpPr>
        <p:spPr>
          <a:xfrm>
            <a:off x="493776" y="2788920"/>
            <a:ext cx="4846200" cy="13899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4" name="Google Shape;94;p14"/>
          <p:cNvSpPr/>
          <p:nvPr/>
        </p:nvSpPr>
        <p:spPr>
          <a:xfrm>
            <a:off x="493776" y="2788920"/>
            <a:ext cx="73200" cy="1389900"/>
          </a:xfrm>
          <a:prstGeom prst="rect">
            <a:avLst/>
          </a:prstGeom>
          <a:solidFill>
            <a:srgbClr val="7C4DFF"/>
          </a:solidFill>
          <a:ln cap="flat" cmpd="sng" w="12700">
            <a:solidFill>
              <a:srgbClr val="7C4D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5" name="Google Shape;95;p14"/>
          <p:cNvSpPr txBox="1"/>
          <p:nvPr/>
        </p:nvSpPr>
        <p:spPr>
          <a:xfrm>
            <a:off x="630936" y="2880360"/>
            <a:ext cx="46176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150">
                <a:solidFill>
                  <a:srgbClr val="08172E"/>
                </a:solidFill>
                <a:latin typeface="Arial"/>
                <a:ea typeface="Arial"/>
                <a:cs typeface="Arial"/>
                <a:sym typeface="Arial"/>
              </a:rPr>
              <a:t>Sprint Goal</a:t>
            </a:r>
            <a:endParaRPr/>
          </a:p>
        </p:txBody>
      </p:sp>
      <p:sp>
        <p:nvSpPr>
          <p:cNvPr id="96" name="Google Shape;96;p14"/>
          <p:cNvSpPr txBox="1"/>
          <p:nvPr/>
        </p:nvSpPr>
        <p:spPr>
          <a:xfrm>
            <a:off x="630936" y="3172968"/>
            <a:ext cx="4709100" cy="554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000">
                <a:solidFill>
                  <a:srgbClr val="56657D"/>
                </a:solidFill>
              </a:rPr>
              <a:t>Automate one market evidence collection</a:t>
            </a:r>
            <a:r>
              <a:rPr lang="en-GB" sz="1000">
                <a:solidFill>
                  <a:srgbClr val="56657D"/>
                </a:solidFill>
              </a:rPr>
              <a:t> step using Python/yfinance to fetch Yahoo Finance data for </a:t>
            </a:r>
            <a:r>
              <a:rPr b="1" lang="en-GB" sz="1000">
                <a:solidFill>
                  <a:srgbClr val="56657D"/>
                </a:solidFill>
              </a:rPr>
              <a:t>SPX</a:t>
            </a:r>
            <a:r>
              <a:rPr lang="en-GB" sz="1000">
                <a:solidFill>
                  <a:srgbClr val="56657D"/>
                </a:solidFill>
              </a:rPr>
              <a:t>, </a:t>
            </a:r>
            <a:r>
              <a:rPr b="1" lang="en-GB" sz="1000">
                <a:solidFill>
                  <a:srgbClr val="56657D"/>
                </a:solidFill>
              </a:rPr>
              <a:t>NDX</a:t>
            </a:r>
            <a:r>
              <a:rPr lang="en-GB" sz="1000">
                <a:solidFill>
                  <a:srgbClr val="56657D"/>
                </a:solidFill>
              </a:rPr>
              <a:t>, </a:t>
            </a:r>
            <a:r>
              <a:rPr b="1" lang="en-GB" sz="1000">
                <a:solidFill>
                  <a:srgbClr val="56657D"/>
                </a:solidFill>
              </a:rPr>
              <a:t>IWM</a:t>
            </a:r>
            <a:r>
              <a:rPr lang="en-GB" sz="1000">
                <a:solidFill>
                  <a:srgbClr val="56657D"/>
                </a:solidFill>
              </a:rPr>
              <a:t>, </a:t>
            </a:r>
            <a:r>
              <a:rPr b="1" lang="en-GB" sz="1000">
                <a:solidFill>
                  <a:srgbClr val="56657D"/>
                </a:solidFill>
              </a:rPr>
              <a:t>XLK</a:t>
            </a:r>
            <a:r>
              <a:rPr lang="en-GB" sz="1000">
                <a:solidFill>
                  <a:srgbClr val="56657D"/>
                </a:solidFill>
              </a:rPr>
              <a:t>, </a:t>
            </a:r>
            <a:r>
              <a:rPr b="1" lang="en-GB" sz="1000">
                <a:solidFill>
                  <a:srgbClr val="56657D"/>
                </a:solidFill>
              </a:rPr>
              <a:t>XLE</a:t>
            </a:r>
            <a:r>
              <a:rPr lang="en-GB" sz="1000">
                <a:solidFill>
                  <a:srgbClr val="56657D"/>
                </a:solidFill>
              </a:rPr>
              <a:t>, and </a:t>
            </a:r>
            <a:r>
              <a:rPr b="1" lang="en-GB" sz="1000">
                <a:solidFill>
                  <a:srgbClr val="56657D"/>
                </a:solidFill>
              </a:rPr>
              <a:t>XLF</a:t>
            </a:r>
            <a:r>
              <a:rPr lang="en-GB" sz="1000">
                <a:solidFill>
                  <a:srgbClr val="56657D"/>
                </a:solidFill>
              </a:rPr>
              <a:t>, then generate JSON outputs </a:t>
            </a:r>
            <a:r>
              <a:rPr b="1" lang="en-GB" sz="1000">
                <a:solidFill>
                  <a:srgbClr val="56657D"/>
                </a:solidFill>
              </a:rPr>
              <a:t>for W4 prediction support</a:t>
            </a:r>
            <a:r>
              <a:rPr lang="en-GB" sz="1000">
                <a:solidFill>
                  <a:srgbClr val="56657D"/>
                </a:solidFill>
              </a:rPr>
              <a:t>.</a:t>
            </a:r>
            <a:endParaRPr b="0" sz="1000">
              <a:solidFill>
                <a:srgbClr val="56657D"/>
              </a:solidFill>
              <a:latin typeface="Arial"/>
              <a:ea typeface="Arial"/>
              <a:cs typeface="Arial"/>
              <a:sym typeface="Arial"/>
            </a:endParaRPr>
          </a:p>
        </p:txBody>
      </p:sp>
      <p:sp>
        <p:nvSpPr>
          <p:cNvPr id="97" name="Google Shape;97;p14"/>
          <p:cNvSpPr/>
          <p:nvPr/>
        </p:nvSpPr>
        <p:spPr>
          <a:xfrm>
            <a:off x="5577840" y="1078992"/>
            <a:ext cx="3063300" cy="30906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8" name="Google Shape;98;p14"/>
          <p:cNvSpPr/>
          <p:nvPr/>
        </p:nvSpPr>
        <p:spPr>
          <a:xfrm>
            <a:off x="5554980" y="1111911"/>
            <a:ext cx="73200" cy="3090600"/>
          </a:xfrm>
          <a:prstGeom prst="rect">
            <a:avLst/>
          </a:prstGeom>
          <a:solidFill>
            <a:srgbClr val="7C4DFF"/>
          </a:solidFill>
          <a:ln cap="flat" cmpd="sng" w="12700">
            <a:solidFill>
              <a:srgbClr val="7C4D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9" name="Google Shape;99;p14"/>
          <p:cNvSpPr txBox="1"/>
          <p:nvPr/>
        </p:nvSpPr>
        <p:spPr>
          <a:xfrm>
            <a:off x="5843014" y="1170432"/>
            <a:ext cx="25467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150">
                <a:solidFill>
                  <a:srgbClr val="08172E"/>
                </a:solidFill>
                <a:latin typeface="Arial"/>
                <a:ea typeface="Arial"/>
                <a:cs typeface="Arial"/>
                <a:sym typeface="Arial"/>
              </a:rPr>
              <a:t>Done Means</a:t>
            </a:r>
            <a:endParaRPr b="1" sz="1150">
              <a:solidFill>
                <a:srgbClr val="08172E"/>
              </a:solidFill>
              <a:latin typeface="Arial"/>
              <a:ea typeface="Arial"/>
              <a:cs typeface="Arial"/>
              <a:sym typeface="Arial"/>
            </a:endParaRPr>
          </a:p>
        </p:txBody>
      </p:sp>
      <p:sp>
        <p:nvSpPr>
          <p:cNvPr id="100" name="Google Shape;100;p14"/>
          <p:cNvSpPr txBox="1"/>
          <p:nvPr/>
        </p:nvSpPr>
        <p:spPr>
          <a:xfrm>
            <a:off x="5843025" y="1463052"/>
            <a:ext cx="2546700" cy="21240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SzPts val="1100"/>
              <a:buNone/>
            </a:pPr>
            <a:r>
              <a:rPr lang="en-GB" sz="1000">
                <a:solidFill>
                  <a:srgbClr val="56657D"/>
                </a:solidFill>
              </a:rPr>
              <a:t>- Python/yfinance script runs successfully</a:t>
            </a:r>
            <a:endParaRPr sz="1000">
              <a:solidFill>
                <a:srgbClr val="56657D"/>
              </a:solidFill>
            </a:endParaRPr>
          </a:p>
          <a:p>
            <a:pPr indent="0" lvl="0" marL="0" rtl="0" algn="l">
              <a:spcBef>
                <a:spcPts val="0"/>
              </a:spcBef>
              <a:spcAft>
                <a:spcPts val="0"/>
              </a:spcAft>
              <a:buClr>
                <a:schemeClr val="dk1"/>
              </a:buClr>
              <a:buSzPts val="1100"/>
              <a:buFont typeface="Arial"/>
              <a:buNone/>
            </a:pPr>
            <a:r>
              <a:t/>
            </a:r>
            <a:endParaRPr sz="700">
              <a:solidFill>
                <a:srgbClr val="56657D"/>
              </a:solidFill>
            </a:endParaRPr>
          </a:p>
          <a:p>
            <a:pPr indent="0" lvl="0" marL="0" rtl="0" algn="l">
              <a:spcBef>
                <a:spcPts val="0"/>
              </a:spcBef>
              <a:spcAft>
                <a:spcPts val="0"/>
              </a:spcAft>
              <a:buSzPts val="1100"/>
              <a:buNone/>
            </a:pPr>
            <a:r>
              <a:rPr lang="en-GB" sz="1000">
                <a:solidFill>
                  <a:srgbClr val="56657D"/>
                </a:solidFill>
              </a:rPr>
              <a:t>- Latest snapshot files are generated</a:t>
            </a:r>
            <a:endParaRPr sz="1000">
              <a:solidFill>
                <a:srgbClr val="56657D"/>
              </a:solidFill>
            </a:endParaRPr>
          </a:p>
          <a:p>
            <a:pPr indent="0" lvl="0" marL="0" rtl="0" algn="l">
              <a:spcBef>
                <a:spcPts val="0"/>
              </a:spcBef>
              <a:spcAft>
                <a:spcPts val="0"/>
              </a:spcAft>
              <a:buClr>
                <a:schemeClr val="dk1"/>
              </a:buClr>
              <a:buSzPts val="1100"/>
              <a:buFont typeface="Arial"/>
              <a:buNone/>
            </a:pPr>
            <a:r>
              <a:t/>
            </a:r>
            <a:endParaRPr sz="700">
              <a:solidFill>
                <a:srgbClr val="56657D"/>
              </a:solidFill>
            </a:endParaRPr>
          </a:p>
          <a:p>
            <a:pPr indent="0" lvl="0" marL="0" rtl="0" algn="l">
              <a:spcBef>
                <a:spcPts val="0"/>
              </a:spcBef>
              <a:spcAft>
                <a:spcPts val="0"/>
              </a:spcAft>
              <a:buSzPts val="1100"/>
              <a:buNone/>
            </a:pPr>
            <a:r>
              <a:rPr lang="en-GB" sz="1000">
                <a:solidFill>
                  <a:srgbClr val="56657D"/>
                </a:solidFill>
              </a:rPr>
              <a:t>- GitHub Actions test workflow passes</a:t>
            </a:r>
            <a:endParaRPr sz="1000">
              <a:solidFill>
                <a:srgbClr val="56657D"/>
              </a:solidFill>
            </a:endParaRPr>
          </a:p>
          <a:p>
            <a:pPr indent="0" lvl="0" marL="0" rtl="0" algn="l">
              <a:spcBef>
                <a:spcPts val="0"/>
              </a:spcBef>
              <a:spcAft>
                <a:spcPts val="0"/>
              </a:spcAft>
              <a:buClr>
                <a:schemeClr val="dk1"/>
              </a:buClr>
              <a:buSzPts val="1100"/>
              <a:buFont typeface="Arial"/>
              <a:buNone/>
            </a:pPr>
            <a:r>
              <a:t/>
            </a:r>
            <a:endParaRPr sz="700">
              <a:solidFill>
                <a:srgbClr val="56657D"/>
              </a:solidFill>
            </a:endParaRPr>
          </a:p>
          <a:p>
            <a:pPr indent="0" lvl="0" marL="0" rtl="0" algn="l">
              <a:spcBef>
                <a:spcPts val="0"/>
              </a:spcBef>
              <a:spcAft>
                <a:spcPts val="0"/>
              </a:spcAft>
              <a:buSzPts val="1100"/>
              <a:buNone/>
            </a:pPr>
            <a:r>
              <a:rPr lang="en-GB" sz="1000">
                <a:solidFill>
                  <a:srgbClr val="56657D"/>
                </a:solidFill>
              </a:rPr>
              <a:t>- Real Friday-close workflow exists</a:t>
            </a:r>
            <a:endParaRPr sz="1000">
              <a:solidFill>
                <a:srgbClr val="56657D"/>
              </a:solidFill>
            </a:endParaRPr>
          </a:p>
          <a:p>
            <a:pPr indent="0" lvl="0" marL="0" rtl="0" algn="l">
              <a:spcBef>
                <a:spcPts val="0"/>
              </a:spcBef>
              <a:spcAft>
                <a:spcPts val="0"/>
              </a:spcAft>
              <a:buClr>
                <a:schemeClr val="dk1"/>
              </a:buClr>
              <a:buSzPts val="1100"/>
              <a:buFont typeface="Arial"/>
              <a:buNone/>
            </a:pPr>
            <a:r>
              <a:t/>
            </a:r>
            <a:endParaRPr sz="700">
              <a:solidFill>
                <a:srgbClr val="56657D"/>
              </a:solidFill>
            </a:endParaRPr>
          </a:p>
          <a:p>
            <a:pPr indent="0" lvl="0" marL="0" rtl="0" algn="l">
              <a:spcBef>
                <a:spcPts val="0"/>
              </a:spcBef>
              <a:spcAft>
                <a:spcPts val="0"/>
              </a:spcAft>
              <a:buSzPts val="1100"/>
              <a:buNone/>
            </a:pPr>
            <a:r>
              <a:rPr lang="en-GB" sz="1000">
                <a:solidFill>
                  <a:srgbClr val="56657D"/>
                </a:solidFill>
              </a:rPr>
              <a:t>- README and DECISION.md are updated</a:t>
            </a:r>
            <a:endParaRPr sz="1000">
              <a:solidFill>
                <a:srgbClr val="56657D"/>
              </a:solidFill>
            </a:endParaRPr>
          </a:p>
          <a:p>
            <a:pPr indent="0" lvl="0" marL="0" rtl="0" algn="l">
              <a:spcBef>
                <a:spcPts val="0"/>
              </a:spcBef>
              <a:spcAft>
                <a:spcPts val="0"/>
              </a:spcAft>
              <a:buClr>
                <a:schemeClr val="dk1"/>
              </a:buClr>
              <a:buSzPts val="1100"/>
              <a:buFont typeface="Arial"/>
              <a:buNone/>
            </a:pPr>
            <a:r>
              <a:t/>
            </a:r>
            <a:endParaRPr sz="700">
              <a:solidFill>
                <a:srgbClr val="56657D"/>
              </a:solidFill>
            </a:endParaRPr>
          </a:p>
          <a:p>
            <a:pPr indent="0" lvl="0" marL="0" rtl="0" algn="l">
              <a:spcBef>
                <a:spcPts val="0"/>
              </a:spcBef>
              <a:spcAft>
                <a:spcPts val="0"/>
              </a:spcAft>
              <a:buSzPts val="1100"/>
              <a:buNone/>
            </a:pPr>
            <a:r>
              <a:rPr lang="en-GB" sz="1000">
                <a:solidFill>
                  <a:srgbClr val="56657D"/>
                </a:solidFill>
              </a:rPr>
              <a:t>- W4 prediction uses the automated evidence</a:t>
            </a:r>
            <a:endParaRPr sz="1000">
              <a:solidFill>
                <a:srgbClr val="56657D"/>
              </a:solidFill>
            </a:endParaRPr>
          </a:p>
          <a:p>
            <a:pPr indent="0" lvl="0" marL="0" rtl="0" algn="l">
              <a:spcBef>
                <a:spcPts val="0"/>
              </a:spcBef>
              <a:spcAft>
                <a:spcPts val="0"/>
              </a:spcAft>
              <a:buClr>
                <a:schemeClr val="dk1"/>
              </a:buClr>
              <a:buSzPts val="1100"/>
              <a:buFont typeface="Arial"/>
              <a:buNone/>
            </a:pPr>
            <a:r>
              <a:t/>
            </a:r>
            <a:endParaRPr sz="700">
              <a:solidFill>
                <a:srgbClr val="56657D"/>
              </a:solidFill>
            </a:endParaRPr>
          </a:p>
          <a:p>
            <a:pPr indent="0" lvl="0" marL="0" rtl="0" algn="l">
              <a:spcBef>
                <a:spcPts val="0"/>
              </a:spcBef>
              <a:spcAft>
                <a:spcPts val="0"/>
              </a:spcAft>
              <a:buClr>
                <a:schemeClr val="dk1"/>
              </a:buClr>
              <a:buSzPts val="1100"/>
              <a:buFont typeface="Arial"/>
              <a:buNone/>
            </a:pPr>
            <a:r>
              <a:rPr lang="en-GB" sz="1000">
                <a:solidFill>
                  <a:srgbClr val="56657D"/>
                </a:solidFill>
              </a:rPr>
              <a:t>- Repo is tagged vW24</a:t>
            </a:r>
            <a:endParaRPr sz="1000">
              <a:solidFill>
                <a:srgbClr val="56657D"/>
              </a:solidFill>
            </a:endParaRPr>
          </a:p>
          <a:p>
            <a:pPr indent="0" lvl="0" marL="0" marR="0" rtl="0" algn="l">
              <a:spcBef>
                <a:spcPts val="0"/>
              </a:spcBef>
              <a:spcAft>
                <a:spcPts val="0"/>
              </a:spcAft>
              <a:buNone/>
            </a:pPr>
            <a:r>
              <a:t/>
            </a:r>
            <a:endParaRPr b="0" sz="1000">
              <a:solidFill>
                <a:srgbClr val="56657D"/>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104" name="Shape 104"/>
        <p:cNvGrpSpPr/>
        <p:nvPr/>
      </p:nvGrpSpPr>
      <p:grpSpPr>
        <a:xfrm>
          <a:off x="0" y="0"/>
          <a:ext cx="0" cy="0"/>
          <a:chOff x="0" y="0"/>
          <a:chExt cx="0" cy="0"/>
        </a:xfrm>
      </p:grpSpPr>
      <p:sp>
        <p:nvSpPr>
          <p:cNvPr id="105" name="Google Shape;105;p15"/>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6" name="Google Shape;106;p15"/>
          <p:cNvSpPr/>
          <p:nvPr/>
        </p:nvSpPr>
        <p:spPr>
          <a:xfrm>
            <a:off x="0" y="640080"/>
            <a:ext cx="9144000" cy="36600"/>
          </a:xfrm>
          <a:prstGeom prst="rect">
            <a:avLst/>
          </a:prstGeom>
          <a:solidFill>
            <a:srgbClr val="7C4DF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7" name="Google Shape;107;p15"/>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lnSpc>
                <a:spcPct val="100000"/>
              </a:lnSpc>
              <a:spcBef>
                <a:spcPts val="0"/>
              </a:spcBef>
              <a:spcAft>
                <a:spcPts val="0"/>
              </a:spcAft>
              <a:buClr>
                <a:srgbClr val="000000"/>
              </a:buClr>
              <a:buSzPts val="1500"/>
              <a:buFont typeface="Arial"/>
              <a:buNone/>
            </a:pPr>
            <a:r>
              <a:rPr b="1" i="0" lang="en-GB" sz="1500" u="none" cap="none" strike="noStrike">
                <a:solidFill>
                  <a:srgbClr val="FFFFFF"/>
                </a:solidFill>
                <a:latin typeface="Arial"/>
                <a:ea typeface="Arial"/>
                <a:cs typeface="Arial"/>
                <a:sym typeface="Arial"/>
              </a:rPr>
              <a:t>R1 Product Owner</a:t>
            </a:r>
            <a:endParaRPr b="0" i="0" sz="1400" u="none" cap="none" strike="noStrike">
              <a:solidFill>
                <a:srgbClr val="000000"/>
              </a:solidFill>
              <a:latin typeface="Arial"/>
              <a:ea typeface="Arial"/>
              <a:cs typeface="Arial"/>
              <a:sym typeface="Arial"/>
            </a:endParaRPr>
          </a:p>
        </p:txBody>
      </p:sp>
      <p:sp>
        <p:nvSpPr>
          <p:cNvPr id="108" name="Google Shape;108;p15"/>
          <p:cNvSpPr/>
          <p:nvPr/>
        </p:nvSpPr>
        <p:spPr>
          <a:xfrm>
            <a:off x="2788920" y="201168"/>
            <a:ext cx="2331600" cy="210300"/>
          </a:xfrm>
          <a:prstGeom prst="roundRect">
            <a:avLst>
              <a:gd fmla="val 16667" name="adj"/>
            </a:avLst>
          </a:prstGeom>
          <a:solidFill>
            <a:srgbClr val="7C4DFF"/>
          </a:solidFill>
          <a:ln cap="flat" cmpd="sng" w="12700">
            <a:solidFill>
              <a:srgbClr val="7C4D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800"/>
              <a:buFont typeface="Arial"/>
              <a:buNone/>
            </a:pPr>
            <a:r>
              <a:rPr b="1" lang="en-GB" sz="1200">
                <a:solidFill>
                  <a:schemeClr val="lt1"/>
                </a:solidFill>
              </a:rPr>
              <a:t>Forecast Contract</a:t>
            </a:r>
            <a:endParaRPr i="0" sz="1200" u="none" cap="none" strike="noStrike">
              <a:solidFill>
                <a:schemeClr val="lt1"/>
              </a:solidFill>
            </a:endParaRPr>
          </a:p>
        </p:txBody>
      </p:sp>
      <p:sp>
        <p:nvSpPr>
          <p:cNvPr id="109" name="Google Shape;109;p15"/>
          <p:cNvSpPr txBox="1"/>
          <p:nvPr/>
        </p:nvSpPr>
        <p:spPr>
          <a:xfrm>
            <a:off x="8577072" y="155448"/>
            <a:ext cx="292500" cy="246300"/>
          </a:xfrm>
          <a:prstGeom prst="rect">
            <a:avLst/>
          </a:prstGeom>
          <a:noFill/>
          <a:ln>
            <a:noFill/>
          </a:ln>
        </p:spPr>
        <p:txBody>
          <a:bodyPr anchorCtr="0" anchor="t" bIns="45700" lIns="45700" spcFirstLastPara="1" rIns="45700"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b="1" i="0" lang="en-GB" sz="1000" u="none" cap="none" strike="noStrike">
                <a:solidFill>
                  <a:srgbClr val="FFFFFF"/>
                </a:solidFill>
                <a:latin typeface="Arial"/>
                <a:ea typeface="Arial"/>
                <a:cs typeface="Arial"/>
                <a:sym typeface="Arial"/>
              </a:rPr>
              <a:t>0</a:t>
            </a:r>
            <a:r>
              <a:rPr b="1" lang="en-GB" sz="1000">
                <a:solidFill>
                  <a:srgbClr val="FFFFFF"/>
                </a:solidFill>
              </a:rPr>
              <a:t>3</a:t>
            </a:r>
            <a:endParaRPr b="0" i="0" sz="1400" u="none" cap="none" strike="noStrike">
              <a:solidFill>
                <a:srgbClr val="000000"/>
              </a:solidFill>
              <a:latin typeface="Arial"/>
              <a:ea typeface="Arial"/>
              <a:cs typeface="Arial"/>
              <a:sym typeface="Arial"/>
            </a:endParaRPr>
          </a:p>
        </p:txBody>
      </p:sp>
      <p:sp>
        <p:nvSpPr>
          <p:cNvPr id="110" name="Google Shape;110;p15"/>
          <p:cNvSpPr txBox="1"/>
          <p:nvPr/>
        </p:nvSpPr>
        <p:spPr>
          <a:xfrm>
            <a:off x="475488" y="877824"/>
            <a:ext cx="3108900" cy="369300"/>
          </a:xfrm>
          <a:prstGeom prst="rect">
            <a:avLst/>
          </a:prstGeom>
          <a:noFill/>
          <a:ln>
            <a:noFill/>
          </a:ln>
        </p:spPr>
        <p:txBody>
          <a:bodyPr anchorCtr="0" anchor="t" bIns="45700" lIns="45700" spcFirstLastPara="1" rIns="45700"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8172E"/>
                </a:solidFill>
                <a:latin typeface="Arial"/>
                <a:ea typeface="Arial"/>
                <a:cs typeface="Arial"/>
                <a:sym typeface="Arial"/>
              </a:rPr>
              <a:t>Forecast contract</a:t>
            </a:r>
            <a:endParaRPr b="0" i="0" sz="1400" u="none" cap="none" strike="noStrike">
              <a:solidFill>
                <a:srgbClr val="000000"/>
              </a:solidFill>
              <a:latin typeface="Arial"/>
              <a:ea typeface="Arial"/>
              <a:cs typeface="Arial"/>
              <a:sym typeface="Arial"/>
            </a:endParaRPr>
          </a:p>
        </p:txBody>
      </p:sp>
      <p:sp>
        <p:nvSpPr>
          <p:cNvPr id="111" name="Google Shape;111;p15"/>
          <p:cNvSpPr txBox="1"/>
          <p:nvPr/>
        </p:nvSpPr>
        <p:spPr>
          <a:xfrm>
            <a:off x="566928" y="1224310"/>
            <a:ext cx="2743200" cy="200100"/>
          </a:xfrm>
          <a:prstGeom prst="rect">
            <a:avLst/>
          </a:prstGeom>
          <a:noFill/>
          <a:ln>
            <a:noFill/>
          </a:ln>
        </p:spPr>
        <p:txBody>
          <a:bodyPr anchorCtr="0" anchor="t" bIns="18275" lIns="54850" spcFirstLastPara="1" rIns="36575" wrap="square" tIns="27425">
            <a:spAutoFit/>
          </a:bodyPr>
          <a:lstStyle/>
          <a:p>
            <a:pPr indent="0" lvl="0" marL="0" marR="0" rtl="0" algn="l">
              <a:lnSpc>
                <a:spcPct val="100000"/>
              </a:lnSpc>
              <a:spcBef>
                <a:spcPts val="0"/>
              </a:spcBef>
              <a:spcAft>
                <a:spcPts val="0"/>
              </a:spcAft>
              <a:buNone/>
            </a:pPr>
            <a:r>
              <a:rPr b="1" i="0" lang="en-GB" sz="1000" u="none" cap="none" strike="noStrike">
                <a:solidFill>
                  <a:srgbClr val="7C4DFF"/>
                </a:solidFill>
                <a:latin typeface="Arial"/>
                <a:ea typeface="Arial"/>
                <a:cs typeface="Arial"/>
                <a:sym typeface="Arial"/>
              </a:rPr>
              <a:t>Broad index commitments</a:t>
            </a:r>
            <a:endParaRPr/>
          </a:p>
        </p:txBody>
      </p:sp>
      <p:sp>
        <p:nvSpPr>
          <p:cNvPr id="112" name="Google Shape;112;p15"/>
          <p:cNvSpPr txBox="1"/>
          <p:nvPr/>
        </p:nvSpPr>
        <p:spPr>
          <a:xfrm>
            <a:off x="566925" y="2329825"/>
            <a:ext cx="2743200" cy="200100"/>
          </a:xfrm>
          <a:prstGeom prst="rect">
            <a:avLst/>
          </a:prstGeom>
          <a:noFill/>
          <a:ln>
            <a:noFill/>
          </a:ln>
        </p:spPr>
        <p:txBody>
          <a:bodyPr anchorCtr="0" anchor="t" bIns="18275" lIns="54850" spcFirstLastPara="1" rIns="36575" wrap="square" tIns="27425">
            <a:spAutoFit/>
          </a:bodyPr>
          <a:lstStyle/>
          <a:p>
            <a:pPr indent="0" lvl="0" marL="0" marR="0" rtl="0" algn="l">
              <a:lnSpc>
                <a:spcPct val="100000"/>
              </a:lnSpc>
              <a:spcBef>
                <a:spcPts val="0"/>
              </a:spcBef>
              <a:spcAft>
                <a:spcPts val="0"/>
              </a:spcAft>
              <a:buNone/>
            </a:pPr>
            <a:r>
              <a:rPr b="1" i="0" lang="en-GB" sz="1000" u="none" cap="none" strike="noStrike">
                <a:solidFill>
                  <a:srgbClr val="7C4DFF"/>
                </a:solidFill>
                <a:latin typeface="Arial"/>
                <a:ea typeface="Arial"/>
                <a:cs typeface="Arial"/>
                <a:sym typeface="Arial"/>
              </a:rPr>
              <a:t>Selected sector commitments</a:t>
            </a:r>
            <a:endParaRPr>
              <a:solidFill>
                <a:srgbClr val="7C4DFF"/>
              </a:solidFill>
            </a:endParaRPr>
          </a:p>
        </p:txBody>
      </p:sp>
      <p:sp>
        <p:nvSpPr>
          <p:cNvPr id="113" name="Google Shape;113;p15"/>
          <p:cNvSpPr/>
          <p:nvPr/>
        </p:nvSpPr>
        <p:spPr>
          <a:xfrm>
            <a:off x="566928" y="1444752"/>
            <a:ext cx="2359200" cy="804600"/>
          </a:xfrm>
          <a:prstGeom prst="roundRect">
            <a:avLst>
              <a:gd fmla="val 16667" name="adj"/>
            </a:avLst>
          </a:prstGeom>
          <a:solidFill>
            <a:srgbClr val="FFFFFF"/>
          </a:solidFill>
          <a:ln cap="flat" cmpd="sng" w="12700">
            <a:solidFill>
              <a:srgbClr val="DCE5E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4" name="Google Shape;114;p15"/>
          <p:cNvSpPr/>
          <p:nvPr/>
        </p:nvSpPr>
        <p:spPr>
          <a:xfrm>
            <a:off x="566925" y="1444750"/>
            <a:ext cx="54900" cy="804900"/>
          </a:xfrm>
          <a:prstGeom prst="rect">
            <a:avLst/>
          </a:prstGeom>
          <a:solidFill>
            <a:srgbClr val="F2B84B"/>
          </a:solidFill>
          <a:ln cap="flat" cmpd="sng" w="9525">
            <a:solidFill>
              <a:srgbClr val="F2B84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5" name="Google Shape;115;p15"/>
          <p:cNvSpPr txBox="1"/>
          <p:nvPr/>
        </p:nvSpPr>
        <p:spPr>
          <a:xfrm>
            <a:off x="731508" y="1494804"/>
            <a:ext cx="2103000" cy="246300"/>
          </a:xfrm>
          <a:prstGeom prst="rect">
            <a:avLst/>
          </a:prstGeom>
          <a:noFill/>
          <a:ln>
            <a:noFill/>
          </a:ln>
        </p:spPr>
        <p:txBody>
          <a:bodyPr anchorCtr="0" anchor="t" bIns="18275" lIns="54850" spcFirstLastPara="1" rIns="36575" wrap="square" tIns="27425">
            <a:spAutoFit/>
          </a:bodyPr>
          <a:lstStyle/>
          <a:p>
            <a:pPr indent="0" lvl="0" marL="0" marR="0" rtl="0" algn="l">
              <a:lnSpc>
                <a:spcPct val="100000"/>
              </a:lnSpc>
              <a:spcBef>
                <a:spcPts val="0"/>
              </a:spcBef>
              <a:spcAft>
                <a:spcPts val="0"/>
              </a:spcAft>
              <a:buNone/>
            </a:pPr>
            <a:r>
              <a:rPr b="1" i="0" lang="en-GB" sz="1300" u="none" cap="none" strike="noStrike">
                <a:solidFill>
                  <a:srgbClr val="08172E"/>
                </a:solidFill>
                <a:latin typeface="Arial"/>
                <a:ea typeface="Arial"/>
                <a:cs typeface="Arial"/>
                <a:sym typeface="Arial"/>
              </a:rPr>
              <a:t>SPX  |  </a:t>
            </a:r>
            <a:r>
              <a:rPr b="1" lang="en-GB" sz="1300">
                <a:solidFill>
                  <a:srgbClr val="08172E"/>
                </a:solidFill>
              </a:rPr>
              <a:t>^GSPC</a:t>
            </a:r>
            <a:r>
              <a:rPr b="1" i="0" lang="en-GB" sz="1300" u="none" cap="none" strike="noStrike">
                <a:solidFill>
                  <a:srgbClr val="08172E"/>
                </a:solidFill>
                <a:latin typeface="Arial"/>
                <a:ea typeface="Arial"/>
                <a:cs typeface="Arial"/>
                <a:sym typeface="Arial"/>
              </a:rPr>
              <a:t> proxy</a:t>
            </a:r>
            <a:endParaRPr/>
          </a:p>
        </p:txBody>
      </p:sp>
      <p:sp>
        <p:nvSpPr>
          <p:cNvPr id="116" name="Google Shape;116;p15"/>
          <p:cNvSpPr txBox="1"/>
          <p:nvPr/>
        </p:nvSpPr>
        <p:spPr>
          <a:xfrm>
            <a:off x="731508" y="1741386"/>
            <a:ext cx="2103000" cy="470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GB" sz="1019" u="none" cap="none" strike="noStrike">
                <a:solidFill>
                  <a:srgbClr val="27395D"/>
                </a:solidFill>
                <a:latin typeface="Arial"/>
                <a:ea typeface="Arial"/>
                <a:cs typeface="Arial"/>
                <a:sym typeface="Arial"/>
              </a:rPr>
              <a:t>Direction: </a:t>
            </a:r>
            <a:r>
              <a:rPr lang="en-GB" sz="1019">
                <a:solidFill>
                  <a:srgbClr val="27395D"/>
                </a:solidFill>
              </a:rPr>
              <a:t>Neutral → Cautiously Up</a:t>
            </a:r>
            <a:endParaRPr/>
          </a:p>
          <a:p>
            <a:pPr indent="0" lvl="0" marL="0" marR="0" rtl="0" algn="l">
              <a:lnSpc>
                <a:spcPct val="100000"/>
              </a:lnSpc>
              <a:spcBef>
                <a:spcPts val="0"/>
              </a:spcBef>
              <a:spcAft>
                <a:spcPts val="0"/>
              </a:spcAft>
              <a:buNone/>
            </a:pPr>
            <a:r>
              <a:rPr b="0" i="0" lang="en-GB" sz="1019" u="none" cap="none" strike="noStrike">
                <a:solidFill>
                  <a:srgbClr val="27395D"/>
                </a:solidFill>
                <a:latin typeface="Arial"/>
                <a:ea typeface="Arial"/>
                <a:cs typeface="Arial"/>
                <a:sym typeface="Arial"/>
              </a:rPr>
              <a:t>Range:</a:t>
            </a:r>
            <a:r>
              <a:rPr b="0" i="0" lang="en-GB" sz="1019" u="none" cap="none" strike="noStrike">
                <a:solidFill>
                  <a:srgbClr val="D64545"/>
                </a:solidFill>
                <a:latin typeface="Arial"/>
                <a:ea typeface="Arial"/>
                <a:cs typeface="Arial"/>
                <a:sym typeface="Arial"/>
              </a:rPr>
              <a:t> </a:t>
            </a:r>
            <a:r>
              <a:rPr b="1" lang="en-GB" sz="1019">
                <a:solidFill>
                  <a:srgbClr val="D64545"/>
                </a:solidFill>
              </a:rPr>
              <a:t>-0.2%</a:t>
            </a:r>
            <a:r>
              <a:rPr lang="en-GB" sz="1019">
                <a:solidFill>
                  <a:srgbClr val="27395D"/>
                </a:solidFill>
              </a:rPr>
              <a:t> to </a:t>
            </a:r>
            <a:r>
              <a:rPr b="1" lang="en-GB" sz="1019">
                <a:solidFill>
                  <a:srgbClr val="2FB344"/>
                </a:solidFill>
              </a:rPr>
              <a:t>+0.8%</a:t>
            </a:r>
            <a:endParaRPr b="1">
              <a:solidFill>
                <a:srgbClr val="2FB344"/>
              </a:solidFill>
            </a:endParaRPr>
          </a:p>
          <a:p>
            <a:pPr indent="0" lvl="0" marL="0" marR="0" rtl="0" algn="l">
              <a:lnSpc>
                <a:spcPct val="100000"/>
              </a:lnSpc>
              <a:spcBef>
                <a:spcPts val="0"/>
              </a:spcBef>
              <a:spcAft>
                <a:spcPts val="0"/>
              </a:spcAft>
              <a:buNone/>
            </a:pPr>
            <a:r>
              <a:rPr b="0" i="0" lang="en-GB" sz="1019" u="none" cap="none" strike="noStrike">
                <a:solidFill>
                  <a:srgbClr val="27395D"/>
                </a:solidFill>
                <a:latin typeface="Arial"/>
                <a:ea typeface="Arial"/>
                <a:cs typeface="Arial"/>
                <a:sym typeface="Arial"/>
              </a:rPr>
              <a:t>Confidence: </a:t>
            </a:r>
            <a:r>
              <a:rPr lang="en-GB" sz="1019">
                <a:solidFill>
                  <a:srgbClr val="27395D"/>
                </a:solidFill>
              </a:rPr>
              <a:t>Medium</a:t>
            </a:r>
            <a:endParaRPr/>
          </a:p>
        </p:txBody>
      </p:sp>
      <p:sp>
        <p:nvSpPr>
          <p:cNvPr id="117" name="Google Shape;117;p15"/>
          <p:cNvSpPr/>
          <p:nvPr/>
        </p:nvSpPr>
        <p:spPr>
          <a:xfrm>
            <a:off x="3401568" y="1444752"/>
            <a:ext cx="2359200" cy="804600"/>
          </a:xfrm>
          <a:prstGeom prst="roundRect">
            <a:avLst>
              <a:gd fmla="val 16667" name="adj"/>
            </a:avLst>
          </a:prstGeom>
          <a:solidFill>
            <a:srgbClr val="FFFFFF"/>
          </a:solidFill>
          <a:ln cap="flat" cmpd="sng" w="12700">
            <a:solidFill>
              <a:srgbClr val="DCE5E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8" name="Google Shape;118;p15"/>
          <p:cNvSpPr/>
          <p:nvPr/>
        </p:nvSpPr>
        <p:spPr>
          <a:xfrm>
            <a:off x="3401575" y="1444749"/>
            <a:ext cx="54900" cy="804900"/>
          </a:xfrm>
          <a:prstGeom prst="rect">
            <a:avLst/>
          </a:prstGeom>
          <a:solidFill>
            <a:srgbClr val="2FB344"/>
          </a:solidFill>
          <a:ln cap="flat" cmpd="sng" w="9525">
            <a:solidFill>
              <a:srgbClr val="2FB34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9" name="Google Shape;119;p15"/>
          <p:cNvSpPr txBox="1"/>
          <p:nvPr/>
        </p:nvSpPr>
        <p:spPr>
          <a:xfrm>
            <a:off x="3566148" y="1494804"/>
            <a:ext cx="2103000" cy="246300"/>
          </a:xfrm>
          <a:prstGeom prst="rect">
            <a:avLst/>
          </a:prstGeom>
          <a:noFill/>
          <a:ln>
            <a:noFill/>
          </a:ln>
        </p:spPr>
        <p:txBody>
          <a:bodyPr anchorCtr="0" anchor="t" bIns="18275" lIns="54850" spcFirstLastPara="1" rIns="36575" wrap="square" tIns="27425">
            <a:spAutoFit/>
          </a:bodyPr>
          <a:lstStyle/>
          <a:p>
            <a:pPr indent="0" lvl="0" marL="0" marR="0" rtl="0" algn="l">
              <a:lnSpc>
                <a:spcPct val="100000"/>
              </a:lnSpc>
              <a:spcBef>
                <a:spcPts val="0"/>
              </a:spcBef>
              <a:spcAft>
                <a:spcPts val="0"/>
              </a:spcAft>
              <a:buNone/>
            </a:pPr>
            <a:r>
              <a:rPr b="1" i="0" lang="en-GB" sz="1300" u="none" cap="none" strike="noStrike">
                <a:solidFill>
                  <a:srgbClr val="08172E"/>
                </a:solidFill>
                <a:latin typeface="Arial"/>
                <a:ea typeface="Arial"/>
                <a:cs typeface="Arial"/>
                <a:sym typeface="Arial"/>
              </a:rPr>
              <a:t>NDX  |  </a:t>
            </a:r>
            <a:r>
              <a:rPr b="1" lang="en-GB" sz="1300">
                <a:solidFill>
                  <a:srgbClr val="08172E"/>
                </a:solidFill>
              </a:rPr>
              <a:t>^NDX</a:t>
            </a:r>
            <a:r>
              <a:rPr b="1" i="0" lang="en-GB" sz="1300" u="none" cap="none" strike="noStrike">
                <a:solidFill>
                  <a:srgbClr val="08172E"/>
                </a:solidFill>
                <a:latin typeface="Arial"/>
                <a:ea typeface="Arial"/>
                <a:cs typeface="Arial"/>
                <a:sym typeface="Arial"/>
              </a:rPr>
              <a:t> proxy</a:t>
            </a:r>
            <a:endParaRPr/>
          </a:p>
        </p:txBody>
      </p:sp>
      <p:sp>
        <p:nvSpPr>
          <p:cNvPr id="120" name="Google Shape;120;p15"/>
          <p:cNvSpPr txBox="1"/>
          <p:nvPr/>
        </p:nvSpPr>
        <p:spPr>
          <a:xfrm>
            <a:off x="3566148" y="1741386"/>
            <a:ext cx="2103000" cy="470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GB" sz="1019" u="none" cap="none" strike="noStrike">
                <a:solidFill>
                  <a:srgbClr val="27395D"/>
                </a:solidFill>
                <a:latin typeface="Arial"/>
                <a:ea typeface="Arial"/>
                <a:cs typeface="Arial"/>
                <a:sym typeface="Arial"/>
              </a:rPr>
              <a:t>Direction: </a:t>
            </a:r>
            <a:r>
              <a:rPr lang="en-GB" sz="1019">
                <a:solidFill>
                  <a:srgbClr val="27395D"/>
                </a:solidFill>
              </a:rPr>
              <a:t>Up</a:t>
            </a:r>
            <a:endParaRPr/>
          </a:p>
          <a:p>
            <a:pPr indent="0" lvl="0" marL="0" marR="0" rtl="0" algn="l">
              <a:lnSpc>
                <a:spcPct val="100000"/>
              </a:lnSpc>
              <a:spcBef>
                <a:spcPts val="0"/>
              </a:spcBef>
              <a:spcAft>
                <a:spcPts val="0"/>
              </a:spcAft>
              <a:buNone/>
            </a:pPr>
            <a:r>
              <a:rPr b="0" i="0" lang="en-GB" sz="1019" u="none" cap="none" strike="noStrike">
                <a:solidFill>
                  <a:srgbClr val="27395D"/>
                </a:solidFill>
                <a:latin typeface="Arial"/>
                <a:ea typeface="Arial"/>
                <a:cs typeface="Arial"/>
                <a:sym typeface="Arial"/>
              </a:rPr>
              <a:t>Range: </a:t>
            </a:r>
            <a:r>
              <a:rPr b="1" lang="en-GB" sz="1019">
                <a:solidFill>
                  <a:srgbClr val="2FB344"/>
                </a:solidFill>
              </a:rPr>
              <a:t>+0.4%</a:t>
            </a:r>
            <a:r>
              <a:rPr lang="en-GB" sz="1019">
                <a:solidFill>
                  <a:srgbClr val="27395D"/>
                </a:solidFill>
              </a:rPr>
              <a:t> to </a:t>
            </a:r>
            <a:r>
              <a:rPr b="1" lang="en-GB" sz="1019">
                <a:solidFill>
                  <a:srgbClr val="2FB344"/>
                </a:solidFill>
              </a:rPr>
              <a:t>+1.4%</a:t>
            </a:r>
            <a:endParaRPr b="1">
              <a:solidFill>
                <a:srgbClr val="2FB344"/>
              </a:solidFill>
            </a:endParaRPr>
          </a:p>
          <a:p>
            <a:pPr indent="0" lvl="0" marL="0" marR="0" rtl="0" algn="l">
              <a:lnSpc>
                <a:spcPct val="100000"/>
              </a:lnSpc>
              <a:spcBef>
                <a:spcPts val="0"/>
              </a:spcBef>
              <a:spcAft>
                <a:spcPts val="0"/>
              </a:spcAft>
              <a:buNone/>
            </a:pPr>
            <a:r>
              <a:rPr b="0" i="0" lang="en-GB" sz="1019" u="none" cap="none" strike="noStrike">
                <a:solidFill>
                  <a:srgbClr val="27395D"/>
                </a:solidFill>
                <a:latin typeface="Arial"/>
                <a:ea typeface="Arial"/>
                <a:cs typeface="Arial"/>
                <a:sym typeface="Arial"/>
              </a:rPr>
              <a:t>Confidence: </a:t>
            </a:r>
            <a:r>
              <a:rPr lang="en-GB" sz="1019">
                <a:solidFill>
                  <a:srgbClr val="27395D"/>
                </a:solidFill>
              </a:rPr>
              <a:t>Medium</a:t>
            </a:r>
            <a:endParaRPr/>
          </a:p>
        </p:txBody>
      </p:sp>
      <p:sp>
        <p:nvSpPr>
          <p:cNvPr id="121" name="Google Shape;121;p15"/>
          <p:cNvSpPr/>
          <p:nvPr/>
        </p:nvSpPr>
        <p:spPr>
          <a:xfrm>
            <a:off x="6236208" y="1444752"/>
            <a:ext cx="2359200" cy="804600"/>
          </a:xfrm>
          <a:prstGeom prst="roundRect">
            <a:avLst>
              <a:gd fmla="val 16667" name="adj"/>
            </a:avLst>
          </a:prstGeom>
          <a:solidFill>
            <a:srgbClr val="FFFFFF"/>
          </a:solidFill>
          <a:ln cap="flat" cmpd="sng" w="12700">
            <a:solidFill>
              <a:srgbClr val="DCE5E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2" name="Google Shape;122;p15"/>
          <p:cNvSpPr/>
          <p:nvPr/>
        </p:nvSpPr>
        <p:spPr>
          <a:xfrm>
            <a:off x="6236200" y="1444749"/>
            <a:ext cx="54900" cy="804900"/>
          </a:xfrm>
          <a:prstGeom prst="rect">
            <a:avLst/>
          </a:prstGeom>
          <a:solidFill>
            <a:srgbClr val="F2B84B"/>
          </a:solidFill>
          <a:ln cap="flat" cmpd="sng" w="9525">
            <a:solidFill>
              <a:srgbClr val="F2B84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3" name="Google Shape;123;p15"/>
          <p:cNvSpPr txBox="1"/>
          <p:nvPr/>
        </p:nvSpPr>
        <p:spPr>
          <a:xfrm>
            <a:off x="6400788" y="1494804"/>
            <a:ext cx="2103000" cy="246300"/>
          </a:xfrm>
          <a:prstGeom prst="rect">
            <a:avLst/>
          </a:prstGeom>
          <a:noFill/>
          <a:ln>
            <a:noFill/>
          </a:ln>
        </p:spPr>
        <p:txBody>
          <a:bodyPr anchorCtr="0" anchor="t" bIns="18275" lIns="54850" spcFirstLastPara="1" rIns="36575" wrap="square" tIns="27425">
            <a:spAutoFit/>
          </a:bodyPr>
          <a:lstStyle/>
          <a:p>
            <a:pPr indent="0" lvl="0" marL="0" marR="0" rtl="0" algn="l">
              <a:lnSpc>
                <a:spcPct val="100000"/>
              </a:lnSpc>
              <a:spcBef>
                <a:spcPts val="0"/>
              </a:spcBef>
              <a:spcAft>
                <a:spcPts val="0"/>
              </a:spcAft>
              <a:buNone/>
            </a:pPr>
            <a:r>
              <a:rPr b="1" i="0" lang="en-GB" sz="1300" u="none" cap="none" strike="noStrike">
                <a:solidFill>
                  <a:srgbClr val="08172E"/>
                </a:solidFill>
                <a:latin typeface="Arial"/>
                <a:ea typeface="Arial"/>
                <a:cs typeface="Arial"/>
                <a:sym typeface="Arial"/>
              </a:rPr>
              <a:t>IWM  |  IWM proxy</a:t>
            </a:r>
            <a:endParaRPr/>
          </a:p>
        </p:txBody>
      </p:sp>
      <p:sp>
        <p:nvSpPr>
          <p:cNvPr id="124" name="Google Shape;124;p15"/>
          <p:cNvSpPr txBox="1"/>
          <p:nvPr/>
        </p:nvSpPr>
        <p:spPr>
          <a:xfrm>
            <a:off x="6400788" y="1741386"/>
            <a:ext cx="2103000" cy="470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GB" sz="1019" u="none" cap="none" strike="noStrike">
                <a:solidFill>
                  <a:srgbClr val="27395D"/>
                </a:solidFill>
                <a:latin typeface="Arial"/>
                <a:ea typeface="Arial"/>
                <a:cs typeface="Arial"/>
                <a:sym typeface="Arial"/>
              </a:rPr>
              <a:t>Direction: </a:t>
            </a:r>
            <a:r>
              <a:rPr lang="en-GB" sz="1019">
                <a:solidFill>
                  <a:srgbClr val="27395D"/>
                </a:solidFill>
              </a:rPr>
              <a:t>Flat → Up</a:t>
            </a:r>
            <a:endParaRPr/>
          </a:p>
          <a:p>
            <a:pPr indent="0" lvl="0" marL="0" marR="0" rtl="0" algn="l">
              <a:lnSpc>
                <a:spcPct val="100000"/>
              </a:lnSpc>
              <a:spcBef>
                <a:spcPts val="0"/>
              </a:spcBef>
              <a:spcAft>
                <a:spcPts val="0"/>
              </a:spcAft>
              <a:buNone/>
            </a:pPr>
            <a:r>
              <a:rPr b="0" i="0" lang="en-GB" sz="1019" u="none" cap="none" strike="noStrike">
                <a:solidFill>
                  <a:srgbClr val="27395D"/>
                </a:solidFill>
                <a:latin typeface="Arial"/>
                <a:ea typeface="Arial"/>
                <a:cs typeface="Arial"/>
                <a:sym typeface="Arial"/>
              </a:rPr>
              <a:t>Range: </a:t>
            </a:r>
            <a:r>
              <a:rPr b="1" lang="en-GB" sz="1019">
                <a:solidFill>
                  <a:srgbClr val="D64545"/>
                </a:solidFill>
              </a:rPr>
              <a:t>-0.3%</a:t>
            </a:r>
            <a:r>
              <a:rPr lang="en-GB" sz="1019">
                <a:solidFill>
                  <a:srgbClr val="27395D"/>
                </a:solidFill>
              </a:rPr>
              <a:t> to </a:t>
            </a:r>
            <a:r>
              <a:rPr b="1" lang="en-GB" sz="1019">
                <a:solidFill>
                  <a:srgbClr val="2FB344"/>
                </a:solidFill>
              </a:rPr>
              <a:t>+0.9%</a:t>
            </a:r>
            <a:endParaRPr b="1">
              <a:solidFill>
                <a:srgbClr val="2FB344"/>
              </a:solidFill>
            </a:endParaRPr>
          </a:p>
          <a:p>
            <a:pPr indent="0" lvl="0" marL="0" marR="0" rtl="0" algn="l">
              <a:lnSpc>
                <a:spcPct val="100000"/>
              </a:lnSpc>
              <a:spcBef>
                <a:spcPts val="0"/>
              </a:spcBef>
              <a:spcAft>
                <a:spcPts val="0"/>
              </a:spcAft>
              <a:buNone/>
            </a:pPr>
            <a:r>
              <a:rPr b="0" i="0" lang="en-GB" sz="1019" u="none" cap="none" strike="noStrike">
                <a:solidFill>
                  <a:srgbClr val="27395D"/>
                </a:solidFill>
                <a:latin typeface="Arial"/>
                <a:ea typeface="Arial"/>
                <a:cs typeface="Arial"/>
                <a:sym typeface="Arial"/>
              </a:rPr>
              <a:t>Confidence: </a:t>
            </a:r>
            <a:r>
              <a:rPr lang="en-GB" sz="1019">
                <a:solidFill>
                  <a:srgbClr val="27395D"/>
                </a:solidFill>
              </a:rPr>
              <a:t>Medium</a:t>
            </a:r>
            <a:endParaRPr/>
          </a:p>
        </p:txBody>
      </p:sp>
      <p:sp>
        <p:nvSpPr>
          <p:cNvPr id="125" name="Google Shape;125;p15"/>
          <p:cNvSpPr/>
          <p:nvPr/>
        </p:nvSpPr>
        <p:spPr>
          <a:xfrm>
            <a:off x="566928" y="2560320"/>
            <a:ext cx="2359200" cy="804600"/>
          </a:xfrm>
          <a:prstGeom prst="roundRect">
            <a:avLst>
              <a:gd fmla="val 16667" name="adj"/>
            </a:avLst>
          </a:prstGeom>
          <a:solidFill>
            <a:srgbClr val="FFFFFF"/>
          </a:solidFill>
          <a:ln cap="flat" cmpd="sng" w="12700">
            <a:solidFill>
              <a:srgbClr val="DCE5E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6" name="Google Shape;126;p15"/>
          <p:cNvSpPr/>
          <p:nvPr/>
        </p:nvSpPr>
        <p:spPr>
          <a:xfrm>
            <a:off x="566925" y="2560326"/>
            <a:ext cx="54900" cy="804900"/>
          </a:xfrm>
          <a:prstGeom prst="rect">
            <a:avLst/>
          </a:prstGeom>
          <a:solidFill>
            <a:srgbClr val="D64545"/>
          </a:solidFill>
          <a:ln cap="flat" cmpd="sng" w="9525">
            <a:solidFill>
              <a:srgbClr val="D6454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27" name="Google Shape;127;p15"/>
          <p:cNvSpPr txBox="1"/>
          <p:nvPr/>
        </p:nvSpPr>
        <p:spPr>
          <a:xfrm>
            <a:off x="731508" y="2610372"/>
            <a:ext cx="2103000" cy="246300"/>
          </a:xfrm>
          <a:prstGeom prst="rect">
            <a:avLst/>
          </a:prstGeom>
          <a:noFill/>
          <a:ln>
            <a:noFill/>
          </a:ln>
        </p:spPr>
        <p:txBody>
          <a:bodyPr anchorCtr="0" anchor="t" bIns="18275" lIns="54850" spcFirstLastPara="1" rIns="36575" wrap="square" tIns="27425">
            <a:spAutoFit/>
          </a:bodyPr>
          <a:lstStyle/>
          <a:p>
            <a:pPr indent="0" lvl="0" marL="0" marR="0" rtl="0" algn="l">
              <a:lnSpc>
                <a:spcPct val="100000"/>
              </a:lnSpc>
              <a:spcBef>
                <a:spcPts val="0"/>
              </a:spcBef>
              <a:spcAft>
                <a:spcPts val="0"/>
              </a:spcAft>
              <a:buNone/>
            </a:pPr>
            <a:r>
              <a:rPr b="1" i="0" lang="en-GB" sz="1300" u="none" cap="none" strike="noStrike">
                <a:solidFill>
                  <a:srgbClr val="08172E"/>
                </a:solidFill>
                <a:latin typeface="Arial"/>
                <a:ea typeface="Arial"/>
                <a:cs typeface="Arial"/>
                <a:sym typeface="Arial"/>
              </a:rPr>
              <a:t>Info Tech  |  XLK proxy</a:t>
            </a:r>
            <a:endParaRPr/>
          </a:p>
        </p:txBody>
      </p:sp>
      <p:sp>
        <p:nvSpPr>
          <p:cNvPr id="128" name="Google Shape;128;p15"/>
          <p:cNvSpPr txBox="1"/>
          <p:nvPr/>
        </p:nvSpPr>
        <p:spPr>
          <a:xfrm>
            <a:off x="731508" y="2856953"/>
            <a:ext cx="2103000" cy="470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GB" sz="1019" u="none" cap="none" strike="noStrike">
                <a:solidFill>
                  <a:srgbClr val="27395D"/>
                </a:solidFill>
                <a:latin typeface="Arial"/>
                <a:ea typeface="Arial"/>
                <a:cs typeface="Arial"/>
                <a:sym typeface="Arial"/>
              </a:rPr>
              <a:t>Direction: </a:t>
            </a:r>
            <a:r>
              <a:rPr lang="en-GB" sz="1019">
                <a:solidFill>
                  <a:srgbClr val="27395D"/>
                </a:solidFill>
              </a:rPr>
              <a:t>Up</a:t>
            </a:r>
            <a:endParaRPr/>
          </a:p>
          <a:p>
            <a:pPr indent="0" lvl="0" marL="0" marR="0" rtl="0" algn="l">
              <a:lnSpc>
                <a:spcPct val="100000"/>
              </a:lnSpc>
              <a:spcBef>
                <a:spcPts val="0"/>
              </a:spcBef>
              <a:spcAft>
                <a:spcPts val="0"/>
              </a:spcAft>
              <a:buNone/>
            </a:pPr>
            <a:r>
              <a:rPr b="0" i="0" lang="en-GB" sz="1019" u="none" cap="none" strike="noStrike">
                <a:solidFill>
                  <a:srgbClr val="27395D"/>
                </a:solidFill>
                <a:latin typeface="Arial"/>
                <a:ea typeface="Arial"/>
                <a:cs typeface="Arial"/>
                <a:sym typeface="Arial"/>
              </a:rPr>
              <a:t>Range: </a:t>
            </a:r>
            <a:r>
              <a:rPr b="1" lang="en-GB" sz="1019">
                <a:solidFill>
                  <a:srgbClr val="2FB344"/>
                </a:solidFill>
              </a:rPr>
              <a:t>+0.8%</a:t>
            </a:r>
            <a:r>
              <a:rPr lang="en-GB" sz="1019">
                <a:solidFill>
                  <a:srgbClr val="27395D"/>
                </a:solidFill>
              </a:rPr>
              <a:t> to </a:t>
            </a:r>
            <a:r>
              <a:rPr b="1" lang="en-GB" sz="1019">
                <a:solidFill>
                  <a:srgbClr val="2FB344"/>
                </a:solidFill>
              </a:rPr>
              <a:t>+2.0%</a:t>
            </a:r>
            <a:endParaRPr b="1">
              <a:solidFill>
                <a:srgbClr val="2FB344"/>
              </a:solidFill>
            </a:endParaRPr>
          </a:p>
          <a:p>
            <a:pPr indent="0" lvl="0" marL="0" marR="0" rtl="0" algn="l">
              <a:lnSpc>
                <a:spcPct val="100000"/>
              </a:lnSpc>
              <a:spcBef>
                <a:spcPts val="0"/>
              </a:spcBef>
              <a:spcAft>
                <a:spcPts val="0"/>
              </a:spcAft>
              <a:buNone/>
            </a:pPr>
            <a:r>
              <a:rPr b="0" i="0" lang="en-GB" sz="1019" u="none" cap="none" strike="noStrike">
                <a:solidFill>
                  <a:srgbClr val="27395D"/>
                </a:solidFill>
                <a:latin typeface="Arial"/>
                <a:ea typeface="Arial"/>
                <a:cs typeface="Arial"/>
                <a:sym typeface="Arial"/>
              </a:rPr>
              <a:t>Confidence: </a:t>
            </a:r>
            <a:r>
              <a:rPr lang="en-GB" sz="1019">
                <a:solidFill>
                  <a:srgbClr val="27395D"/>
                </a:solidFill>
              </a:rPr>
              <a:t>Medium-High</a:t>
            </a:r>
            <a:endParaRPr/>
          </a:p>
        </p:txBody>
      </p:sp>
      <p:sp>
        <p:nvSpPr>
          <p:cNvPr id="129" name="Google Shape;129;p15"/>
          <p:cNvSpPr/>
          <p:nvPr/>
        </p:nvSpPr>
        <p:spPr>
          <a:xfrm>
            <a:off x="3401568" y="2560320"/>
            <a:ext cx="2359200" cy="804600"/>
          </a:xfrm>
          <a:prstGeom prst="roundRect">
            <a:avLst>
              <a:gd fmla="val 16667" name="adj"/>
            </a:avLst>
          </a:prstGeom>
          <a:solidFill>
            <a:srgbClr val="FFFFFF"/>
          </a:solidFill>
          <a:ln cap="flat" cmpd="sng" w="12700">
            <a:solidFill>
              <a:srgbClr val="DCE5E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0" name="Google Shape;130;p15"/>
          <p:cNvSpPr/>
          <p:nvPr/>
        </p:nvSpPr>
        <p:spPr>
          <a:xfrm>
            <a:off x="3401575" y="2560326"/>
            <a:ext cx="54900" cy="804900"/>
          </a:xfrm>
          <a:prstGeom prst="rect">
            <a:avLst/>
          </a:prstGeom>
          <a:solidFill>
            <a:srgbClr val="D64545"/>
          </a:solidFill>
          <a:ln cap="flat" cmpd="sng" w="9525">
            <a:solidFill>
              <a:srgbClr val="D6454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1" name="Google Shape;131;p15"/>
          <p:cNvSpPr txBox="1"/>
          <p:nvPr/>
        </p:nvSpPr>
        <p:spPr>
          <a:xfrm>
            <a:off x="3566148" y="2610372"/>
            <a:ext cx="2103000" cy="246300"/>
          </a:xfrm>
          <a:prstGeom prst="rect">
            <a:avLst/>
          </a:prstGeom>
          <a:noFill/>
          <a:ln>
            <a:noFill/>
          </a:ln>
        </p:spPr>
        <p:txBody>
          <a:bodyPr anchorCtr="0" anchor="t" bIns="18275" lIns="54850" spcFirstLastPara="1" rIns="36575" wrap="square" tIns="27425">
            <a:spAutoFit/>
          </a:bodyPr>
          <a:lstStyle/>
          <a:p>
            <a:pPr indent="0" lvl="0" marL="0" marR="0" rtl="0" algn="l">
              <a:lnSpc>
                <a:spcPct val="100000"/>
              </a:lnSpc>
              <a:spcBef>
                <a:spcPts val="0"/>
              </a:spcBef>
              <a:spcAft>
                <a:spcPts val="0"/>
              </a:spcAft>
              <a:buNone/>
            </a:pPr>
            <a:r>
              <a:rPr b="1" i="0" lang="en-GB" sz="1300" u="none" cap="none" strike="noStrike">
                <a:solidFill>
                  <a:srgbClr val="08172E"/>
                </a:solidFill>
                <a:latin typeface="Arial"/>
                <a:ea typeface="Arial"/>
                <a:cs typeface="Arial"/>
                <a:sym typeface="Arial"/>
              </a:rPr>
              <a:t>Energy  |  XLE proxy</a:t>
            </a:r>
            <a:endParaRPr/>
          </a:p>
        </p:txBody>
      </p:sp>
      <p:sp>
        <p:nvSpPr>
          <p:cNvPr id="132" name="Google Shape;132;p15"/>
          <p:cNvSpPr txBox="1"/>
          <p:nvPr/>
        </p:nvSpPr>
        <p:spPr>
          <a:xfrm>
            <a:off x="3566148" y="2856953"/>
            <a:ext cx="2103000" cy="470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GB" sz="1019" u="none" cap="none" strike="noStrike">
                <a:solidFill>
                  <a:srgbClr val="27395D"/>
                </a:solidFill>
                <a:latin typeface="Arial"/>
                <a:ea typeface="Arial"/>
                <a:cs typeface="Arial"/>
                <a:sym typeface="Arial"/>
              </a:rPr>
              <a:t>Direction: </a:t>
            </a:r>
            <a:r>
              <a:rPr lang="en-GB" sz="1019">
                <a:solidFill>
                  <a:srgbClr val="27395D"/>
                </a:solidFill>
              </a:rPr>
              <a:t>Down</a:t>
            </a:r>
            <a:endParaRPr/>
          </a:p>
          <a:p>
            <a:pPr indent="0" lvl="0" marL="0" marR="0" rtl="0" algn="l">
              <a:lnSpc>
                <a:spcPct val="100000"/>
              </a:lnSpc>
              <a:spcBef>
                <a:spcPts val="0"/>
              </a:spcBef>
              <a:spcAft>
                <a:spcPts val="0"/>
              </a:spcAft>
              <a:buNone/>
            </a:pPr>
            <a:r>
              <a:rPr b="0" i="0" lang="en-GB" sz="1019" u="none" cap="none" strike="noStrike">
                <a:solidFill>
                  <a:srgbClr val="27395D"/>
                </a:solidFill>
                <a:latin typeface="Arial"/>
                <a:ea typeface="Arial"/>
                <a:cs typeface="Arial"/>
                <a:sym typeface="Arial"/>
              </a:rPr>
              <a:t>Range: </a:t>
            </a:r>
            <a:r>
              <a:rPr b="1" lang="en-GB" sz="1019">
                <a:solidFill>
                  <a:srgbClr val="D64545"/>
                </a:solidFill>
              </a:rPr>
              <a:t>-1.5%</a:t>
            </a:r>
            <a:r>
              <a:rPr lang="en-GB" sz="1019">
                <a:solidFill>
                  <a:srgbClr val="27395D"/>
                </a:solidFill>
              </a:rPr>
              <a:t> to </a:t>
            </a:r>
            <a:r>
              <a:rPr b="1" lang="en-GB" sz="1019">
                <a:solidFill>
                  <a:srgbClr val="D64545"/>
                </a:solidFill>
              </a:rPr>
              <a:t>-0.3%</a:t>
            </a:r>
            <a:endParaRPr b="1">
              <a:solidFill>
                <a:srgbClr val="D64545"/>
              </a:solidFill>
            </a:endParaRPr>
          </a:p>
          <a:p>
            <a:pPr indent="0" lvl="0" marL="0" marR="0" rtl="0" algn="l">
              <a:lnSpc>
                <a:spcPct val="100000"/>
              </a:lnSpc>
              <a:spcBef>
                <a:spcPts val="0"/>
              </a:spcBef>
              <a:spcAft>
                <a:spcPts val="0"/>
              </a:spcAft>
              <a:buNone/>
            </a:pPr>
            <a:r>
              <a:rPr b="0" i="0" lang="en-GB" sz="1019" u="none" cap="none" strike="noStrike">
                <a:solidFill>
                  <a:srgbClr val="27395D"/>
                </a:solidFill>
                <a:latin typeface="Arial"/>
                <a:ea typeface="Arial"/>
                <a:cs typeface="Arial"/>
                <a:sym typeface="Arial"/>
              </a:rPr>
              <a:t>Confidence: </a:t>
            </a:r>
            <a:r>
              <a:rPr lang="en-GB" sz="1019">
                <a:solidFill>
                  <a:srgbClr val="27395D"/>
                </a:solidFill>
              </a:rPr>
              <a:t>Medium</a:t>
            </a:r>
            <a:endParaRPr/>
          </a:p>
        </p:txBody>
      </p:sp>
      <p:sp>
        <p:nvSpPr>
          <p:cNvPr id="133" name="Google Shape;133;p15"/>
          <p:cNvSpPr/>
          <p:nvPr/>
        </p:nvSpPr>
        <p:spPr>
          <a:xfrm>
            <a:off x="6236208" y="2560320"/>
            <a:ext cx="2359200" cy="804600"/>
          </a:xfrm>
          <a:prstGeom prst="roundRect">
            <a:avLst>
              <a:gd fmla="val 16667" name="adj"/>
            </a:avLst>
          </a:prstGeom>
          <a:solidFill>
            <a:srgbClr val="FFFFFF"/>
          </a:solidFill>
          <a:ln cap="flat" cmpd="sng" w="12700">
            <a:solidFill>
              <a:srgbClr val="DCE5E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4" name="Google Shape;134;p15"/>
          <p:cNvSpPr/>
          <p:nvPr/>
        </p:nvSpPr>
        <p:spPr>
          <a:xfrm>
            <a:off x="6236200" y="2560326"/>
            <a:ext cx="54900" cy="804900"/>
          </a:xfrm>
          <a:prstGeom prst="rect">
            <a:avLst/>
          </a:prstGeom>
          <a:solidFill>
            <a:srgbClr val="2FB344"/>
          </a:solidFill>
          <a:ln cap="flat" cmpd="sng" w="9525">
            <a:solidFill>
              <a:srgbClr val="2FB34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5" name="Google Shape;135;p15"/>
          <p:cNvSpPr txBox="1"/>
          <p:nvPr/>
        </p:nvSpPr>
        <p:spPr>
          <a:xfrm>
            <a:off x="6400788" y="2610372"/>
            <a:ext cx="2103000" cy="246300"/>
          </a:xfrm>
          <a:prstGeom prst="rect">
            <a:avLst/>
          </a:prstGeom>
          <a:noFill/>
          <a:ln>
            <a:noFill/>
          </a:ln>
        </p:spPr>
        <p:txBody>
          <a:bodyPr anchorCtr="0" anchor="t" bIns="18275" lIns="54850" spcFirstLastPara="1" rIns="36575" wrap="square" tIns="27425">
            <a:spAutoFit/>
          </a:bodyPr>
          <a:lstStyle/>
          <a:p>
            <a:pPr indent="0" lvl="0" marL="0" marR="0" rtl="0" algn="l">
              <a:lnSpc>
                <a:spcPct val="100000"/>
              </a:lnSpc>
              <a:spcBef>
                <a:spcPts val="0"/>
              </a:spcBef>
              <a:spcAft>
                <a:spcPts val="0"/>
              </a:spcAft>
              <a:buNone/>
            </a:pPr>
            <a:r>
              <a:rPr b="1" i="0" lang="en-GB" sz="1300" u="none" cap="none" strike="noStrike">
                <a:solidFill>
                  <a:srgbClr val="08172E"/>
                </a:solidFill>
                <a:latin typeface="Arial"/>
                <a:ea typeface="Arial"/>
                <a:cs typeface="Arial"/>
                <a:sym typeface="Arial"/>
              </a:rPr>
              <a:t>Financials  |  XLF proxy</a:t>
            </a:r>
            <a:endParaRPr/>
          </a:p>
        </p:txBody>
      </p:sp>
      <p:sp>
        <p:nvSpPr>
          <p:cNvPr id="136" name="Google Shape;136;p15"/>
          <p:cNvSpPr txBox="1"/>
          <p:nvPr/>
        </p:nvSpPr>
        <p:spPr>
          <a:xfrm>
            <a:off x="6400788" y="2856953"/>
            <a:ext cx="2103000" cy="470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GB" sz="1019" u="none" cap="none" strike="noStrike">
                <a:solidFill>
                  <a:srgbClr val="27395D"/>
                </a:solidFill>
                <a:latin typeface="Arial"/>
                <a:ea typeface="Arial"/>
                <a:cs typeface="Arial"/>
                <a:sym typeface="Arial"/>
              </a:rPr>
              <a:t>Direction: </a:t>
            </a:r>
            <a:r>
              <a:rPr lang="en-GB" sz="1019">
                <a:solidFill>
                  <a:srgbClr val="27395D"/>
                </a:solidFill>
              </a:rPr>
              <a:t>Neutral → Up</a:t>
            </a:r>
            <a:endParaRPr/>
          </a:p>
          <a:p>
            <a:pPr indent="0" lvl="0" marL="0" marR="0" rtl="0" algn="l">
              <a:lnSpc>
                <a:spcPct val="100000"/>
              </a:lnSpc>
              <a:spcBef>
                <a:spcPts val="0"/>
              </a:spcBef>
              <a:spcAft>
                <a:spcPts val="0"/>
              </a:spcAft>
              <a:buNone/>
            </a:pPr>
            <a:r>
              <a:rPr b="0" i="0" lang="en-GB" sz="1019" u="none" cap="none" strike="noStrike">
                <a:solidFill>
                  <a:srgbClr val="27395D"/>
                </a:solidFill>
                <a:latin typeface="Arial"/>
                <a:ea typeface="Arial"/>
                <a:cs typeface="Arial"/>
                <a:sym typeface="Arial"/>
              </a:rPr>
              <a:t>Range: </a:t>
            </a:r>
            <a:r>
              <a:rPr b="1" lang="en-GB" sz="1019">
                <a:solidFill>
                  <a:srgbClr val="F2B84B"/>
                </a:solidFill>
              </a:rPr>
              <a:t>0.0%</a:t>
            </a:r>
            <a:r>
              <a:rPr lang="en-GB" sz="1019">
                <a:solidFill>
                  <a:srgbClr val="27395D"/>
                </a:solidFill>
              </a:rPr>
              <a:t> to </a:t>
            </a:r>
            <a:r>
              <a:rPr b="1" lang="en-GB" sz="1019">
                <a:solidFill>
                  <a:srgbClr val="2FB344"/>
                </a:solidFill>
              </a:rPr>
              <a:t>+1.0%</a:t>
            </a:r>
            <a:endParaRPr b="1">
              <a:solidFill>
                <a:srgbClr val="2FB344"/>
              </a:solidFill>
            </a:endParaRPr>
          </a:p>
          <a:p>
            <a:pPr indent="0" lvl="0" marL="0" marR="0" rtl="0" algn="l">
              <a:lnSpc>
                <a:spcPct val="100000"/>
              </a:lnSpc>
              <a:spcBef>
                <a:spcPts val="0"/>
              </a:spcBef>
              <a:spcAft>
                <a:spcPts val="0"/>
              </a:spcAft>
              <a:buNone/>
            </a:pPr>
            <a:r>
              <a:rPr b="0" i="0" lang="en-GB" sz="1019" u="none" cap="none" strike="noStrike">
                <a:solidFill>
                  <a:srgbClr val="27395D"/>
                </a:solidFill>
                <a:latin typeface="Arial"/>
                <a:ea typeface="Arial"/>
                <a:cs typeface="Arial"/>
                <a:sym typeface="Arial"/>
              </a:rPr>
              <a:t>Confidence: </a:t>
            </a:r>
            <a:r>
              <a:rPr lang="en-GB" sz="1019">
                <a:solidFill>
                  <a:srgbClr val="27395D"/>
                </a:solidFill>
              </a:rPr>
              <a:t>Medium</a:t>
            </a:r>
            <a:endParaRPr/>
          </a:p>
        </p:txBody>
      </p:sp>
      <p:sp>
        <p:nvSpPr>
          <p:cNvPr id="137" name="Google Shape;137;p15"/>
          <p:cNvSpPr/>
          <p:nvPr/>
        </p:nvSpPr>
        <p:spPr>
          <a:xfrm>
            <a:off x="566925" y="3611874"/>
            <a:ext cx="3703200" cy="1010700"/>
          </a:xfrm>
          <a:prstGeom prst="roundRect">
            <a:avLst>
              <a:gd fmla="val 16667" name="adj"/>
            </a:avLst>
          </a:prstGeom>
          <a:solidFill>
            <a:srgbClr val="FFFFFF"/>
          </a:solidFill>
          <a:ln cap="flat" cmpd="sng" w="12700">
            <a:solidFill>
              <a:srgbClr val="DCE5E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8" name="Google Shape;138;p15"/>
          <p:cNvSpPr/>
          <p:nvPr/>
        </p:nvSpPr>
        <p:spPr>
          <a:xfrm>
            <a:off x="566925" y="3611874"/>
            <a:ext cx="54900" cy="1010700"/>
          </a:xfrm>
          <a:prstGeom prst="rect">
            <a:avLst/>
          </a:prstGeom>
          <a:solidFill>
            <a:srgbClr val="5C6CFF"/>
          </a:solidFill>
          <a:ln cap="flat" cmpd="sng" w="9525">
            <a:solidFill>
              <a:srgbClr val="5C6CF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9" name="Google Shape;139;p15"/>
          <p:cNvSpPr txBox="1"/>
          <p:nvPr/>
        </p:nvSpPr>
        <p:spPr>
          <a:xfrm>
            <a:off x="621825" y="3606775"/>
            <a:ext cx="3443700" cy="238500"/>
          </a:xfrm>
          <a:prstGeom prst="rect">
            <a:avLst/>
          </a:prstGeom>
          <a:noFill/>
          <a:ln>
            <a:noFill/>
          </a:ln>
        </p:spPr>
        <p:txBody>
          <a:bodyPr anchorCtr="0" anchor="t" bIns="18275" lIns="54850" spcFirstLastPara="1" rIns="36575" wrap="square" tIns="27425">
            <a:spAutoFit/>
          </a:bodyPr>
          <a:lstStyle/>
          <a:p>
            <a:pPr indent="0" lvl="0" marL="0" marR="0" rtl="0" algn="l">
              <a:lnSpc>
                <a:spcPct val="100000"/>
              </a:lnSpc>
              <a:spcBef>
                <a:spcPts val="0"/>
              </a:spcBef>
              <a:spcAft>
                <a:spcPts val="0"/>
              </a:spcAft>
              <a:buNone/>
            </a:pPr>
            <a:r>
              <a:rPr b="1" i="0" lang="en-GB" sz="1250" u="none" cap="none" strike="noStrike">
                <a:solidFill>
                  <a:srgbClr val="08172E"/>
                </a:solidFill>
                <a:latin typeface="Arial"/>
                <a:ea typeface="Arial"/>
                <a:cs typeface="Arial"/>
                <a:sym typeface="Arial"/>
              </a:rPr>
              <a:t>Assumptions / Risk Trigger</a:t>
            </a:r>
            <a:endParaRPr/>
          </a:p>
        </p:txBody>
      </p:sp>
      <p:sp>
        <p:nvSpPr>
          <p:cNvPr id="140" name="Google Shape;140;p15"/>
          <p:cNvSpPr txBox="1"/>
          <p:nvPr/>
        </p:nvSpPr>
        <p:spPr>
          <a:xfrm>
            <a:off x="717682" y="3845264"/>
            <a:ext cx="3401700" cy="954300"/>
          </a:xfrm>
          <a:prstGeom prst="rect">
            <a:avLst/>
          </a:prstGeom>
          <a:noFill/>
          <a:ln>
            <a:noFill/>
          </a:ln>
        </p:spPr>
        <p:txBody>
          <a:bodyPr anchorCtr="0" anchor="t" bIns="0" lIns="0" spcFirstLastPara="1" rIns="91425" wrap="square" tIns="0">
            <a:spAutoFit/>
          </a:bodyPr>
          <a:lstStyle/>
          <a:p>
            <a:pPr indent="0" lvl="0" marL="0" marR="0" rtl="0" algn="l">
              <a:lnSpc>
                <a:spcPct val="100000"/>
              </a:lnSpc>
              <a:spcBef>
                <a:spcPts val="0"/>
              </a:spcBef>
              <a:spcAft>
                <a:spcPts val="0"/>
              </a:spcAft>
              <a:buNone/>
            </a:pPr>
            <a:r>
              <a:rPr b="0" i="0" lang="en-GB" sz="1040" u="none" cap="none" strike="noStrike">
                <a:solidFill>
                  <a:srgbClr val="27395D"/>
                </a:solidFill>
                <a:latin typeface="Arial"/>
                <a:ea typeface="Arial"/>
                <a:cs typeface="Arial"/>
                <a:sym typeface="Arial"/>
              </a:rPr>
              <a:t>1. Main macro driver: </a:t>
            </a:r>
            <a:r>
              <a:rPr lang="en-GB" sz="1040">
                <a:solidFill>
                  <a:srgbClr val="27395D"/>
                </a:solidFill>
              </a:rPr>
              <a:t>FOMC Dot Plot and Fed forward guidance after a near-certain rate hold.</a:t>
            </a:r>
            <a:endParaRPr sz="1040">
              <a:solidFill>
                <a:srgbClr val="27395D"/>
              </a:solidFill>
            </a:endParaRPr>
          </a:p>
          <a:p>
            <a:pPr indent="0" lvl="0" marL="0" marR="0" rtl="0" algn="l">
              <a:lnSpc>
                <a:spcPct val="100000"/>
              </a:lnSpc>
              <a:spcBef>
                <a:spcPts val="0"/>
              </a:spcBef>
              <a:spcAft>
                <a:spcPts val="0"/>
              </a:spcAft>
              <a:buNone/>
            </a:pPr>
            <a:r>
              <a:t/>
            </a:r>
            <a:endParaRPr sz="640">
              <a:solidFill>
                <a:srgbClr val="27395D"/>
              </a:solidFill>
            </a:endParaRPr>
          </a:p>
          <a:p>
            <a:pPr indent="0" lvl="0" marL="0" marR="0" rtl="0" algn="l">
              <a:lnSpc>
                <a:spcPct val="100000"/>
              </a:lnSpc>
              <a:spcBef>
                <a:spcPts val="0"/>
              </a:spcBef>
              <a:spcAft>
                <a:spcPts val="0"/>
              </a:spcAft>
              <a:buNone/>
            </a:pPr>
            <a:r>
              <a:rPr b="0" i="0" lang="en-GB" sz="1040" u="none" cap="none" strike="noStrike">
                <a:solidFill>
                  <a:srgbClr val="27395D"/>
                </a:solidFill>
                <a:latin typeface="Arial"/>
                <a:ea typeface="Arial"/>
                <a:cs typeface="Arial"/>
                <a:sym typeface="Arial"/>
              </a:rPr>
              <a:t>2. Technical invalidation: </a:t>
            </a:r>
            <a:r>
              <a:rPr lang="en-GB" sz="1040">
                <a:solidFill>
                  <a:srgbClr val="27395D"/>
                </a:solidFill>
              </a:rPr>
              <a:t>Daily close below 21D EMA or key support: SPX 7,380 / NDX 29,250 / IWM 284.</a:t>
            </a:r>
            <a:endParaRPr/>
          </a:p>
          <a:p>
            <a:pPr indent="0" lvl="0" marL="0" marR="0" rtl="0" algn="l">
              <a:lnSpc>
                <a:spcPct val="100000"/>
              </a:lnSpc>
              <a:spcBef>
                <a:spcPts val="0"/>
              </a:spcBef>
              <a:spcAft>
                <a:spcPts val="0"/>
              </a:spcAft>
              <a:buNone/>
            </a:pPr>
            <a:r>
              <a:t/>
            </a:r>
            <a:endParaRPr/>
          </a:p>
        </p:txBody>
      </p:sp>
      <p:sp>
        <p:nvSpPr>
          <p:cNvPr id="141" name="Google Shape;141;p15"/>
          <p:cNvSpPr/>
          <p:nvPr/>
        </p:nvSpPr>
        <p:spPr>
          <a:xfrm>
            <a:off x="4526275" y="3611874"/>
            <a:ext cx="3703200" cy="1010700"/>
          </a:xfrm>
          <a:prstGeom prst="roundRect">
            <a:avLst>
              <a:gd fmla="val 16667" name="adj"/>
            </a:avLst>
          </a:prstGeom>
          <a:solidFill>
            <a:srgbClr val="FFFFFF"/>
          </a:solidFill>
          <a:ln cap="flat" cmpd="sng" w="12700">
            <a:solidFill>
              <a:srgbClr val="DCE5E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2" name="Google Shape;142;p15"/>
          <p:cNvSpPr/>
          <p:nvPr/>
        </p:nvSpPr>
        <p:spPr>
          <a:xfrm>
            <a:off x="4526275" y="3611875"/>
            <a:ext cx="54900" cy="1010700"/>
          </a:xfrm>
          <a:prstGeom prst="rect">
            <a:avLst/>
          </a:prstGeom>
          <a:solidFill>
            <a:srgbClr val="2FB344"/>
          </a:solidFill>
          <a:ln cap="flat" cmpd="sng" w="9525">
            <a:solidFill>
              <a:srgbClr val="2FB34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43" name="Google Shape;143;p15"/>
          <p:cNvSpPr txBox="1"/>
          <p:nvPr/>
        </p:nvSpPr>
        <p:spPr>
          <a:xfrm>
            <a:off x="4581184" y="3606770"/>
            <a:ext cx="3383400" cy="238500"/>
          </a:xfrm>
          <a:prstGeom prst="rect">
            <a:avLst/>
          </a:prstGeom>
          <a:noFill/>
          <a:ln>
            <a:noFill/>
          </a:ln>
        </p:spPr>
        <p:txBody>
          <a:bodyPr anchorCtr="0" anchor="t" bIns="18275" lIns="54850" spcFirstLastPara="1" rIns="36575" wrap="square" tIns="27425">
            <a:spAutoFit/>
          </a:bodyPr>
          <a:lstStyle/>
          <a:p>
            <a:pPr indent="0" lvl="0" marL="0" marR="0" rtl="0" algn="l">
              <a:lnSpc>
                <a:spcPct val="100000"/>
              </a:lnSpc>
              <a:spcBef>
                <a:spcPts val="0"/>
              </a:spcBef>
              <a:spcAft>
                <a:spcPts val="0"/>
              </a:spcAft>
              <a:buNone/>
            </a:pPr>
            <a:r>
              <a:rPr b="1" lang="en-GB" sz="1250">
                <a:solidFill>
                  <a:srgbClr val="08172E"/>
                </a:solidFill>
              </a:rPr>
              <a:t>Evidence Lock</a:t>
            </a:r>
            <a:endParaRPr/>
          </a:p>
        </p:txBody>
      </p:sp>
      <p:sp>
        <p:nvSpPr>
          <p:cNvPr id="144" name="Google Shape;144;p15"/>
          <p:cNvSpPr txBox="1"/>
          <p:nvPr/>
        </p:nvSpPr>
        <p:spPr>
          <a:xfrm>
            <a:off x="4672575" y="3845274"/>
            <a:ext cx="3401700" cy="777300"/>
          </a:xfrm>
          <a:prstGeom prst="rect">
            <a:avLst/>
          </a:prstGeom>
          <a:noFill/>
          <a:ln>
            <a:noFill/>
          </a:ln>
        </p:spPr>
        <p:txBody>
          <a:bodyPr anchorCtr="0" anchor="t" bIns="0" lIns="0" spcFirstLastPara="1" rIns="91425" wrap="square" tIns="0">
            <a:spAutoFit/>
          </a:bodyPr>
          <a:lstStyle/>
          <a:p>
            <a:pPr indent="0" lvl="0" marL="0" rtl="0" algn="l">
              <a:spcBef>
                <a:spcPts val="0"/>
              </a:spcBef>
              <a:spcAft>
                <a:spcPts val="0"/>
              </a:spcAft>
              <a:buClr>
                <a:schemeClr val="dk1"/>
              </a:buClr>
              <a:buSzPts val="1100"/>
              <a:buFont typeface="Arial"/>
              <a:buNone/>
            </a:pPr>
            <a:r>
              <a:rPr lang="en-GB" sz="1010">
                <a:solidFill>
                  <a:srgbClr val="27395D"/>
                </a:solidFill>
              </a:rPr>
              <a:t>Market snapshot</a:t>
            </a:r>
            <a:endParaRPr sz="1010">
              <a:solidFill>
                <a:srgbClr val="27395D"/>
              </a:solidFill>
            </a:endParaRPr>
          </a:p>
          <a:p>
            <a:pPr indent="0" lvl="0" marL="0" rtl="0" algn="l">
              <a:spcBef>
                <a:spcPts val="0"/>
              </a:spcBef>
              <a:spcAft>
                <a:spcPts val="0"/>
              </a:spcAft>
              <a:buClr>
                <a:schemeClr val="dk1"/>
              </a:buClr>
              <a:buSzPts val="1100"/>
              <a:buFont typeface="Arial"/>
              <a:buNone/>
            </a:pPr>
            <a:r>
              <a:rPr lang="en-GB" sz="1010">
                <a:solidFill>
                  <a:srgbClr val="27395D"/>
                </a:solidFill>
              </a:rPr>
              <a:t>Final W4 call committed to GitHub</a:t>
            </a:r>
            <a:endParaRPr sz="1010">
              <a:solidFill>
                <a:srgbClr val="27395D"/>
              </a:solidFill>
            </a:endParaRPr>
          </a:p>
          <a:p>
            <a:pPr indent="0" lvl="0" marL="0" rtl="0" algn="l">
              <a:spcBef>
                <a:spcPts val="0"/>
              </a:spcBef>
              <a:spcAft>
                <a:spcPts val="0"/>
              </a:spcAft>
              <a:buClr>
                <a:schemeClr val="dk1"/>
              </a:buClr>
              <a:buSzPts val="1100"/>
              <a:buFont typeface="Arial"/>
              <a:buNone/>
            </a:pPr>
            <a:r>
              <a:rPr lang="en-GB" sz="1010">
                <a:solidFill>
                  <a:srgbClr val="27395D"/>
                </a:solidFill>
              </a:rPr>
              <a:t>Prediction file linked to evidence output</a:t>
            </a:r>
            <a:endParaRPr sz="1010">
              <a:solidFill>
                <a:srgbClr val="27395D"/>
              </a:solidFill>
            </a:endParaRPr>
          </a:p>
          <a:p>
            <a:pPr indent="0" lvl="0" marL="0" rtl="0" algn="l">
              <a:spcBef>
                <a:spcPts val="0"/>
              </a:spcBef>
              <a:spcAft>
                <a:spcPts val="0"/>
              </a:spcAft>
              <a:buClr>
                <a:schemeClr val="dk1"/>
              </a:buClr>
              <a:buSzPts val="1100"/>
              <a:buFont typeface="Arial"/>
              <a:buNone/>
            </a:pPr>
            <a:r>
              <a:rPr lang="en-GB" sz="1010">
                <a:solidFill>
                  <a:srgbClr val="27395D"/>
                </a:solidFill>
              </a:rPr>
              <a:t>Ready for R10 calibration after actuals</a:t>
            </a:r>
            <a:endParaRPr sz="1010">
              <a:solidFill>
                <a:srgbClr val="27395D"/>
              </a:solidFill>
            </a:endParaRPr>
          </a:p>
          <a:p>
            <a:pPr indent="0" lvl="0" marL="0" marR="0" rtl="0" algn="l">
              <a:lnSpc>
                <a:spcPct val="100000"/>
              </a:lnSpc>
              <a:spcBef>
                <a:spcPts val="0"/>
              </a:spcBef>
              <a:spcAft>
                <a:spcPts val="0"/>
              </a:spcAft>
              <a:buNone/>
            </a:pPr>
            <a:r>
              <a:t/>
            </a:r>
            <a:endParaRPr sz="1010">
              <a:solidFill>
                <a:srgbClr val="27395D"/>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148" name="Shape 148"/>
        <p:cNvGrpSpPr/>
        <p:nvPr/>
      </p:nvGrpSpPr>
      <p:grpSpPr>
        <a:xfrm>
          <a:off x="0" y="0"/>
          <a:ext cx="0" cy="0"/>
          <a:chOff x="0" y="0"/>
          <a:chExt cx="0" cy="0"/>
        </a:xfrm>
      </p:grpSpPr>
      <p:sp>
        <p:nvSpPr>
          <p:cNvPr id="149" name="Google Shape;149;p16"/>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0" name="Google Shape;150;p16"/>
          <p:cNvSpPr/>
          <p:nvPr/>
        </p:nvSpPr>
        <p:spPr>
          <a:xfrm>
            <a:off x="0" y="640080"/>
            <a:ext cx="9144000" cy="36600"/>
          </a:xfrm>
          <a:prstGeom prst="rect">
            <a:avLst/>
          </a:prstGeom>
          <a:solidFill>
            <a:srgbClr val="00B8A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1" name="Google Shape;151;p16"/>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a:t>
            </a:r>
            <a:r>
              <a:rPr b="1" lang="en-GB" sz="1500">
                <a:solidFill>
                  <a:srgbClr val="FFFFFF"/>
                </a:solidFill>
              </a:rPr>
              <a:t>6</a:t>
            </a:r>
            <a:r>
              <a:rPr b="1" lang="en-GB" sz="1500">
                <a:solidFill>
                  <a:srgbClr val="FFFFFF"/>
                </a:solidFill>
                <a:latin typeface="Arial"/>
                <a:ea typeface="Arial"/>
                <a:cs typeface="Arial"/>
                <a:sym typeface="Arial"/>
              </a:rPr>
              <a:t> Data Lead</a:t>
            </a:r>
            <a:endParaRPr/>
          </a:p>
        </p:txBody>
      </p:sp>
      <p:sp>
        <p:nvSpPr>
          <p:cNvPr id="152" name="Google Shape;152;p16"/>
          <p:cNvSpPr/>
          <p:nvPr/>
        </p:nvSpPr>
        <p:spPr>
          <a:xfrm>
            <a:off x="2788920" y="201168"/>
            <a:ext cx="2331600" cy="210300"/>
          </a:xfrm>
          <a:prstGeom prst="roundRect">
            <a:avLst>
              <a:gd fmla="val 16667" name="adj"/>
            </a:avLst>
          </a:prstGeom>
          <a:solidFill>
            <a:srgbClr val="00B8A9"/>
          </a:solidFill>
          <a:ln cap="flat" cmpd="sng" w="12700">
            <a:solidFill>
              <a:srgbClr val="00B8A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ctr">
              <a:spcBef>
                <a:spcPts val="0"/>
              </a:spcBef>
              <a:spcAft>
                <a:spcPts val="0"/>
              </a:spcAft>
              <a:buNone/>
            </a:pPr>
            <a:r>
              <a:rPr b="1" lang="en-GB" sz="800">
                <a:solidFill>
                  <a:schemeClr val="lt1"/>
                </a:solidFill>
              </a:rPr>
              <a:t>Design 1 / Actuals Audit Table</a:t>
            </a:r>
            <a:endParaRPr sz="1800">
              <a:solidFill>
                <a:schemeClr val="lt1"/>
              </a:solidFill>
              <a:latin typeface="Calibri"/>
              <a:ea typeface="Calibri"/>
              <a:cs typeface="Calibri"/>
              <a:sym typeface="Calibri"/>
            </a:endParaRPr>
          </a:p>
        </p:txBody>
      </p:sp>
      <p:sp>
        <p:nvSpPr>
          <p:cNvPr id="153" name="Google Shape;153;p16"/>
          <p:cNvSpPr txBox="1"/>
          <p:nvPr/>
        </p:nvSpPr>
        <p:spPr>
          <a:xfrm>
            <a:off x="5257800" y="182880"/>
            <a:ext cx="2011800" cy="223200"/>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r>
              <a:rPr b="0" lang="en-GB" sz="850">
                <a:solidFill>
                  <a:srgbClr val="B7C3D0"/>
                </a:solidFill>
                <a:latin typeface="Arial"/>
                <a:ea typeface="Arial"/>
                <a:cs typeface="Arial"/>
                <a:sym typeface="Arial"/>
              </a:rPr>
              <a:t>Theme slide</a:t>
            </a:r>
            <a:endParaRPr/>
          </a:p>
        </p:txBody>
      </p:sp>
      <p:sp>
        <p:nvSpPr>
          <p:cNvPr id="154" name="Google Shape;154;p16"/>
          <p:cNvSpPr txBox="1"/>
          <p:nvPr/>
        </p:nvSpPr>
        <p:spPr>
          <a:xfrm>
            <a:off x="8577072" y="155448"/>
            <a:ext cx="292500" cy="246300"/>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b="1" lang="en-GB" sz="1000">
                <a:solidFill>
                  <a:srgbClr val="FFFFFF"/>
                </a:solidFill>
                <a:latin typeface="Arial"/>
                <a:ea typeface="Arial"/>
                <a:cs typeface="Arial"/>
                <a:sym typeface="Arial"/>
              </a:rPr>
              <a:t>06</a:t>
            </a:r>
            <a:endParaRPr/>
          </a:p>
        </p:txBody>
      </p:sp>
      <p:sp>
        <p:nvSpPr>
          <p:cNvPr id="155" name="Google Shape;155;p16"/>
          <p:cNvSpPr txBox="1"/>
          <p:nvPr/>
        </p:nvSpPr>
        <p:spPr>
          <a:xfrm>
            <a:off x="475488" y="877824"/>
            <a:ext cx="3749100" cy="3693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800">
                <a:solidFill>
                  <a:srgbClr val="08172E"/>
                </a:solidFill>
                <a:latin typeface="Arial"/>
                <a:ea typeface="Arial"/>
                <a:cs typeface="Arial"/>
                <a:sym typeface="Arial"/>
              </a:rPr>
              <a:t>Week </a:t>
            </a:r>
            <a:r>
              <a:rPr b="1" lang="en-GB" sz="1800">
                <a:solidFill>
                  <a:srgbClr val="08172E"/>
                </a:solidFill>
              </a:rPr>
              <a:t>W23</a:t>
            </a:r>
            <a:r>
              <a:rPr b="1" lang="en-GB" sz="1800">
                <a:solidFill>
                  <a:srgbClr val="08172E"/>
                </a:solidFill>
                <a:latin typeface="Arial"/>
                <a:ea typeface="Arial"/>
                <a:cs typeface="Arial"/>
                <a:sym typeface="Arial"/>
              </a:rPr>
              <a:t> market actuals</a:t>
            </a:r>
            <a:endParaRPr/>
          </a:p>
        </p:txBody>
      </p:sp>
      <p:sp>
        <p:nvSpPr>
          <p:cNvPr id="156" name="Google Shape;156;p16"/>
          <p:cNvSpPr txBox="1"/>
          <p:nvPr/>
        </p:nvSpPr>
        <p:spPr>
          <a:xfrm>
            <a:off x="475488" y="1188720"/>
            <a:ext cx="6492300" cy="2385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50">
                <a:solidFill>
                  <a:srgbClr val="56657D"/>
                </a:solidFill>
                <a:latin typeface="Arial"/>
                <a:ea typeface="Arial"/>
                <a:cs typeface="Arial"/>
                <a:sym typeface="Arial"/>
              </a:rPr>
              <a:t>Optimized for SPX, NDX, IWM, and cross-asset actuals with source discipline.</a:t>
            </a:r>
            <a:endParaRPr/>
          </a:p>
        </p:txBody>
      </p:sp>
      <p:graphicFrame>
        <p:nvGraphicFramePr>
          <p:cNvPr id="157" name="Google Shape;157;p16"/>
          <p:cNvGraphicFramePr/>
          <p:nvPr/>
        </p:nvGraphicFramePr>
        <p:xfrm>
          <a:off x="475495" y="1572768"/>
          <a:ext cx="3000000" cy="3000000"/>
        </p:xfrm>
        <a:graphic>
          <a:graphicData uri="http://schemas.openxmlformats.org/drawingml/2006/table">
            <a:tbl>
              <a:tblPr bandRow="1" firstRow="1">
                <a:noFill/>
                <a:tableStyleId>{6F8A4ED4-FCFA-469E-874F-6E732FB8C72B}</a:tableStyleId>
              </a:tblPr>
              <a:tblGrid>
                <a:gridCol w="1097275"/>
                <a:gridCol w="1040900"/>
                <a:gridCol w="1098800"/>
                <a:gridCol w="1069850"/>
                <a:gridCol w="1069850"/>
              </a:tblGrid>
              <a:tr h="628650">
                <a:tc>
                  <a:txBody>
                    <a:bodyPr/>
                    <a:lstStyle/>
                    <a:p>
                      <a:pPr indent="0" lvl="0" marL="0" marR="0" rtl="0" algn="ctr">
                        <a:spcBef>
                          <a:spcPts val="0"/>
                        </a:spcBef>
                        <a:spcAft>
                          <a:spcPts val="0"/>
                        </a:spcAft>
                        <a:buNone/>
                      </a:pPr>
                      <a:r>
                        <a:rPr b="1" lang="en-GB" sz="819" u="none" cap="none" strike="noStrike">
                          <a:solidFill>
                            <a:srgbClr val="FFFFFF"/>
                          </a:solidFill>
                          <a:latin typeface="Arial"/>
                          <a:ea typeface="Arial"/>
                          <a:cs typeface="Arial"/>
                          <a:sym typeface="Arial"/>
                        </a:rPr>
                        <a:t>Asset</a:t>
                      </a:r>
                      <a:endParaRPr/>
                    </a:p>
                  </a:txBody>
                  <a:tcPr marT="27425" marB="27425" marR="36575" marL="36575">
                    <a:solidFill>
                      <a:srgbClr val="08172E"/>
                    </a:solidFill>
                  </a:tcPr>
                </a:tc>
                <a:tc>
                  <a:txBody>
                    <a:bodyPr/>
                    <a:lstStyle/>
                    <a:p>
                      <a:pPr indent="0" lvl="0" marL="0" marR="0" rtl="0" algn="ctr">
                        <a:spcBef>
                          <a:spcPts val="0"/>
                        </a:spcBef>
                        <a:spcAft>
                          <a:spcPts val="0"/>
                        </a:spcAft>
                        <a:buNone/>
                      </a:pPr>
                      <a:r>
                        <a:rPr b="1" lang="en-GB" sz="819" u="none" cap="none" strike="noStrike">
                          <a:solidFill>
                            <a:srgbClr val="FFFFFF"/>
                          </a:solidFill>
                          <a:latin typeface="Arial"/>
                          <a:ea typeface="Arial"/>
                          <a:cs typeface="Arial"/>
                          <a:sym typeface="Arial"/>
                        </a:rPr>
                        <a:t>Prediction</a:t>
                      </a:r>
                      <a:endParaRPr/>
                    </a:p>
                  </a:txBody>
                  <a:tcPr marT="27425" marB="27425" marR="36575" marL="36575">
                    <a:solidFill>
                      <a:srgbClr val="08172E"/>
                    </a:solidFill>
                  </a:tcPr>
                </a:tc>
                <a:tc>
                  <a:txBody>
                    <a:bodyPr/>
                    <a:lstStyle/>
                    <a:p>
                      <a:pPr indent="0" lvl="0" marL="0" marR="0" rtl="0" algn="ctr">
                        <a:spcBef>
                          <a:spcPts val="0"/>
                        </a:spcBef>
                        <a:spcAft>
                          <a:spcPts val="0"/>
                        </a:spcAft>
                        <a:buNone/>
                      </a:pPr>
                      <a:r>
                        <a:rPr b="1" lang="en-GB" sz="819" u="none" cap="none" strike="noStrike">
                          <a:solidFill>
                            <a:srgbClr val="FFFFFF"/>
                          </a:solidFill>
                          <a:latin typeface="Arial"/>
                          <a:ea typeface="Arial"/>
                          <a:cs typeface="Arial"/>
                          <a:sym typeface="Arial"/>
                        </a:rPr>
                        <a:t>Actual</a:t>
                      </a:r>
                      <a:endParaRPr/>
                    </a:p>
                  </a:txBody>
                  <a:tcPr marT="27425" marB="27425" marR="36575" marL="36575">
                    <a:solidFill>
                      <a:srgbClr val="08172E"/>
                    </a:solidFill>
                  </a:tcPr>
                </a:tc>
                <a:tc>
                  <a:txBody>
                    <a:bodyPr/>
                    <a:lstStyle/>
                    <a:p>
                      <a:pPr indent="0" lvl="0" marL="0" marR="0" rtl="0" algn="ctr">
                        <a:spcBef>
                          <a:spcPts val="0"/>
                        </a:spcBef>
                        <a:spcAft>
                          <a:spcPts val="0"/>
                        </a:spcAft>
                        <a:buNone/>
                      </a:pPr>
                      <a:r>
                        <a:rPr b="1" lang="en-GB" sz="819" u="none" cap="none" strike="noStrike">
                          <a:solidFill>
                            <a:srgbClr val="FFFFFF"/>
                          </a:solidFill>
                          <a:latin typeface="Arial"/>
                          <a:ea typeface="Arial"/>
                          <a:cs typeface="Arial"/>
                          <a:sym typeface="Arial"/>
                        </a:rPr>
                        <a:t>Result</a:t>
                      </a:r>
                      <a:endParaRPr/>
                    </a:p>
                  </a:txBody>
                  <a:tcPr marT="27425" marB="27425" marR="36575" marL="36575">
                    <a:solidFill>
                      <a:srgbClr val="08172E"/>
                    </a:solidFill>
                  </a:tcPr>
                </a:tc>
                <a:tc>
                  <a:txBody>
                    <a:bodyPr/>
                    <a:lstStyle/>
                    <a:p>
                      <a:pPr indent="0" lvl="0" marL="0" marR="0" rtl="0" algn="ctr">
                        <a:spcBef>
                          <a:spcPts val="0"/>
                        </a:spcBef>
                        <a:spcAft>
                          <a:spcPts val="0"/>
                        </a:spcAft>
                        <a:buNone/>
                      </a:pPr>
                      <a:r>
                        <a:rPr b="1" lang="en-GB" sz="819" u="none" cap="none" strike="noStrike">
                          <a:solidFill>
                            <a:srgbClr val="FFFFFF"/>
                          </a:solidFill>
                          <a:latin typeface="Arial"/>
                          <a:ea typeface="Arial"/>
                          <a:cs typeface="Arial"/>
                          <a:sym typeface="Arial"/>
                        </a:rPr>
                        <a:t>Evidence</a:t>
                      </a:r>
                      <a:endParaRPr/>
                    </a:p>
                  </a:txBody>
                  <a:tcPr marT="27425" marB="27425" marR="36575" marL="36575">
                    <a:solidFill>
                      <a:srgbClr val="08172E"/>
                    </a:solidFill>
                  </a:tcPr>
                </a:tc>
              </a:tr>
              <a:tr h="628650">
                <a:tc>
                  <a:txBody>
                    <a:bodyPr/>
                    <a:lstStyle/>
                    <a:p>
                      <a:pPr indent="0" lvl="0" marL="0" marR="0" rtl="0" algn="l">
                        <a:spcBef>
                          <a:spcPts val="0"/>
                        </a:spcBef>
                        <a:spcAft>
                          <a:spcPts val="0"/>
                        </a:spcAft>
                        <a:buNone/>
                      </a:pPr>
                      <a:r>
                        <a:rPr b="0" lang="en-GB" sz="819" u="none" cap="none" strike="noStrike">
                          <a:solidFill>
                            <a:srgbClr val="1C2430"/>
                          </a:solidFill>
                          <a:latin typeface="Arial"/>
                          <a:ea typeface="Arial"/>
                          <a:cs typeface="Arial"/>
                          <a:sym typeface="Arial"/>
                        </a:rPr>
                        <a:t>SPX</a:t>
                      </a:r>
                      <a:endParaRPr/>
                    </a:p>
                  </a:txBody>
                  <a:tcPr marT="27425" marB="27425" marR="36575" marL="36575">
                    <a:solidFill>
                      <a:srgbClr val="FFFFFF"/>
                    </a:solidFill>
                  </a:tcPr>
                </a:tc>
                <a:tc>
                  <a:txBody>
                    <a:bodyPr/>
                    <a:lstStyle/>
                    <a:p>
                      <a:pPr indent="0" lvl="0" marL="0" marR="0" rtl="0" algn="l">
                        <a:spcBef>
                          <a:spcPts val="0"/>
                        </a:spcBef>
                        <a:spcAft>
                          <a:spcPts val="0"/>
                        </a:spcAft>
                        <a:buNone/>
                      </a:pPr>
                      <a:r>
                        <a:rPr lang="en-GB" sz="819">
                          <a:solidFill>
                            <a:srgbClr val="1C2430"/>
                          </a:solidFill>
                          <a:latin typeface="Arial"/>
                          <a:ea typeface="Arial"/>
                          <a:cs typeface="Arial"/>
                          <a:sym typeface="Arial"/>
                        </a:rPr>
                        <a:t>Down</a:t>
                      </a:r>
                      <a:endParaRPr/>
                    </a:p>
                  </a:txBody>
                  <a:tcPr marT="27425" marB="27425" marR="36575" marL="36575">
                    <a:solidFill>
                      <a:srgbClr val="FFFFFF"/>
                    </a:solidFill>
                  </a:tcPr>
                </a:tc>
                <a:tc>
                  <a:txBody>
                    <a:bodyPr/>
                    <a:lstStyle/>
                    <a:p>
                      <a:pPr indent="0" lvl="0" marL="0" marR="0" rtl="0" algn="l">
                        <a:spcBef>
                          <a:spcPts val="0"/>
                        </a:spcBef>
                        <a:spcAft>
                          <a:spcPts val="0"/>
                        </a:spcAft>
                        <a:buNone/>
                      </a:pPr>
                      <a:r>
                        <a:rPr lang="en-GB" sz="819">
                          <a:solidFill>
                            <a:srgbClr val="CC0000"/>
                          </a:solidFill>
                          <a:latin typeface="Arial"/>
                          <a:ea typeface="Arial"/>
                          <a:cs typeface="Arial"/>
                          <a:sym typeface="Arial"/>
                        </a:rPr>
                        <a:t>-1.40%</a:t>
                      </a:r>
                      <a:endParaRPr>
                        <a:solidFill>
                          <a:srgbClr val="CC0000"/>
                        </a:solidFill>
                      </a:endParaRPr>
                    </a:p>
                  </a:txBody>
                  <a:tcPr marT="27425" marB="27425" marR="36575" marL="36575">
                    <a:solidFill>
                      <a:srgbClr val="FFFFFF"/>
                    </a:solidFill>
                  </a:tcPr>
                </a:tc>
                <a:tc>
                  <a:txBody>
                    <a:bodyPr/>
                    <a:lstStyle/>
                    <a:p>
                      <a:pPr indent="0" lvl="0" marL="0" marR="0" rtl="0" algn="l">
                        <a:spcBef>
                          <a:spcPts val="0"/>
                        </a:spcBef>
                        <a:spcAft>
                          <a:spcPts val="0"/>
                        </a:spcAft>
                        <a:buNone/>
                      </a:pPr>
                      <a:r>
                        <a:rPr lang="en-GB" sz="819">
                          <a:solidFill>
                            <a:srgbClr val="6AA84F"/>
                          </a:solidFill>
                          <a:latin typeface="Arial"/>
                          <a:ea typeface="Arial"/>
                          <a:cs typeface="Arial"/>
                          <a:sym typeface="Arial"/>
                        </a:rPr>
                        <a:t>HIT</a:t>
                      </a:r>
                      <a:endParaRPr>
                        <a:solidFill>
                          <a:srgbClr val="6AA84F"/>
                        </a:solidFill>
                      </a:endParaRPr>
                    </a:p>
                  </a:txBody>
                  <a:tcPr marT="27425" marB="27425" marR="36575" marL="36575">
                    <a:solidFill>
                      <a:srgbClr val="FFFFFF"/>
                    </a:solidFill>
                  </a:tcPr>
                </a:tc>
                <a:tc>
                  <a:txBody>
                    <a:bodyPr/>
                    <a:lstStyle/>
                    <a:p>
                      <a:pPr indent="0" lvl="0" marL="0" marR="0" rtl="0" algn="l">
                        <a:spcBef>
                          <a:spcPts val="0"/>
                        </a:spcBef>
                        <a:spcAft>
                          <a:spcPts val="0"/>
                        </a:spcAft>
                        <a:buNone/>
                      </a:pPr>
                      <a:r>
                        <a:rPr b="0" lang="en-GB" sz="819" u="none" cap="none" strike="noStrike">
                          <a:solidFill>
                            <a:srgbClr val="1C2430"/>
                          </a:solidFill>
                          <a:latin typeface="Arial"/>
                          <a:ea typeface="Arial"/>
                          <a:cs typeface="Arial"/>
                          <a:sym typeface="Arial"/>
                        </a:rPr>
                        <a:t>Finviz 1W</a:t>
                      </a:r>
                      <a:endParaRPr/>
                    </a:p>
                  </a:txBody>
                  <a:tcPr marT="27425" marB="27425" marR="36575" marL="36575">
                    <a:solidFill>
                      <a:srgbClr val="FFFFFF"/>
                    </a:solidFill>
                  </a:tcPr>
                </a:tc>
              </a:tr>
              <a:tr h="628650">
                <a:tc>
                  <a:txBody>
                    <a:bodyPr/>
                    <a:lstStyle/>
                    <a:p>
                      <a:pPr indent="0" lvl="0" marL="0" marR="0" rtl="0" algn="l">
                        <a:spcBef>
                          <a:spcPts val="0"/>
                        </a:spcBef>
                        <a:spcAft>
                          <a:spcPts val="0"/>
                        </a:spcAft>
                        <a:buNone/>
                      </a:pPr>
                      <a:r>
                        <a:rPr b="0" lang="en-GB" sz="819" u="none" cap="none" strike="noStrike">
                          <a:solidFill>
                            <a:srgbClr val="1C2430"/>
                          </a:solidFill>
                          <a:latin typeface="Arial"/>
                          <a:ea typeface="Arial"/>
                          <a:cs typeface="Arial"/>
                          <a:sym typeface="Arial"/>
                        </a:rPr>
                        <a:t>NDX</a:t>
                      </a:r>
                      <a:endParaRPr/>
                    </a:p>
                  </a:txBody>
                  <a:tcPr marT="27425" marB="27425" marR="36575" marL="36575">
                    <a:solidFill>
                      <a:srgbClr val="F8FBFE"/>
                    </a:solidFill>
                  </a:tcPr>
                </a:tc>
                <a:tc>
                  <a:txBody>
                    <a:bodyPr/>
                    <a:lstStyle/>
                    <a:p>
                      <a:pPr indent="0" lvl="0" marL="0" marR="0" rtl="0" algn="l">
                        <a:spcBef>
                          <a:spcPts val="0"/>
                        </a:spcBef>
                        <a:spcAft>
                          <a:spcPts val="0"/>
                        </a:spcAft>
                        <a:buNone/>
                      </a:pPr>
                      <a:r>
                        <a:rPr lang="en-GB" sz="819">
                          <a:solidFill>
                            <a:srgbClr val="1C2430"/>
                          </a:solidFill>
                          <a:latin typeface="Arial"/>
                          <a:ea typeface="Arial"/>
                          <a:cs typeface="Arial"/>
                          <a:sym typeface="Arial"/>
                        </a:rPr>
                        <a:t>Down</a:t>
                      </a:r>
                      <a:endParaRPr/>
                    </a:p>
                  </a:txBody>
                  <a:tcPr marT="27425" marB="27425" marR="36575" marL="36575">
                    <a:solidFill>
                      <a:srgbClr val="F8FBFE"/>
                    </a:solidFill>
                  </a:tcPr>
                </a:tc>
                <a:tc>
                  <a:txBody>
                    <a:bodyPr/>
                    <a:lstStyle/>
                    <a:p>
                      <a:pPr indent="0" lvl="0" marL="0" marR="0" rtl="0" algn="l">
                        <a:spcBef>
                          <a:spcPts val="0"/>
                        </a:spcBef>
                        <a:spcAft>
                          <a:spcPts val="0"/>
                        </a:spcAft>
                        <a:buNone/>
                      </a:pPr>
                      <a:r>
                        <a:rPr lang="en-GB" sz="819">
                          <a:solidFill>
                            <a:srgbClr val="CC0000"/>
                          </a:solidFill>
                          <a:latin typeface="Arial"/>
                          <a:ea typeface="Arial"/>
                          <a:cs typeface="Arial"/>
                          <a:sym typeface="Arial"/>
                        </a:rPr>
                        <a:t>-1.19%</a:t>
                      </a:r>
                      <a:endParaRPr>
                        <a:solidFill>
                          <a:srgbClr val="CC0000"/>
                        </a:solidFill>
                      </a:endParaRPr>
                    </a:p>
                  </a:txBody>
                  <a:tcPr marT="27425" marB="27425" marR="36575" marL="36575">
                    <a:solidFill>
                      <a:srgbClr val="F8FBFE"/>
                    </a:solidFill>
                  </a:tcPr>
                </a:tc>
                <a:tc>
                  <a:txBody>
                    <a:bodyPr/>
                    <a:lstStyle/>
                    <a:p>
                      <a:pPr indent="0" lvl="0" marL="0" marR="0" rtl="0" algn="l">
                        <a:spcBef>
                          <a:spcPts val="0"/>
                        </a:spcBef>
                        <a:spcAft>
                          <a:spcPts val="0"/>
                        </a:spcAft>
                        <a:buNone/>
                      </a:pPr>
                      <a:r>
                        <a:rPr lang="en-GB" sz="819">
                          <a:solidFill>
                            <a:srgbClr val="6AA84F"/>
                          </a:solidFill>
                          <a:latin typeface="Arial"/>
                          <a:ea typeface="Arial"/>
                          <a:cs typeface="Arial"/>
                          <a:sym typeface="Arial"/>
                        </a:rPr>
                        <a:t>HIT</a:t>
                      </a:r>
                      <a:endParaRPr>
                        <a:solidFill>
                          <a:srgbClr val="6AA84F"/>
                        </a:solidFill>
                      </a:endParaRPr>
                    </a:p>
                  </a:txBody>
                  <a:tcPr marT="27425" marB="27425" marR="36575" marL="36575">
                    <a:solidFill>
                      <a:srgbClr val="F8FBFE"/>
                    </a:solidFill>
                  </a:tcPr>
                </a:tc>
                <a:tc>
                  <a:txBody>
                    <a:bodyPr/>
                    <a:lstStyle/>
                    <a:p>
                      <a:pPr indent="0" lvl="0" marL="0" marR="0" rtl="0" algn="l">
                        <a:spcBef>
                          <a:spcPts val="0"/>
                        </a:spcBef>
                        <a:spcAft>
                          <a:spcPts val="0"/>
                        </a:spcAft>
                        <a:buNone/>
                      </a:pPr>
                      <a:r>
                        <a:rPr b="0" lang="en-GB" sz="819" u="none" cap="none" strike="noStrike">
                          <a:solidFill>
                            <a:srgbClr val="1C2430"/>
                          </a:solidFill>
                          <a:latin typeface="Arial"/>
                          <a:ea typeface="Arial"/>
                          <a:cs typeface="Arial"/>
                          <a:sym typeface="Arial"/>
                        </a:rPr>
                        <a:t>Finviz 1W</a:t>
                      </a:r>
                      <a:endParaRPr/>
                    </a:p>
                  </a:txBody>
                  <a:tcPr marT="27425" marB="27425" marR="36575" marL="36575">
                    <a:solidFill>
                      <a:srgbClr val="F8FBFE"/>
                    </a:solidFill>
                  </a:tcPr>
                </a:tc>
              </a:tr>
              <a:tr h="628650">
                <a:tc>
                  <a:txBody>
                    <a:bodyPr/>
                    <a:lstStyle/>
                    <a:p>
                      <a:pPr indent="0" lvl="0" marL="0" marR="0" rtl="0" algn="l">
                        <a:spcBef>
                          <a:spcPts val="0"/>
                        </a:spcBef>
                        <a:spcAft>
                          <a:spcPts val="0"/>
                        </a:spcAft>
                        <a:buNone/>
                      </a:pPr>
                      <a:r>
                        <a:rPr b="0" lang="en-GB" sz="819" u="none" cap="none" strike="noStrike">
                          <a:solidFill>
                            <a:srgbClr val="1C2430"/>
                          </a:solidFill>
                          <a:latin typeface="Arial"/>
                          <a:ea typeface="Arial"/>
                          <a:cs typeface="Arial"/>
                          <a:sym typeface="Arial"/>
                        </a:rPr>
                        <a:t>IWM</a:t>
                      </a:r>
                      <a:endParaRPr/>
                    </a:p>
                  </a:txBody>
                  <a:tcPr marT="27425" marB="27425" marR="36575" marL="36575">
                    <a:solidFill>
                      <a:srgbClr val="FFFFFF"/>
                    </a:solidFill>
                  </a:tcPr>
                </a:tc>
                <a:tc>
                  <a:txBody>
                    <a:bodyPr/>
                    <a:lstStyle/>
                    <a:p>
                      <a:pPr indent="0" lvl="0" marL="0" marR="0" rtl="0" algn="l">
                        <a:spcBef>
                          <a:spcPts val="0"/>
                        </a:spcBef>
                        <a:spcAft>
                          <a:spcPts val="0"/>
                        </a:spcAft>
                        <a:buNone/>
                      </a:pPr>
                      <a:r>
                        <a:rPr lang="en-GB" sz="819">
                          <a:solidFill>
                            <a:srgbClr val="1C2430"/>
                          </a:solidFill>
                          <a:latin typeface="Arial"/>
                          <a:ea typeface="Arial"/>
                          <a:cs typeface="Arial"/>
                          <a:sym typeface="Arial"/>
                        </a:rPr>
                        <a:t>Down</a:t>
                      </a:r>
                      <a:endParaRPr/>
                    </a:p>
                  </a:txBody>
                  <a:tcPr marT="27425" marB="27425" marR="36575" marL="36575">
                    <a:solidFill>
                      <a:srgbClr val="FFFFFF"/>
                    </a:solidFill>
                  </a:tcPr>
                </a:tc>
                <a:tc>
                  <a:txBody>
                    <a:bodyPr/>
                    <a:lstStyle/>
                    <a:p>
                      <a:pPr indent="0" lvl="0" marL="0" marR="0" rtl="0" algn="l">
                        <a:spcBef>
                          <a:spcPts val="0"/>
                        </a:spcBef>
                        <a:spcAft>
                          <a:spcPts val="0"/>
                        </a:spcAft>
                        <a:buNone/>
                      </a:pPr>
                      <a:r>
                        <a:rPr lang="en-GB" sz="819">
                          <a:solidFill>
                            <a:srgbClr val="38761D"/>
                          </a:solidFill>
                          <a:latin typeface="Arial"/>
                          <a:ea typeface="Arial"/>
                          <a:cs typeface="Arial"/>
                          <a:sym typeface="Arial"/>
                        </a:rPr>
                        <a:t>+1.33%</a:t>
                      </a:r>
                      <a:endParaRPr>
                        <a:solidFill>
                          <a:srgbClr val="38761D"/>
                        </a:solidFill>
                      </a:endParaRPr>
                    </a:p>
                  </a:txBody>
                  <a:tcPr marT="27425" marB="27425" marR="36575" marL="36575">
                    <a:solidFill>
                      <a:srgbClr val="FFFFFF"/>
                    </a:solidFill>
                  </a:tcPr>
                </a:tc>
                <a:tc>
                  <a:txBody>
                    <a:bodyPr/>
                    <a:lstStyle/>
                    <a:p>
                      <a:pPr indent="0" lvl="0" marL="0" marR="0" rtl="0" algn="l">
                        <a:spcBef>
                          <a:spcPts val="0"/>
                        </a:spcBef>
                        <a:spcAft>
                          <a:spcPts val="0"/>
                        </a:spcAft>
                        <a:buNone/>
                      </a:pPr>
                      <a:r>
                        <a:rPr lang="en-GB" sz="819">
                          <a:solidFill>
                            <a:srgbClr val="990000"/>
                          </a:solidFill>
                          <a:latin typeface="Arial"/>
                          <a:ea typeface="Arial"/>
                          <a:cs typeface="Arial"/>
                          <a:sym typeface="Arial"/>
                        </a:rPr>
                        <a:t>MISS</a:t>
                      </a:r>
                      <a:endParaRPr>
                        <a:solidFill>
                          <a:srgbClr val="990000"/>
                        </a:solidFill>
                      </a:endParaRPr>
                    </a:p>
                  </a:txBody>
                  <a:tcPr marT="27425" marB="27425" marR="36575" marL="36575">
                    <a:solidFill>
                      <a:srgbClr val="FFFFFF"/>
                    </a:solidFill>
                  </a:tcPr>
                </a:tc>
                <a:tc>
                  <a:txBody>
                    <a:bodyPr/>
                    <a:lstStyle/>
                    <a:p>
                      <a:pPr indent="0" lvl="0" marL="0" marR="0" rtl="0" algn="l">
                        <a:spcBef>
                          <a:spcPts val="0"/>
                        </a:spcBef>
                        <a:spcAft>
                          <a:spcPts val="0"/>
                        </a:spcAft>
                        <a:buNone/>
                      </a:pPr>
                      <a:r>
                        <a:rPr b="0" lang="en-GB" sz="819" u="none" cap="none" strike="noStrike">
                          <a:solidFill>
                            <a:srgbClr val="1C2430"/>
                          </a:solidFill>
                          <a:latin typeface="Arial"/>
                          <a:ea typeface="Arial"/>
                          <a:cs typeface="Arial"/>
                          <a:sym typeface="Arial"/>
                        </a:rPr>
                        <a:t>Finviz 1W</a:t>
                      </a:r>
                      <a:endParaRPr/>
                    </a:p>
                  </a:txBody>
                  <a:tcPr marT="27425" marB="27425" marR="36575" marL="36575">
                    <a:solidFill>
                      <a:srgbClr val="FFFFFF"/>
                    </a:solidFill>
                  </a:tcPr>
                </a:tc>
              </a:tr>
            </a:tbl>
          </a:graphicData>
        </a:graphic>
      </p:graphicFrame>
      <p:sp>
        <p:nvSpPr>
          <p:cNvPr id="158" name="Google Shape;158;p16"/>
          <p:cNvSpPr/>
          <p:nvPr/>
        </p:nvSpPr>
        <p:spPr>
          <a:xfrm>
            <a:off x="6126480" y="1572768"/>
            <a:ext cx="1143000" cy="9144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 name="Google Shape;159;p16"/>
          <p:cNvSpPr txBox="1"/>
          <p:nvPr/>
        </p:nvSpPr>
        <p:spPr>
          <a:xfrm>
            <a:off x="6263640" y="1682495"/>
            <a:ext cx="8688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latin typeface="Arial"/>
                <a:ea typeface="Arial"/>
                <a:cs typeface="Arial"/>
                <a:sym typeface="Arial"/>
              </a:rPr>
              <a:t>HIT RATE</a:t>
            </a:r>
            <a:endParaRPr/>
          </a:p>
        </p:txBody>
      </p:sp>
      <p:sp>
        <p:nvSpPr>
          <p:cNvPr id="160" name="Google Shape;160;p16"/>
          <p:cNvSpPr txBox="1"/>
          <p:nvPr/>
        </p:nvSpPr>
        <p:spPr>
          <a:xfrm>
            <a:off x="6263640" y="1892807"/>
            <a:ext cx="5892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2000">
                <a:solidFill>
                  <a:srgbClr val="2FB344"/>
                </a:solidFill>
              </a:rPr>
              <a:t>2 </a:t>
            </a:r>
            <a:r>
              <a:rPr b="1" lang="en-GB" sz="2000">
                <a:solidFill>
                  <a:srgbClr val="2FB344"/>
                </a:solidFill>
                <a:latin typeface="Arial"/>
                <a:ea typeface="Arial"/>
                <a:cs typeface="Arial"/>
                <a:sym typeface="Arial"/>
              </a:rPr>
              <a:t>/</a:t>
            </a:r>
            <a:r>
              <a:rPr b="1" lang="en-GB" sz="2000">
                <a:solidFill>
                  <a:srgbClr val="2FB344"/>
                </a:solidFill>
              </a:rPr>
              <a:t> 3</a:t>
            </a:r>
            <a:endParaRPr/>
          </a:p>
        </p:txBody>
      </p:sp>
      <p:sp>
        <p:nvSpPr>
          <p:cNvPr id="161" name="Google Shape;161;p16"/>
          <p:cNvSpPr/>
          <p:nvPr/>
        </p:nvSpPr>
        <p:spPr>
          <a:xfrm>
            <a:off x="7406640" y="1572768"/>
            <a:ext cx="1143000" cy="9144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2" name="Google Shape;162;p16"/>
          <p:cNvSpPr txBox="1"/>
          <p:nvPr/>
        </p:nvSpPr>
        <p:spPr>
          <a:xfrm>
            <a:off x="7543800" y="1682495"/>
            <a:ext cx="8688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latin typeface="Arial"/>
                <a:ea typeface="Arial"/>
                <a:cs typeface="Arial"/>
                <a:sym typeface="Arial"/>
              </a:rPr>
              <a:t>LARGEST MISS</a:t>
            </a:r>
            <a:endParaRPr/>
          </a:p>
        </p:txBody>
      </p:sp>
      <p:sp>
        <p:nvSpPr>
          <p:cNvPr id="163" name="Google Shape;163;p16"/>
          <p:cNvSpPr txBox="1"/>
          <p:nvPr/>
        </p:nvSpPr>
        <p:spPr>
          <a:xfrm>
            <a:off x="7434000" y="1847075"/>
            <a:ext cx="1143000" cy="9543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chemeClr val="dk1"/>
              </a:buClr>
              <a:buSzPts val="1100"/>
              <a:buFont typeface="Arial"/>
              <a:buNone/>
            </a:pPr>
            <a:r>
              <a:rPr b="1" lang="en-GB" sz="1800">
                <a:solidFill>
                  <a:srgbClr val="D64545"/>
                </a:solidFill>
              </a:rPr>
              <a:t>IWM</a:t>
            </a:r>
            <a:endParaRPr b="1" sz="1800">
              <a:solidFill>
                <a:srgbClr val="D64545"/>
              </a:solidFill>
            </a:endParaRPr>
          </a:p>
          <a:p>
            <a:pPr indent="0" lvl="0" marL="0" rtl="0" algn="l">
              <a:spcBef>
                <a:spcPts val="0"/>
              </a:spcBef>
              <a:spcAft>
                <a:spcPts val="0"/>
              </a:spcAft>
              <a:buSzPts val="1100"/>
              <a:buNone/>
            </a:pPr>
            <a:r>
              <a:rPr b="1" lang="en-GB" sz="1800">
                <a:solidFill>
                  <a:srgbClr val="D64545"/>
                </a:solidFill>
              </a:rPr>
              <a:t>(+1.33%)</a:t>
            </a:r>
            <a:endParaRPr b="1" sz="1800">
              <a:solidFill>
                <a:srgbClr val="D64545"/>
              </a:solidFill>
            </a:endParaRPr>
          </a:p>
          <a:p>
            <a:pPr indent="0" lvl="0" marL="0" marR="0" rtl="0" algn="l">
              <a:spcBef>
                <a:spcPts val="0"/>
              </a:spcBef>
              <a:spcAft>
                <a:spcPts val="0"/>
              </a:spcAft>
              <a:buNone/>
            </a:pPr>
            <a:r>
              <a:t/>
            </a:r>
            <a:endParaRPr b="1" sz="2000">
              <a:solidFill>
                <a:srgbClr val="D64545"/>
              </a:solidFill>
            </a:endParaRPr>
          </a:p>
        </p:txBody>
      </p:sp>
      <p:sp>
        <p:nvSpPr>
          <p:cNvPr id="164" name="Google Shape;164;p16"/>
          <p:cNvSpPr/>
          <p:nvPr/>
        </p:nvSpPr>
        <p:spPr>
          <a:xfrm>
            <a:off x="6126480" y="2788920"/>
            <a:ext cx="2423100" cy="12984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 name="Google Shape;165;p16"/>
          <p:cNvSpPr/>
          <p:nvPr/>
        </p:nvSpPr>
        <p:spPr>
          <a:xfrm>
            <a:off x="6126480" y="2788920"/>
            <a:ext cx="73200" cy="1298400"/>
          </a:xfrm>
          <a:prstGeom prst="rect">
            <a:avLst/>
          </a:prstGeom>
          <a:solidFill>
            <a:srgbClr val="00B8A9"/>
          </a:solidFill>
          <a:ln cap="flat" cmpd="sng" w="12700">
            <a:solidFill>
              <a:srgbClr val="00B8A9"/>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 name="Google Shape;166;p16"/>
          <p:cNvSpPr txBox="1"/>
          <p:nvPr/>
        </p:nvSpPr>
        <p:spPr>
          <a:xfrm>
            <a:off x="6263640" y="2801385"/>
            <a:ext cx="21945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150">
                <a:solidFill>
                  <a:srgbClr val="08172E"/>
                </a:solidFill>
                <a:latin typeface="Arial"/>
                <a:ea typeface="Arial"/>
                <a:cs typeface="Arial"/>
                <a:sym typeface="Arial"/>
              </a:rPr>
              <a:t>Source line</a:t>
            </a:r>
            <a:endParaRPr/>
          </a:p>
        </p:txBody>
      </p:sp>
      <p:sp>
        <p:nvSpPr>
          <p:cNvPr id="167" name="Google Shape;167;p16"/>
          <p:cNvSpPr txBox="1"/>
          <p:nvPr/>
        </p:nvSpPr>
        <p:spPr>
          <a:xfrm>
            <a:off x="6263650" y="3070775"/>
            <a:ext cx="2194500" cy="1265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00">
                <a:solidFill>
                  <a:srgbClr val="56657D"/>
                </a:solidFill>
                <a:latin typeface="Arial"/>
                <a:ea typeface="Arial"/>
                <a:cs typeface="Arial"/>
                <a:sym typeface="Arial"/>
              </a:rPr>
              <a:t>Primary source: Finviz 1W screenshot</a:t>
            </a:r>
            <a:endParaRPr b="0" sz="900">
              <a:solidFill>
                <a:srgbClr val="56657D"/>
              </a:solidFill>
              <a:latin typeface="Arial"/>
              <a:ea typeface="Arial"/>
              <a:cs typeface="Arial"/>
              <a:sym typeface="Arial"/>
            </a:endParaRPr>
          </a:p>
          <a:p>
            <a:pPr indent="0" lvl="0" marL="0" marR="0" rtl="0" algn="l">
              <a:spcBef>
                <a:spcPts val="0"/>
              </a:spcBef>
              <a:spcAft>
                <a:spcPts val="0"/>
              </a:spcAft>
              <a:buNone/>
            </a:pPr>
            <a:r>
              <a:rPr b="1" lang="en-GB" sz="900">
                <a:solidFill>
                  <a:srgbClr val="56657D"/>
                </a:solidFill>
              </a:rPr>
              <a:t>Reference Log: </a:t>
            </a:r>
            <a:r>
              <a:rPr lang="en-GB" sz="900">
                <a:solidFill>
                  <a:srgbClr val="56657D"/>
                </a:solidFill>
              </a:rPr>
              <a:t>prediction_2026-W23_team2.md</a:t>
            </a:r>
            <a:br>
              <a:rPr b="0" lang="en-GB" sz="900">
                <a:solidFill>
                  <a:srgbClr val="56657D"/>
                </a:solidFill>
                <a:latin typeface="Arial"/>
                <a:ea typeface="Arial"/>
                <a:cs typeface="Arial"/>
                <a:sym typeface="Arial"/>
              </a:rPr>
            </a:br>
            <a:r>
              <a:rPr b="1" lang="en-GB" sz="900">
                <a:solidFill>
                  <a:srgbClr val="56657D"/>
                </a:solidFill>
              </a:rPr>
              <a:t>Repository path:</a:t>
            </a:r>
            <a:br>
              <a:rPr b="1" lang="en-GB" sz="950">
                <a:solidFill>
                  <a:srgbClr val="94A3B8"/>
                </a:solidFill>
              </a:rPr>
            </a:br>
            <a:r>
              <a:rPr lang="en-GB" sz="900">
                <a:solidFill>
                  <a:srgbClr val="56657D"/>
                </a:solidFill>
              </a:rPr>
              <a:t>.github/workflows/r6_data_pipeline.yml </a:t>
            </a:r>
            <a:endParaRPr sz="900">
              <a:solidFill>
                <a:srgbClr val="56657D"/>
              </a:solidFill>
            </a:endParaRPr>
          </a:p>
          <a:p>
            <a:pPr indent="0" lvl="0" marL="0" rtl="0" algn="l">
              <a:lnSpc>
                <a:spcPct val="180000"/>
              </a:lnSpc>
              <a:spcBef>
                <a:spcPts val="0"/>
              </a:spcBef>
              <a:spcAft>
                <a:spcPts val="0"/>
              </a:spcAft>
              <a:buSzPts val="1100"/>
              <a:buNone/>
            </a:pPr>
            <a:r>
              <a:rPr b="1" lang="en-GB" sz="900">
                <a:solidFill>
                  <a:srgbClr val="56657D"/>
                </a:solidFill>
              </a:rPr>
              <a:t>Artifact: </a:t>
            </a:r>
            <a:r>
              <a:rPr lang="en-GB" sz="900">
                <a:solidFill>
                  <a:srgbClr val="56657D"/>
                </a:solidFill>
              </a:rPr>
              <a:t>market_snapshot_W24.json</a:t>
            </a:r>
            <a:endParaRPr sz="800">
              <a:solidFill>
                <a:srgbClr val="DEFF9A"/>
              </a:solidFill>
              <a:highlight>
                <a:srgbClr val="0F172A"/>
              </a:highlight>
              <a:latin typeface="Courier New"/>
              <a:ea typeface="Courier New"/>
              <a:cs typeface="Courier New"/>
              <a:sym typeface="Courier New"/>
            </a:endParaRPr>
          </a:p>
          <a:p>
            <a:pPr indent="0" lvl="0" marL="0" marR="0" rtl="0" algn="l">
              <a:spcBef>
                <a:spcPts val="600"/>
              </a:spcBef>
              <a:spcAft>
                <a:spcPts val="0"/>
              </a:spcAft>
              <a:buNone/>
            </a:pPr>
            <a:r>
              <a:t/>
            </a:r>
            <a:endParaRPr sz="1000">
              <a:solidFill>
                <a:srgbClr val="56657D"/>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17"/>
          <p:cNvPicPr preferRelativeResize="0"/>
          <p:nvPr/>
        </p:nvPicPr>
        <p:blipFill>
          <a:blip r:embed="rId3">
            <a:alphaModFix/>
          </a:blip>
          <a:stretch>
            <a:fillRect/>
          </a:stretch>
        </p:blipFill>
        <p:spPr>
          <a:xfrm>
            <a:off x="0" y="42875"/>
            <a:ext cx="9144000" cy="514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R3</a:t>
            </a:r>
            <a:endParaRPr/>
          </a:p>
        </p:txBody>
      </p:sp>
      <p:sp>
        <p:nvSpPr>
          <p:cNvPr id="178" name="Google Shape;178;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9" name="Google Shape;179;p18" title="ppt.png"/>
          <p:cNvPicPr preferRelativeResize="0"/>
          <p:nvPr/>
        </p:nvPicPr>
        <p:blipFill>
          <a:blip r:embed="rId3">
            <a:alphaModFix/>
          </a:blip>
          <a:stretch>
            <a:fillRect/>
          </a:stretch>
        </p:blipFill>
        <p:spPr>
          <a:xfrm>
            <a:off x="2429" y="0"/>
            <a:ext cx="9139139" cy="51434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3" name="Shape 183"/>
        <p:cNvGrpSpPr/>
        <p:nvPr/>
      </p:nvGrpSpPr>
      <p:grpSpPr>
        <a:xfrm>
          <a:off x="0" y="0"/>
          <a:ext cx="0" cy="0"/>
          <a:chOff x="0" y="0"/>
          <a:chExt cx="0" cy="0"/>
        </a:xfrm>
      </p:grpSpPr>
      <p:grpSp>
        <p:nvGrpSpPr>
          <p:cNvPr id="184" name="Google Shape;184;p19"/>
          <p:cNvGrpSpPr/>
          <p:nvPr/>
        </p:nvGrpSpPr>
        <p:grpSpPr>
          <a:xfrm>
            <a:off x="0" y="0"/>
            <a:ext cx="9144000" cy="647700"/>
            <a:chOff x="0" y="0"/>
            <a:chExt cx="9144000" cy="647700"/>
          </a:xfrm>
        </p:grpSpPr>
        <p:sp>
          <p:nvSpPr>
            <p:cNvPr id="185" name="Google Shape;185;p19"/>
            <p:cNvSpPr/>
            <p:nvPr/>
          </p:nvSpPr>
          <p:spPr>
            <a:xfrm>
              <a:off x="0" y="0"/>
              <a:ext cx="9144000" cy="609600"/>
            </a:xfrm>
            <a:prstGeom prst="rect">
              <a:avLst/>
            </a:prstGeom>
            <a:solidFill>
              <a:srgbClr val="0F172A"/>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6" name="Google Shape;186;p19"/>
            <p:cNvSpPr/>
            <p:nvPr/>
          </p:nvSpPr>
          <p:spPr>
            <a:xfrm>
              <a:off x="0" y="609600"/>
              <a:ext cx="9144000" cy="38100"/>
            </a:xfrm>
            <a:prstGeom prst="rect">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19"/>
            <p:cNvSpPr txBox="1"/>
            <p:nvPr/>
          </p:nvSpPr>
          <p:spPr>
            <a:xfrm>
              <a:off x="381000" y="142875"/>
              <a:ext cx="2857500" cy="324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1600">
                  <a:solidFill>
                    <a:srgbClr val="FFFFFF"/>
                  </a:solidFill>
                  <a:latin typeface="Inter"/>
                  <a:ea typeface="Inter"/>
                  <a:cs typeface="Inter"/>
                  <a:sym typeface="Inter"/>
                </a:rPr>
                <a:t>R4 Macro Lead</a:t>
              </a:r>
              <a:endParaRPr b="1" sz="1600">
                <a:solidFill>
                  <a:srgbClr val="FFFFFF"/>
                </a:solidFill>
                <a:latin typeface="Inter"/>
                <a:ea typeface="Inter"/>
                <a:cs typeface="Inter"/>
                <a:sym typeface="Inter"/>
              </a:endParaRPr>
            </a:p>
          </p:txBody>
        </p:sp>
      </p:grpSp>
      <p:grpSp>
        <p:nvGrpSpPr>
          <p:cNvPr id="188" name="Google Shape;188;p19"/>
          <p:cNvGrpSpPr/>
          <p:nvPr/>
        </p:nvGrpSpPr>
        <p:grpSpPr>
          <a:xfrm>
            <a:off x="476250" y="857250"/>
            <a:ext cx="8191500" cy="609600"/>
            <a:chOff x="476250" y="857250"/>
            <a:chExt cx="8191500" cy="609600"/>
          </a:xfrm>
        </p:grpSpPr>
        <p:sp>
          <p:nvSpPr>
            <p:cNvPr id="189" name="Google Shape;189;p19"/>
            <p:cNvSpPr txBox="1"/>
            <p:nvPr/>
          </p:nvSpPr>
          <p:spPr>
            <a:xfrm>
              <a:off x="476250" y="1238250"/>
              <a:ext cx="81915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1000">
                <a:solidFill>
                  <a:srgbClr val="64748B"/>
                </a:solidFill>
                <a:latin typeface="Inter"/>
                <a:ea typeface="Inter"/>
                <a:cs typeface="Inter"/>
                <a:sym typeface="Inter"/>
              </a:endParaRPr>
            </a:p>
          </p:txBody>
        </p:sp>
        <p:sp>
          <p:nvSpPr>
            <p:cNvPr id="190" name="Google Shape;190;p19"/>
            <p:cNvSpPr txBox="1"/>
            <p:nvPr/>
          </p:nvSpPr>
          <p:spPr>
            <a:xfrm>
              <a:off x="476250" y="857250"/>
              <a:ext cx="81915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GB" sz="2800">
                  <a:solidFill>
                    <a:srgbClr val="0F172A"/>
                  </a:solidFill>
                  <a:latin typeface="Inter ExtraBold"/>
                  <a:ea typeface="Inter ExtraBold"/>
                  <a:cs typeface="Inter ExtraBold"/>
                  <a:sym typeface="Inter ExtraBold"/>
                </a:rPr>
                <a:t>Macro Event Status</a:t>
              </a:r>
              <a:endParaRPr b="0" sz="2800">
                <a:solidFill>
                  <a:srgbClr val="0F172A"/>
                </a:solidFill>
                <a:latin typeface="Inter ExtraBold"/>
                <a:ea typeface="Inter ExtraBold"/>
                <a:cs typeface="Inter ExtraBold"/>
                <a:sym typeface="Inter ExtraBold"/>
              </a:endParaRPr>
            </a:p>
          </p:txBody>
        </p:sp>
      </p:grpSp>
      <p:grpSp>
        <p:nvGrpSpPr>
          <p:cNvPr id="191" name="Google Shape;191;p19"/>
          <p:cNvGrpSpPr/>
          <p:nvPr/>
        </p:nvGrpSpPr>
        <p:grpSpPr>
          <a:xfrm>
            <a:off x="285750" y="1524000"/>
            <a:ext cx="4191000" cy="1428900"/>
            <a:chOff x="285750" y="1524000"/>
            <a:chExt cx="4191000" cy="1428900"/>
          </a:xfrm>
        </p:grpSpPr>
        <p:sp>
          <p:nvSpPr>
            <p:cNvPr id="192" name="Google Shape;192;p19"/>
            <p:cNvSpPr/>
            <p:nvPr/>
          </p:nvSpPr>
          <p:spPr>
            <a:xfrm>
              <a:off x="285750" y="1524000"/>
              <a:ext cx="4191000" cy="1428900"/>
            </a:xfrm>
            <a:prstGeom prst="roundRect">
              <a:avLst>
                <a:gd fmla="val 10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19"/>
            <p:cNvSpPr/>
            <p:nvPr/>
          </p:nvSpPr>
          <p:spPr>
            <a:xfrm>
              <a:off x="3381375" y="1666875"/>
              <a:ext cx="952500" cy="228600"/>
            </a:xfrm>
            <a:prstGeom prst="roundRect">
              <a:avLst>
                <a:gd fmla="val 50000" name="adj"/>
              </a:avLst>
            </a:prstGeom>
            <a:solidFill>
              <a:srgbClr val="DCFCE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19"/>
            <p:cNvSpPr txBox="1"/>
            <p:nvPr/>
          </p:nvSpPr>
          <p:spPr>
            <a:xfrm>
              <a:off x="3381375" y="1666875"/>
              <a:ext cx="9525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00">
                  <a:solidFill>
                    <a:srgbClr val="166534"/>
                  </a:solidFill>
                  <a:latin typeface="Inter"/>
                  <a:ea typeface="Inter"/>
                  <a:cs typeface="Inter"/>
                  <a:sym typeface="Inter"/>
                </a:rPr>
                <a:t>CONFIRMED</a:t>
              </a:r>
              <a:endParaRPr b="1" sz="800">
                <a:solidFill>
                  <a:srgbClr val="166534"/>
                </a:solidFill>
                <a:latin typeface="Inter"/>
                <a:ea typeface="Inter"/>
                <a:cs typeface="Inter"/>
                <a:sym typeface="Inter"/>
              </a:endParaRPr>
            </a:p>
          </p:txBody>
        </p:sp>
        <p:sp>
          <p:nvSpPr>
            <p:cNvPr id="195" name="Google Shape;195;p19"/>
            <p:cNvSpPr txBox="1"/>
            <p:nvPr/>
          </p:nvSpPr>
          <p:spPr>
            <a:xfrm>
              <a:off x="476250" y="1638300"/>
              <a:ext cx="28575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1400">
                  <a:solidFill>
                    <a:srgbClr val="0F172A"/>
                  </a:solidFill>
                  <a:latin typeface="Inter"/>
                  <a:ea typeface="Inter"/>
                  <a:cs typeface="Inter"/>
                  <a:sym typeface="Inter"/>
                </a:rPr>
                <a:t>Inflation / CPI Result</a:t>
              </a:r>
              <a:endParaRPr b="1" sz="1400">
                <a:solidFill>
                  <a:srgbClr val="0F172A"/>
                </a:solidFill>
                <a:latin typeface="Inter"/>
                <a:ea typeface="Inter"/>
                <a:cs typeface="Inter"/>
                <a:sym typeface="Inter"/>
              </a:endParaRPr>
            </a:p>
          </p:txBody>
        </p:sp>
        <p:sp>
          <p:nvSpPr>
            <p:cNvPr id="196" name="Google Shape;196;p19"/>
            <p:cNvSpPr txBox="1"/>
            <p:nvPr/>
          </p:nvSpPr>
          <p:spPr>
            <a:xfrm>
              <a:off x="476250" y="2047875"/>
              <a:ext cx="38100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GB" sz="1100">
                  <a:solidFill>
                    <a:srgbClr val="1E293B"/>
                  </a:solidFill>
                  <a:latin typeface="Inter"/>
                  <a:ea typeface="Inter"/>
                  <a:cs typeface="Inter"/>
                  <a:sym typeface="Inter"/>
                </a:rPr>
                <a:t>Headline CPI:</a:t>
              </a:r>
              <a:r>
                <a:rPr lang="en-GB" sz="1100">
                  <a:solidFill>
                    <a:srgbClr val="475569"/>
                  </a:solidFill>
                  <a:latin typeface="Inter"/>
                  <a:ea typeface="Inter"/>
                  <a:cs typeface="Inter"/>
                  <a:sym typeface="Inter"/>
                </a:rPr>
                <a:t> +0.5% MoM (4.2% YoY)</a:t>
              </a:r>
              <a:endParaRPr sz="1100">
                <a:solidFill>
                  <a:srgbClr val="1E293B"/>
                </a:solidFill>
                <a:latin typeface="Inter"/>
                <a:ea typeface="Inter"/>
                <a:cs typeface="Inter"/>
                <a:sym typeface="Inter"/>
              </a:endParaRPr>
            </a:p>
            <a:p>
              <a:pPr indent="0" lvl="0" marL="0" rtl="0" algn="l">
                <a:spcBef>
                  <a:spcPts val="450"/>
                </a:spcBef>
                <a:spcAft>
                  <a:spcPts val="0"/>
                </a:spcAft>
                <a:buNone/>
              </a:pPr>
              <a:r>
                <a:rPr b="1" lang="en-GB" sz="1100">
                  <a:solidFill>
                    <a:srgbClr val="1E293B"/>
                  </a:solidFill>
                  <a:latin typeface="Inter"/>
                  <a:ea typeface="Inter"/>
                  <a:cs typeface="Inter"/>
                  <a:sym typeface="Inter"/>
                </a:rPr>
                <a:t>Core PPI:</a:t>
              </a:r>
              <a:r>
                <a:rPr lang="en-GB" sz="1100">
                  <a:solidFill>
                    <a:srgbClr val="475569"/>
                  </a:solidFill>
                  <a:latin typeface="Inter"/>
                  <a:ea typeface="Inter"/>
                  <a:cs typeface="Inter"/>
                  <a:sym typeface="Inter"/>
                </a:rPr>
                <a:t> Softer than forecast</a:t>
              </a:r>
              <a:endParaRPr sz="1100">
                <a:solidFill>
                  <a:srgbClr val="1E293B"/>
                </a:solidFill>
                <a:latin typeface="Inter"/>
                <a:ea typeface="Inter"/>
                <a:cs typeface="Inter"/>
                <a:sym typeface="Inter"/>
              </a:endParaRPr>
            </a:p>
          </p:txBody>
        </p:sp>
      </p:grpSp>
      <p:grpSp>
        <p:nvGrpSpPr>
          <p:cNvPr id="197" name="Google Shape;197;p19"/>
          <p:cNvGrpSpPr/>
          <p:nvPr/>
        </p:nvGrpSpPr>
        <p:grpSpPr>
          <a:xfrm>
            <a:off x="4667250" y="1524000"/>
            <a:ext cx="4191000" cy="1428900"/>
            <a:chOff x="4667250" y="1524000"/>
            <a:chExt cx="4191000" cy="1428900"/>
          </a:xfrm>
        </p:grpSpPr>
        <p:sp>
          <p:nvSpPr>
            <p:cNvPr id="198" name="Google Shape;198;p19"/>
            <p:cNvSpPr/>
            <p:nvPr/>
          </p:nvSpPr>
          <p:spPr>
            <a:xfrm>
              <a:off x="4667250" y="1524000"/>
              <a:ext cx="4191000" cy="1428900"/>
            </a:xfrm>
            <a:prstGeom prst="roundRect">
              <a:avLst>
                <a:gd fmla="val 10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 name="Google Shape;199;p19"/>
            <p:cNvSpPr/>
            <p:nvPr/>
          </p:nvSpPr>
          <p:spPr>
            <a:xfrm>
              <a:off x="7762875" y="1666875"/>
              <a:ext cx="952500" cy="228600"/>
            </a:xfrm>
            <a:prstGeom prst="roundRect">
              <a:avLst>
                <a:gd fmla="val 50000" name="adj"/>
              </a:avLst>
            </a:prstGeom>
            <a:solidFill>
              <a:srgbClr val="FEF3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19"/>
            <p:cNvSpPr txBox="1"/>
            <p:nvPr/>
          </p:nvSpPr>
          <p:spPr>
            <a:xfrm>
              <a:off x="7762875" y="1666875"/>
              <a:ext cx="9525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00">
                  <a:solidFill>
                    <a:srgbClr val="92400E"/>
                  </a:solidFill>
                  <a:latin typeface="Inter"/>
                  <a:ea typeface="Inter"/>
                  <a:cs typeface="Inter"/>
                  <a:sym typeface="Inter"/>
                </a:rPr>
                <a:t>UNVERIFIED</a:t>
              </a:r>
              <a:endParaRPr b="1" sz="800">
                <a:solidFill>
                  <a:srgbClr val="92400E"/>
                </a:solidFill>
                <a:latin typeface="Inter"/>
                <a:ea typeface="Inter"/>
                <a:cs typeface="Inter"/>
                <a:sym typeface="Inter"/>
              </a:endParaRPr>
            </a:p>
          </p:txBody>
        </p:sp>
        <p:sp>
          <p:nvSpPr>
            <p:cNvPr id="201" name="Google Shape;201;p19"/>
            <p:cNvSpPr txBox="1"/>
            <p:nvPr/>
          </p:nvSpPr>
          <p:spPr>
            <a:xfrm>
              <a:off x="4857750" y="1638300"/>
              <a:ext cx="28575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1400">
                  <a:solidFill>
                    <a:srgbClr val="0F172A"/>
                  </a:solidFill>
                  <a:latin typeface="Inter"/>
                  <a:ea typeface="Inter"/>
                  <a:cs typeface="Inter"/>
                  <a:sym typeface="Inter"/>
                </a:rPr>
                <a:t>Iran / Geopolitical Risk</a:t>
              </a:r>
              <a:endParaRPr b="1" sz="1400">
                <a:solidFill>
                  <a:srgbClr val="0F172A"/>
                </a:solidFill>
                <a:latin typeface="Inter"/>
                <a:ea typeface="Inter"/>
                <a:cs typeface="Inter"/>
                <a:sym typeface="Inter"/>
              </a:endParaRPr>
            </a:p>
          </p:txBody>
        </p:sp>
        <p:sp>
          <p:nvSpPr>
            <p:cNvPr id="202" name="Google Shape;202;p19"/>
            <p:cNvSpPr txBox="1"/>
            <p:nvPr/>
          </p:nvSpPr>
          <p:spPr>
            <a:xfrm>
              <a:off x="4857750" y="2047875"/>
              <a:ext cx="38100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GB" sz="1100">
                  <a:solidFill>
                    <a:srgbClr val="1E293B"/>
                  </a:solidFill>
                  <a:latin typeface="Inter"/>
                  <a:ea typeface="Inter"/>
                  <a:cs typeface="Inter"/>
                  <a:sym typeface="Inter"/>
                </a:rPr>
                <a:t>Event:</a:t>
              </a:r>
              <a:r>
                <a:rPr lang="en-GB" sz="1100">
                  <a:solidFill>
                    <a:srgbClr val="475569"/>
                  </a:solidFill>
                  <a:latin typeface="Inter"/>
                  <a:ea typeface="Inter"/>
                  <a:cs typeface="Inter"/>
                  <a:sym typeface="Inter"/>
                </a:rPr>
                <a:t> U.S.-Iran peace deal looms / Hormuz risk</a:t>
              </a:r>
              <a:endParaRPr sz="1100">
                <a:solidFill>
                  <a:srgbClr val="1E293B"/>
                </a:solidFill>
                <a:latin typeface="Inter"/>
                <a:ea typeface="Inter"/>
                <a:cs typeface="Inter"/>
                <a:sym typeface="Inter"/>
              </a:endParaRPr>
            </a:p>
            <a:p>
              <a:pPr indent="0" lvl="0" marL="0" rtl="0" algn="l">
                <a:spcBef>
                  <a:spcPts val="450"/>
                </a:spcBef>
                <a:spcAft>
                  <a:spcPts val="0"/>
                </a:spcAft>
                <a:buNone/>
              </a:pPr>
              <a:r>
                <a:rPr b="1" lang="en-GB" sz="1100">
                  <a:solidFill>
                    <a:srgbClr val="1E293B"/>
                  </a:solidFill>
                  <a:latin typeface="Inter"/>
                  <a:ea typeface="Inter"/>
                  <a:cs typeface="Inter"/>
                  <a:sym typeface="Inter"/>
                </a:rPr>
                <a:t>Impact:</a:t>
              </a:r>
              <a:r>
                <a:rPr lang="en-GB" sz="1100">
                  <a:solidFill>
                    <a:srgbClr val="475569"/>
                  </a:solidFill>
                  <a:latin typeface="Inter"/>
                  <a:ea typeface="Inter"/>
                  <a:cs typeface="Inter"/>
                  <a:sym typeface="Inter"/>
                </a:rPr>
                <a:t> WTI Crude crashed 3.23%</a:t>
              </a:r>
              <a:endParaRPr sz="1100">
                <a:solidFill>
                  <a:srgbClr val="1E293B"/>
                </a:solidFill>
                <a:latin typeface="Inter"/>
                <a:ea typeface="Inter"/>
                <a:cs typeface="Inter"/>
                <a:sym typeface="Inter"/>
              </a:endParaRPr>
            </a:p>
          </p:txBody>
        </p:sp>
      </p:grpSp>
      <p:grpSp>
        <p:nvGrpSpPr>
          <p:cNvPr id="203" name="Google Shape;203;p19"/>
          <p:cNvGrpSpPr/>
          <p:nvPr/>
        </p:nvGrpSpPr>
        <p:grpSpPr>
          <a:xfrm>
            <a:off x="285750" y="3143250"/>
            <a:ext cx="4191000" cy="1428900"/>
            <a:chOff x="285750" y="3143250"/>
            <a:chExt cx="4191000" cy="1428900"/>
          </a:xfrm>
        </p:grpSpPr>
        <p:sp>
          <p:nvSpPr>
            <p:cNvPr id="204" name="Google Shape;204;p19"/>
            <p:cNvSpPr/>
            <p:nvPr/>
          </p:nvSpPr>
          <p:spPr>
            <a:xfrm>
              <a:off x="285750" y="3143250"/>
              <a:ext cx="4191000" cy="1428900"/>
            </a:xfrm>
            <a:prstGeom prst="roundRect">
              <a:avLst>
                <a:gd fmla="val 10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 name="Google Shape;205;p19"/>
            <p:cNvSpPr/>
            <p:nvPr/>
          </p:nvSpPr>
          <p:spPr>
            <a:xfrm>
              <a:off x="3381375" y="3286125"/>
              <a:ext cx="952500" cy="228600"/>
            </a:xfrm>
            <a:prstGeom prst="roundRect">
              <a:avLst>
                <a:gd fmla="val 50000" name="adj"/>
              </a:avLst>
            </a:prstGeom>
            <a:solidFill>
              <a:srgbClr val="DCFCE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6" name="Google Shape;206;p19"/>
            <p:cNvSpPr txBox="1"/>
            <p:nvPr/>
          </p:nvSpPr>
          <p:spPr>
            <a:xfrm>
              <a:off x="3381375" y="3286125"/>
              <a:ext cx="9525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00">
                  <a:solidFill>
                    <a:srgbClr val="166534"/>
                  </a:solidFill>
                  <a:latin typeface="Inter"/>
                  <a:ea typeface="Inter"/>
                  <a:cs typeface="Inter"/>
                  <a:sym typeface="Inter"/>
                </a:rPr>
                <a:t>CONFIRMED</a:t>
              </a:r>
              <a:endParaRPr b="1" sz="800">
                <a:solidFill>
                  <a:srgbClr val="166534"/>
                </a:solidFill>
                <a:latin typeface="Inter"/>
                <a:ea typeface="Inter"/>
                <a:cs typeface="Inter"/>
                <a:sym typeface="Inter"/>
              </a:endParaRPr>
            </a:p>
          </p:txBody>
        </p:sp>
        <p:sp>
          <p:nvSpPr>
            <p:cNvPr id="207" name="Google Shape;207;p19"/>
            <p:cNvSpPr txBox="1"/>
            <p:nvPr/>
          </p:nvSpPr>
          <p:spPr>
            <a:xfrm>
              <a:off x="476250" y="3257550"/>
              <a:ext cx="28575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1400">
                  <a:solidFill>
                    <a:srgbClr val="0F172A"/>
                  </a:solidFill>
                  <a:latin typeface="Inter"/>
                  <a:ea typeface="Inter"/>
                  <a:cs typeface="Inter"/>
                  <a:sym typeface="Inter"/>
                </a:rPr>
                <a:t>US 10Y Yield</a:t>
              </a:r>
              <a:endParaRPr b="1" sz="1400">
                <a:solidFill>
                  <a:srgbClr val="0F172A"/>
                </a:solidFill>
                <a:latin typeface="Inter"/>
                <a:ea typeface="Inter"/>
                <a:cs typeface="Inter"/>
                <a:sym typeface="Inter"/>
              </a:endParaRPr>
            </a:p>
          </p:txBody>
        </p:sp>
        <p:sp>
          <p:nvSpPr>
            <p:cNvPr id="208" name="Google Shape;208;p19"/>
            <p:cNvSpPr txBox="1"/>
            <p:nvPr/>
          </p:nvSpPr>
          <p:spPr>
            <a:xfrm>
              <a:off x="476250" y="3667125"/>
              <a:ext cx="38100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GB" sz="1100">
                  <a:solidFill>
                    <a:srgbClr val="1E293B"/>
                  </a:solidFill>
                  <a:latin typeface="Inter"/>
                  <a:ea typeface="Inter"/>
                  <a:cs typeface="Inter"/>
                  <a:sym typeface="Inter"/>
                </a:rPr>
                <a:t>Yield:</a:t>
              </a:r>
              <a:r>
                <a:rPr lang="en-GB" sz="1100">
                  <a:solidFill>
                    <a:srgbClr val="475569"/>
                  </a:solidFill>
                  <a:latin typeface="Inter"/>
                  <a:ea typeface="Inter"/>
                  <a:cs typeface="Inter"/>
                  <a:sym typeface="Inter"/>
                </a:rPr>
                <a:t> 4.48%</a:t>
              </a:r>
              <a:endParaRPr sz="1100">
                <a:solidFill>
                  <a:srgbClr val="1E293B"/>
                </a:solidFill>
                <a:latin typeface="Inter"/>
                <a:ea typeface="Inter"/>
                <a:cs typeface="Inter"/>
                <a:sym typeface="Inter"/>
              </a:endParaRPr>
            </a:p>
            <a:p>
              <a:pPr indent="0" lvl="0" marL="0" rtl="0" algn="l">
                <a:spcBef>
                  <a:spcPts val="450"/>
                </a:spcBef>
                <a:spcAft>
                  <a:spcPts val="0"/>
                </a:spcAft>
                <a:buNone/>
              </a:pPr>
              <a:r>
                <a:rPr b="1" lang="en-GB" sz="1100">
                  <a:solidFill>
                    <a:srgbClr val="1E293B"/>
                  </a:solidFill>
                  <a:latin typeface="Inter"/>
                  <a:ea typeface="Inter"/>
                  <a:cs typeface="Inter"/>
                  <a:sym typeface="Inter"/>
                </a:rPr>
                <a:t>Impact:</a:t>
              </a:r>
              <a:r>
                <a:rPr lang="en-GB" sz="1100">
                  <a:solidFill>
                    <a:srgbClr val="475569"/>
                  </a:solidFill>
                  <a:latin typeface="Inter"/>
                  <a:ea typeface="Inter"/>
                  <a:cs typeface="Inter"/>
                  <a:sym typeface="Inter"/>
                </a:rPr>
                <a:t> Easing pressure on growth/tech valuations</a:t>
              </a:r>
              <a:endParaRPr sz="1100">
                <a:solidFill>
                  <a:srgbClr val="1E293B"/>
                </a:solidFill>
                <a:latin typeface="Inter"/>
                <a:ea typeface="Inter"/>
                <a:cs typeface="Inter"/>
                <a:sym typeface="Inter"/>
              </a:endParaRPr>
            </a:p>
          </p:txBody>
        </p:sp>
      </p:grpSp>
      <p:grpSp>
        <p:nvGrpSpPr>
          <p:cNvPr id="209" name="Google Shape;209;p19"/>
          <p:cNvGrpSpPr/>
          <p:nvPr/>
        </p:nvGrpSpPr>
        <p:grpSpPr>
          <a:xfrm>
            <a:off x="4667250" y="3143250"/>
            <a:ext cx="4191000" cy="1428900"/>
            <a:chOff x="4667250" y="3143250"/>
            <a:chExt cx="4191000" cy="1428900"/>
          </a:xfrm>
        </p:grpSpPr>
        <p:sp>
          <p:nvSpPr>
            <p:cNvPr id="210" name="Google Shape;210;p19"/>
            <p:cNvSpPr/>
            <p:nvPr/>
          </p:nvSpPr>
          <p:spPr>
            <a:xfrm>
              <a:off x="4667250" y="3143250"/>
              <a:ext cx="4191000" cy="1428900"/>
            </a:xfrm>
            <a:prstGeom prst="roundRect">
              <a:avLst>
                <a:gd fmla="val 10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1" name="Google Shape;211;p19"/>
            <p:cNvSpPr/>
            <p:nvPr/>
          </p:nvSpPr>
          <p:spPr>
            <a:xfrm>
              <a:off x="7762875" y="3286125"/>
              <a:ext cx="952500" cy="228600"/>
            </a:xfrm>
            <a:prstGeom prst="roundRect">
              <a:avLst>
                <a:gd fmla="val 50000"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2" name="Google Shape;212;p19"/>
            <p:cNvSpPr txBox="1"/>
            <p:nvPr/>
          </p:nvSpPr>
          <p:spPr>
            <a:xfrm>
              <a:off x="7762875" y="3286125"/>
              <a:ext cx="952500" cy="228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GB" sz="800">
                  <a:solidFill>
                    <a:srgbClr val="1E40AF"/>
                  </a:solidFill>
                  <a:latin typeface="Inter"/>
                  <a:ea typeface="Inter"/>
                  <a:cs typeface="Inter"/>
                  <a:sym typeface="Inter"/>
                </a:rPr>
                <a:t>CONFIRMED</a:t>
              </a:r>
              <a:endParaRPr b="1" sz="800">
                <a:solidFill>
                  <a:srgbClr val="1E40AF"/>
                </a:solidFill>
                <a:latin typeface="Inter"/>
                <a:ea typeface="Inter"/>
                <a:cs typeface="Inter"/>
                <a:sym typeface="Inter"/>
              </a:endParaRPr>
            </a:p>
          </p:txBody>
        </p:sp>
        <p:sp>
          <p:nvSpPr>
            <p:cNvPr id="213" name="Google Shape;213;p19"/>
            <p:cNvSpPr txBox="1"/>
            <p:nvPr/>
          </p:nvSpPr>
          <p:spPr>
            <a:xfrm>
              <a:off x="4857750" y="3257550"/>
              <a:ext cx="28575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GB" sz="1400">
                  <a:solidFill>
                    <a:srgbClr val="0F172A"/>
                  </a:solidFill>
                  <a:latin typeface="Inter"/>
                  <a:ea typeface="Inter"/>
                  <a:cs typeface="Inter"/>
                  <a:sym typeface="Inter"/>
                </a:rPr>
                <a:t>Week 25 Primary Driver</a:t>
              </a:r>
              <a:endParaRPr b="1" sz="1400">
                <a:solidFill>
                  <a:srgbClr val="0F172A"/>
                </a:solidFill>
                <a:latin typeface="Inter"/>
                <a:ea typeface="Inter"/>
                <a:cs typeface="Inter"/>
                <a:sym typeface="Inter"/>
              </a:endParaRPr>
            </a:p>
          </p:txBody>
        </p:sp>
        <p:sp>
          <p:nvSpPr>
            <p:cNvPr id="214" name="Google Shape;214;p19"/>
            <p:cNvSpPr txBox="1"/>
            <p:nvPr/>
          </p:nvSpPr>
          <p:spPr>
            <a:xfrm>
              <a:off x="4857750" y="3667125"/>
              <a:ext cx="3810000" cy="762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GB" sz="1100">
                  <a:solidFill>
                    <a:schemeClr val="dk1"/>
                  </a:solidFill>
                </a:rPr>
                <a:t>Event:</a:t>
              </a:r>
              <a:r>
                <a:rPr lang="en-GB" sz="1100">
                  <a:solidFill>
                    <a:schemeClr val="dk1"/>
                  </a:solidFill>
                </a:rPr>
                <a:t> FOMC Meeting (97.4% probability of Rate Hold) &amp; Dot Plot </a:t>
              </a:r>
              <a:endParaRPr sz="1100">
                <a:solidFill>
                  <a:srgbClr val="1E293B"/>
                </a:solidFill>
                <a:latin typeface="Inter"/>
                <a:ea typeface="Inter"/>
                <a:cs typeface="Inter"/>
                <a:sym typeface="Inte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8" name="Shape 218"/>
        <p:cNvGrpSpPr/>
        <p:nvPr/>
      </p:nvGrpSpPr>
      <p:grpSpPr>
        <a:xfrm>
          <a:off x="0" y="0"/>
          <a:ext cx="0" cy="0"/>
          <a:chOff x="0" y="0"/>
          <a:chExt cx="0" cy="0"/>
        </a:xfrm>
      </p:grpSpPr>
      <p:sp>
        <p:nvSpPr>
          <p:cNvPr id="219" name="Google Shape;219;p20"/>
          <p:cNvSpPr/>
          <p:nvPr/>
        </p:nvSpPr>
        <p:spPr>
          <a:xfrm>
            <a:off x="0" y="0"/>
            <a:ext cx="9144000" cy="609600"/>
          </a:xfrm>
          <a:prstGeom prst="rect">
            <a:avLst/>
          </a:prstGeom>
          <a:solidFill>
            <a:srgbClr val="0F172A"/>
          </a:solidFill>
          <a:ln>
            <a:noFill/>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0" name="Google Shape;220;p20"/>
          <p:cNvSpPr/>
          <p:nvPr/>
        </p:nvSpPr>
        <p:spPr>
          <a:xfrm>
            <a:off x="0" y="609600"/>
            <a:ext cx="9144000" cy="38100"/>
          </a:xfrm>
          <a:prstGeom prst="rect">
            <a:avLst/>
          </a:prstGeom>
          <a:solidFill>
            <a:srgbClr val="3B82F6"/>
          </a:solidFill>
          <a:ln>
            <a:noFill/>
          </a:ln>
          <a:effectLst>
            <a:outerShdw blurRad="40000" rotWithShape="0" dir="5400000" dist="23000">
              <a:srgbClr val="000000">
                <a:alpha val="34900"/>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1" name="Google Shape;221;p20"/>
          <p:cNvSpPr txBox="1"/>
          <p:nvPr/>
        </p:nvSpPr>
        <p:spPr>
          <a:xfrm>
            <a:off x="381000" y="142875"/>
            <a:ext cx="2381400" cy="2463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GB" sz="1600">
                <a:solidFill>
                  <a:srgbClr val="FFFFFF"/>
                </a:solidFill>
                <a:latin typeface="Inter"/>
                <a:ea typeface="Inter"/>
                <a:cs typeface="Inter"/>
                <a:sym typeface="Inter"/>
              </a:rPr>
              <a:t>R4 Macro Lead</a:t>
            </a:r>
            <a:endParaRPr b="1" sz="1600">
              <a:solidFill>
                <a:srgbClr val="FFFFFF"/>
              </a:solidFill>
              <a:latin typeface="Inter"/>
              <a:ea typeface="Inter"/>
              <a:cs typeface="Inter"/>
              <a:sym typeface="Inter"/>
            </a:endParaRPr>
          </a:p>
        </p:txBody>
      </p:sp>
      <p:sp>
        <p:nvSpPr>
          <p:cNvPr id="222" name="Google Shape;222;p20"/>
          <p:cNvSpPr txBox="1"/>
          <p:nvPr/>
        </p:nvSpPr>
        <p:spPr>
          <a:xfrm>
            <a:off x="476250" y="904875"/>
            <a:ext cx="8191500" cy="3663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GB" sz="2380">
                <a:solidFill>
                  <a:srgbClr val="1E293B"/>
                </a:solidFill>
                <a:latin typeface="Inter ExtraBold"/>
                <a:ea typeface="Inter ExtraBold"/>
                <a:cs typeface="Inter ExtraBold"/>
                <a:sym typeface="Inter ExtraBold"/>
              </a:rPr>
              <a:t>Macro Transmission Chain</a:t>
            </a:r>
            <a:endParaRPr b="0" sz="2380">
              <a:solidFill>
                <a:srgbClr val="1E293B"/>
              </a:solidFill>
              <a:latin typeface="Inter ExtraBold"/>
              <a:ea typeface="Inter ExtraBold"/>
              <a:cs typeface="Inter ExtraBold"/>
              <a:sym typeface="Inter ExtraBold"/>
            </a:endParaRPr>
          </a:p>
        </p:txBody>
      </p:sp>
      <p:pic>
        <p:nvPicPr>
          <p:cNvPr id="223" name="Google Shape;223;p20"/>
          <p:cNvPicPr preferRelativeResize="0"/>
          <p:nvPr/>
        </p:nvPicPr>
        <p:blipFill rotWithShape="1">
          <a:blip r:embed="rId4">
            <a:alphaModFix/>
          </a:blip>
          <a:srcRect b="0" l="0" r="0" t="0"/>
          <a:stretch/>
        </p:blipFill>
        <p:spPr>
          <a:xfrm>
            <a:off x="2857500" y="2133600"/>
            <a:ext cx="523800" cy="19200"/>
          </a:xfrm>
          <a:prstGeom prst="rect">
            <a:avLst/>
          </a:prstGeom>
          <a:noFill/>
          <a:ln>
            <a:noFill/>
          </a:ln>
        </p:spPr>
      </p:pic>
      <p:pic>
        <p:nvPicPr>
          <p:cNvPr id="224" name="Google Shape;224;p20"/>
          <p:cNvPicPr preferRelativeResize="0"/>
          <p:nvPr/>
        </p:nvPicPr>
        <p:blipFill rotWithShape="1">
          <a:blip r:embed="rId5">
            <a:alphaModFix/>
          </a:blip>
          <a:srcRect b="0" l="0" r="0" t="0"/>
          <a:stretch/>
        </p:blipFill>
        <p:spPr>
          <a:xfrm>
            <a:off x="3281363" y="2085975"/>
            <a:ext cx="123900" cy="114300"/>
          </a:xfrm>
          <a:prstGeom prst="rect">
            <a:avLst/>
          </a:prstGeom>
          <a:noFill/>
          <a:ln>
            <a:noFill/>
          </a:ln>
        </p:spPr>
      </p:pic>
      <p:pic>
        <p:nvPicPr>
          <p:cNvPr id="225" name="Google Shape;225;p20"/>
          <p:cNvPicPr preferRelativeResize="0"/>
          <p:nvPr/>
        </p:nvPicPr>
        <p:blipFill rotWithShape="1">
          <a:blip r:embed="rId4">
            <a:alphaModFix/>
          </a:blip>
          <a:srcRect b="0" l="0" r="0" t="0"/>
          <a:stretch/>
        </p:blipFill>
        <p:spPr>
          <a:xfrm>
            <a:off x="5762625" y="2133600"/>
            <a:ext cx="523800" cy="19200"/>
          </a:xfrm>
          <a:prstGeom prst="rect">
            <a:avLst/>
          </a:prstGeom>
          <a:noFill/>
          <a:ln>
            <a:noFill/>
          </a:ln>
        </p:spPr>
      </p:pic>
      <p:pic>
        <p:nvPicPr>
          <p:cNvPr id="226" name="Google Shape;226;p20"/>
          <p:cNvPicPr preferRelativeResize="0"/>
          <p:nvPr/>
        </p:nvPicPr>
        <p:blipFill rotWithShape="1">
          <a:blip r:embed="rId5">
            <a:alphaModFix/>
          </a:blip>
          <a:srcRect b="0" l="0" r="0" t="0"/>
          <a:stretch/>
        </p:blipFill>
        <p:spPr>
          <a:xfrm>
            <a:off x="6186488" y="2085975"/>
            <a:ext cx="123900" cy="114300"/>
          </a:xfrm>
          <a:prstGeom prst="rect">
            <a:avLst/>
          </a:prstGeom>
          <a:noFill/>
          <a:ln>
            <a:noFill/>
          </a:ln>
        </p:spPr>
      </p:pic>
      <p:pic>
        <p:nvPicPr>
          <p:cNvPr id="227" name="Google Shape;227;p20"/>
          <p:cNvPicPr preferRelativeResize="0"/>
          <p:nvPr/>
        </p:nvPicPr>
        <p:blipFill rotWithShape="1">
          <a:blip r:embed="rId6">
            <a:alphaModFix/>
          </a:blip>
          <a:srcRect b="0" l="0" r="0" t="0"/>
          <a:stretch/>
        </p:blipFill>
        <p:spPr>
          <a:xfrm>
            <a:off x="7467600" y="2762250"/>
            <a:ext cx="19200" cy="571500"/>
          </a:xfrm>
          <a:prstGeom prst="rect">
            <a:avLst/>
          </a:prstGeom>
          <a:noFill/>
          <a:ln>
            <a:noFill/>
          </a:ln>
        </p:spPr>
      </p:pic>
      <p:pic>
        <p:nvPicPr>
          <p:cNvPr id="228" name="Google Shape;228;p20"/>
          <p:cNvPicPr preferRelativeResize="0"/>
          <p:nvPr/>
        </p:nvPicPr>
        <p:blipFill rotWithShape="1">
          <a:blip r:embed="rId7">
            <a:alphaModFix/>
          </a:blip>
          <a:srcRect b="0" l="0" r="0" t="0"/>
          <a:stretch/>
        </p:blipFill>
        <p:spPr>
          <a:xfrm>
            <a:off x="7419975" y="3233738"/>
            <a:ext cx="114300" cy="123900"/>
          </a:xfrm>
          <a:prstGeom prst="rect">
            <a:avLst/>
          </a:prstGeom>
          <a:noFill/>
          <a:ln>
            <a:noFill/>
          </a:ln>
        </p:spPr>
      </p:pic>
      <p:pic>
        <p:nvPicPr>
          <p:cNvPr id="229" name="Google Shape;229;p20"/>
          <p:cNvPicPr preferRelativeResize="0"/>
          <p:nvPr/>
        </p:nvPicPr>
        <p:blipFill rotWithShape="1">
          <a:blip r:embed="rId8">
            <a:alphaModFix/>
          </a:blip>
          <a:srcRect b="0" l="0" r="0" t="0"/>
          <a:stretch/>
        </p:blipFill>
        <p:spPr>
          <a:xfrm>
            <a:off x="4667250" y="4038600"/>
            <a:ext cx="190500" cy="19200"/>
          </a:xfrm>
          <a:prstGeom prst="rect">
            <a:avLst/>
          </a:prstGeom>
          <a:noFill/>
          <a:ln>
            <a:noFill/>
          </a:ln>
        </p:spPr>
      </p:pic>
      <p:pic>
        <p:nvPicPr>
          <p:cNvPr id="230" name="Google Shape;230;p20"/>
          <p:cNvPicPr preferRelativeResize="0"/>
          <p:nvPr/>
        </p:nvPicPr>
        <p:blipFill rotWithShape="1">
          <a:blip r:embed="rId9">
            <a:alphaModFix/>
          </a:blip>
          <a:srcRect b="0" l="0" r="0" t="0"/>
          <a:stretch/>
        </p:blipFill>
        <p:spPr>
          <a:xfrm>
            <a:off x="4643438" y="3990975"/>
            <a:ext cx="123900" cy="114300"/>
          </a:xfrm>
          <a:prstGeom prst="rect">
            <a:avLst/>
          </a:prstGeom>
          <a:noFill/>
          <a:ln>
            <a:noFill/>
          </a:ln>
        </p:spPr>
      </p:pic>
      <p:sp>
        <p:nvSpPr>
          <p:cNvPr id="231" name="Google Shape;231;p20"/>
          <p:cNvSpPr/>
          <p:nvPr/>
        </p:nvSpPr>
        <p:spPr>
          <a:xfrm>
            <a:off x="476250" y="1524000"/>
            <a:ext cx="2381400" cy="1238400"/>
          </a:xfrm>
          <a:prstGeom prst="roundRect">
            <a:avLst>
              <a:gd fmla="val 9229" name="adj"/>
            </a:avLst>
          </a:prstGeom>
          <a:solidFill>
            <a:srgbClr val="FFFFFF"/>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20"/>
          <p:cNvSpPr txBox="1"/>
          <p:nvPr/>
        </p:nvSpPr>
        <p:spPr>
          <a:xfrm>
            <a:off x="619125" y="1619250"/>
            <a:ext cx="2095500" cy="1047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GB" sz="1400">
                <a:solidFill>
                  <a:srgbClr val="0F172A"/>
                </a:solidFill>
                <a:latin typeface="Inter"/>
                <a:ea typeface="Inter"/>
                <a:cs typeface="Inter"/>
                <a:sym typeface="Inter"/>
              </a:rPr>
              <a:t>Event</a:t>
            </a:r>
            <a:endParaRPr b="1" sz="1400">
              <a:solidFill>
                <a:srgbClr val="0F172A"/>
              </a:solidFill>
              <a:latin typeface="Inter"/>
              <a:ea typeface="Inter"/>
              <a:cs typeface="Inter"/>
              <a:sym typeface="Inter"/>
            </a:endParaRPr>
          </a:p>
          <a:p>
            <a:pPr indent="0" lvl="0" marL="0" rtl="0" algn="l">
              <a:spcBef>
                <a:spcPts val="600"/>
              </a:spcBef>
              <a:spcAft>
                <a:spcPts val="0"/>
              </a:spcAft>
              <a:buNone/>
            </a:pPr>
            <a:r>
              <a:rPr b="0" lang="en-GB" sz="1100">
                <a:solidFill>
                  <a:schemeClr val="dk1"/>
                </a:solidFill>
                <a:latin typeface="Inter"/>
                <a:ea typeface="Inter"/>
                <a:cs typeface="Inter"/>
                <a:sym typeface="Inter"/>
              </a:rPr>
              <a:t>FOMC Meeting Expectations &amp; U.S.-Iran Peace Talks</a:t>
            </a:r>
            <a:endParaRPr b="0" sz="1100">
              <a:solidFill>
                <a:schemeClr val="dk1"/>
              </a:solidFill>
              <a:latin typeface="Inter"/>
              <a:ea typeface="Inter"/>
              <a:cs typeface="Inter"/>
              <a:sym typeface="Inter"/>
            </a:endParaRPr>
          </a:p>
        </p:txBody>
      </p:sp>
      <p:sp>
        <p:nvSpPr>
          <p:cNvPr id="233" name="Google Shape;233;p20"/>
          <p:cNvSpPr/>
          <p:nvPr/>
        </p:nvSpPr>
        <p:spPr>
          <a:xfrm>
            <a:off x="3381375" y="1524000"/>
            <a:ext cx="2381400" cy="1238400"/>
          </a:xfrm>
          <a:prstGeom prst="roundRect">
            <a:avLst>
              <a:gd fmla="val 9229" name="adj"/>
            </a:avLst>
          </a:prstGeom>
          <a:solidFill>
            <a:srgbClr val="FFFFFF"/>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4" name="Google Shape;234;p20"/>
          <p:cNvSpPr txBox="1"/>
          <p:nvPr/>
        </p:nvSpPr>
        <p:spPr>
          <a:xfrm>
            <a:off x="3524250" y="1619250"/>
            <a:ext cx="2095500" cy="1047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GB" sz="1400">
                <a:solidFill>
                  <a:srgbClr val="0F172A"/>
                </a:solidFill>
                <a:latin typeface="Inter"/>
                <a:ea typeface="Inter"/>
                <a:cs typeface="Inter"/>
                <a:sym typeface="Inter"/>
              </a:rPr>
              <a:t>Rates</a:t>
            </a:r>
            <a:endParaRPr b="1" sz="1400">
              <a:solidFill>
                <a:srgbClr val="0F172A"/>
              </a:solidFill>
              <a:latin typeface="Inter"/>
              <a:ea typeface="Inter"/>
              <a:cs typeface="Inter"/>
              <a:sym typeface="Inter"/>
            </a:endParaRPr>
          </a:p>
          <a:p>
            <a:pPr indent="0" lvl="0" marL="0" rtl="0" algn="l">
              <a:spcBef>
                <a:spcPts val="600"/>
              </a:spcBef>
              <a:spcAft>
                <a:spcPts val="0"/>
              </a:spcAft>
              <a:buNone/>
            </a:pPr>
            <a:r>
              <a:rPr b="0" lang="en-GB" sz="1100">
                <a:solidFill>
                  <a:schemeClr val="dk1"/>
                </a:solidFill>
                <a:latin typeface="Inter"/>
                <a:ea typeface="Inter"/>
                <a:cs typeface="Inter"/>
                <a:sym typeface="Inter"/>
              </a:rPr>
              <a:t>10Y Treasury yield dropped to 4.48%</a:t>
            </a:r>
            <a:endParaRPr b="0" sz="1100">
              <a:solidFill>
                <a:schemeClr val="dk1"/>
              </a:solidFill>
              <a:latin typeface="Inter"/>
              <a:ea typeface="Inter"/>
              <a:cs typeface="Inter"/>
              <a:sym typeface="Inter"/>
            </a:endParaRPr>
          </a:p>
        </p:txBody>
      </p:sp>
      <p:sp>
        <p:nvSpPr>
          <p:cNvPr id="235" name="Google Shape;235;p20"/>
          <p:cNvSpPr/>
          <p:nvPr/>
        </p:nvSpPr>
        <p:spPr>
          <a:xfrm>
            <a:off x="6286500" y="1524000"/>
            <a:ext cx="2381400" cy="1238400"/>
          </a:xfrm>
          <a:prstGeom prst="roundRect">
            <a:avLst>
              <a:gd fmla="val 9229" name="adj"/>
            </a:avLst>
          </a:prstGeom>
          <a:solidFill>
            <a:srgbClr val="FFFFFF"/>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20"/>
          <p:cNvSpPr txBox="1"/>
          <p:nvPr/>
        </p:nvSpPr>
        <p:spPr>
          <a:xfrm>
            <a:off x="6429375" y="1619250"/>
            <a:ext cx="2238600" cy="1047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GB" sz="1400">
                <a:solidFill>
                  <a:srgbClr val="0F172A"/>
                </a:solidFill>
                <a:latin typeface="Inter"/>
                <a:ea typeface="Inter"/>
                <a:cs typeface="Inter"/>
                <a:sym typeface="Inter"/>
              </a:rPr>
              <a:t>Liquidity</a:t>
            </a:r>
            <a:endParaRPr b="1" sz="1400">
              <a:solidFill>
                <a:srgbClr val="0F172A"/>
              </a:solidFill>
              <a:latin typeface="Inter"/>
              <a:ea typeface="Inter"/>
              <a:cs typeface="Inter"/>
              <a:sym typeface="Inter"/>
            </a:endParaRPr>
          </a:p>
          <a:p>
            <a:pPr indent="0" lvl="0" marL="0" rtl="0" algn="l">
              <a:spcBef>
                <a:spcPts val="600"/>
              </a:spcBef>
              <a:spcAft>
                <a:spcPts val="0"/>
              </a:spcAft>
              <a:buNone/>
            </a:pPr>
            <a:r>
              <a:rPr b="0" lang="en-GB" sz="1100">
                <a:solidFill>
                  <a:schemeClr val="dk1"/>
                </a:solidFill>
                <a:latin typeface="Inter"/>
                <a:ea typeface="Inter"/>
                <a:cs typeface="Inter"/>
                <a:sym typeface="Inter"/>
              </a:rPr>
              <a:t>DXY declined 0.11%(US dollar </a:t>
            </a:r>
            <a:r>
              <a:rPr lang="en-GB" sz="1100">
                <a:solidFill>
                  <a:schemeClr val="dk1"/>
                </a:solidFill>
                <a:latin typeface="Inter"/>
                <a:ea typeface="Inter"/>
                <a:cs typeface="Inter"/>
                <a:sym typeface="Inter"/>
              </a:rPr>
              <a:t>Weaken)</a:t>
            </a:r>
            <a:endParaRPr b="0" sz="1100">
              <a:solidFill>
                <a:schemeClr val="dk1"/>
              </a:solidFill>
              <a:latin typeface="Inter"/>
              <a:ea typeface="Inter"/>
              <a:cs typeface="Inter"/>
              <a:sym typeface="Inter"/>
            </a:endParaRPr>
          </a:p>
          <a:p>
            <a:pPr indent="0" lvl="0" marL="0" rtl="0" algn="l">
              <a:spcBef>
                <a:spcPts val="300"/>
              </a:spcBef>
              <a:spcAft>
                <a:spcPts val="0"/>
              </a:spcAft>
              <a:buNone/>
            </a:pPr>
            <a:r>
              <a:rPr b="0" lang="en-GB" sz="1100">
                <a:solidFill>
                  <a:schemeClr val="dk1"/>
                </a:solidFill>
                <a:latin typeface="Inter"/>
                <a:ea typeface="Inter"/>
                <a:cs typeface="Inter"/>
                <a:sym typeface="Inter"/>
              </a:rPr>
              <a:t>VIX fell 6.59% (Risk Appetite UP)</a:t>
            </a:r>
            <a:endParaRPr b="0" sz="1100">
              <a:solidFill>
                <a:schemeClr val="dk1"/>
              </a:solidFill>
              <a:latin typeface="Inter"/>
              <a:ea typeface="Inter"/>
              <a:cs typeface="Inter"/>
              <a:sym typeface="Inter"/>
            </a:endParaRPr>
          </a:p>
        </p:txBody>
      </p:sp>
      <p:sp>
        <p:nvSpPr>
          <p:cNvPr id="237" name="Google Shape;237;p20"/>
          <p:cNvSpPr/>
          <p:nvPr/>
        </p:nvSpPr>
        <p:spPr>
          <a:xfrm>
            <a:off x="476250" y="3333750"/>
            <a:ext cx="4191000" cy="1428900"/>
          </a:xfrm>
          <a:prstGeom prst="roundRect">
            <a:avLst>
              <a:gd fmla="val 8000" name="adj"/>
            </a:avLst>
          </a:prstGeom>
          <a:solidFill>
            <a:srgbClr val="FFF7ED"/>
          </a:solidFill>
          <a:ln cap="flat" cmpd="sng" w="19050">
            <a:solidFill>
              <a:srgbClr val="F9731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8" name="Google Shape;238;p20"/>
          <p:cNvSpPr txBox="1"/>
          <p:nvPr/>
        </p:nvSpPr>
        <p:spPr>
          <a:xfrm>
            <a:off x="619125" y="3429000"/>
            <a:ext cx="3905400" cy="1238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GB" sz="1400">
                <a:solidFill>
                  <a:srgbClr val="9A3412"/>
                </a:solidFill>
                <a:latin typeface="Inter"/>
                <a:ea typeface="Inter"/>
                <a:cs typeface="Inter"/>
                <a:sym typeface="Inter"/>
              </a:rPr>
              <a:t>Risk Factors</a:t>
            </a:r>
            <a:endParaRPr b="1" sz="1400">
              <a:solidFill>
                <a:srgbClr val="9A3412"/>
              </a:solidFill>
              <a:latin typeface="Inter"/>
              <a:ea typeface="Inter"/>
              <a:cs typeface="Inter"/>
              <a:sym typeface="Inter"/>
            </a:endParaRPr>
          </a:p>
          <a:p>
            <a:pPr indent="0" lvl="0" marL="0" rtl="0" algn="l">
              <a:spcBef>
                <a:spcPts val="750"/>
              </a:spcBef>
              <a:spcAft>
                <a:spcPts val="0"/>
              </a:spcAft>
              <a:buNone/>
            </a:pPr>
            <a:r>
              <a:rPr b="0" lang="en-GB" sz="1100">
                <a:solidFill>
                  <a:srgbClr val="431407"/>
                </a:solidFill>
                <a:latin typeface="Inter"/>
                <a:ea typeface="Inter"/>
                <a:cs typeface="Inter"/>
                <a:sym typeface="Inter"/>
              </a:rPr>
              <a:t>1. Hawkish shift in the Fed's Dot Plot.</a:t>
            </a:r>
            <a:endParaRPr b="0" sz="1100">
              <a:solidFill>
                <a:srgbClr val="431407"/>
              </a:solidFill>
              <a:latin typeface="Inter"/>
              <a:ea typeface="Inter"/>
              <a:cs typeface="Inter"/>
              <a:sym typeface="Inter"/>
            </a:endParaRPr>
          </a:p>
          <a:p>
            <a:pPr indent="0" lvl="0" marL="0" rtl="0" algn="l">
              <a:spcBef>
                <a:spcPts val="450"/>
              </a:spcBef>
              <a:spcAft>
                <a:spcPts val="0"/>
              </a:spcAft>
              <a:buNone/>
            </a:pPr>
            <a:r>
              <a:rPr b="0" lang="en-GB" sz="1100">
                <a:solidFill>
                  <a:srgbClr val="431407"/>
                </a:solidFill>
                <a:latin typeface="Inter"/>
                <a:ea typeface="Inter"/>
                <a:cs typeface="Inter"/>
                <a:sym typeface="Inter"/>
              </a:rPr>
              <a:t>2. Breakdown in Iran negotiations causing an oil price spike.</a:t>
            </a:r>
            <a:endParaRPr b="0" sz="1100">
              <a:solidFill>
                <a:srgbClr val="431407"/>
              </a:solidFill>
              <a:latin typeface="Inter"/>
              <a:ea typeface="Inter"/>
              <a:cs typeface="Inter"/>
              <a:sym typeface="Inter"/>
            </a:endParaRPr>
          </a:p>
        </p:txBody>
      </p:sp>
      <p:sp>
        <p:nvSpPr>
          <p:cNvPr id="239" name="Google Shape;239;p20"/>
          <p:cNvSpPr/>
          <p:nvPr/>
        </p:nvSpPr>
        <p:spPr>
          <a:xfrm>
            <a:off x="4857750" y="3333750"/>
            <a:ext cx="4191000" cy="1428900"/>
          </a:xfrm>
          <a:prstGeom prst="roundRect">
            <a:avLst>
              <a:gd fmla="val 8000" name="adj"/>
            </a:avLst>
          </a:prstGeom>
          <a:solidFill>
            <a:srgbClr val="EFF6FF"/>
          </a:solidFill>
          <a:ln cap="flat" cmpd="sng" w="1905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0" name="Google Shape;240;p20"/>
          <p:cNvSpPr txBox="1"/>
          <p:nvPr/>
        </p:nvSpPr>
        <p:spPr>
          <a:xfrm>
            <a:off x="5000625" y="3429000"/>
            <a:ext cx="3905400" cy="1238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GB" sz="1400">
                <a:solidFill>
                  <a:srgbClr val="1E40AF"/>
                </a:solidFill>
                <a:latin typeface="Inter"/>
                <a:ea typeface="Inter"/>
                <a:cs typeface="Inter"/>
                <a:sym typeface="Inter"/>
              </a:rPr>
              <a:t>Equities Impact</a:t>
            </a:r>
            <a:endParaRPr b="1" sz="1400">
              <a:solidFill>
                <a:srgbClr val="1E40AF"/>
              </a:solidFill>
              <a:latin typeface="Inter"/>
              <a:ea typeface="Inter"/>
              <a:cs typeface="Inter"/>
              <a:sym typeface="Inter"/>
            </a:endParaRPr>
          </a:p>
          <a:p>
            <a:pPr indent="-292100" lvl="0" marL="457200" rtl="0" algn="l">
              <a:spcBef>
                <a:spcPts val="600"/>
              </a:spcBef>
              <a:spcAft>
                <a:spcPts val="0"/>
              </a:spcAft>
              <a:buClr>
                <a:srgbClr val="1E3A8A"/>
              </a:buClr>
              <a:buSzPts val="1000"/>
              <a:buFont typeface="Inter"/>
              <a:buChar char="●"/>
            </a:pPr>
            <a:r>
              <a:rPr b="1" lang="en-GB" sz="1000">
                <a:solidFill>
                  <a:srgbClr val="1E3A8A"/>
                </a:solidFill>
                <a:latin typeface="Inter"/>
                <a:ea typeface="Inter"/>
                <a:cs typeface="Inter"/>
                <a:sym typeface="Inter"/>
              </a:rPr>
              <a:t>XLK (Tech): Primed for rebound after pullback.</a:t>
            </a:r>
            <a:endParaRPr b="1" sz="1000">
              <a:solidFill>
                <a:srgbClr val="1E3A8A"/>
              </a:solidFill>
              <a:latin typeface="Inter"/>
              <a:ea typeface="Inter"/>
              <a:cs typeface="Inter"/>
              <a:sym typeface="Inter"/>
            </a:endParaRPr>
          </a:p>
          <a:p>
            <a:pPr indent="-292100" lvl="0" marL="457200" rtl="0" algn="l">
              <a:spcBef>
                <a:spcPts val="300"/>
              </a:spcBef>
              <a:spcAft>
                <a:spcPts val="0"/>
              </a:spcAft>
              <a:buClr>
                <a:srgbClr val="1E3A8A"/>
              </a:buClr>
              <a:buSzPts val="1000"/>
              <a:buFont typeface="Inter"/>
              <a:buChar char="●"/>
            </a:pPr>
            <a:r>
              <a:rPr b="1" lang="en-GB" sz="1000">
                <a:solidFill>
                  <a:srgbClr val="1E3A8A"/>
                </a:solidFill>
                <a:latin typeface="Inter"/>
                <a:ea typeface="Inter"/>
                <a:cs typeface="Inter"/>
                <a:sym typeface="Inter"/>
              </a:rPr>
              <a:t>XLF (Financials): +2.4% outperformance vs GDPNow.</a:t>
            </a:r>
            <a:endParaRPr b="1" sz="1000">
              <a:solidFill>
                <a:srgbClr val="1E3A8A"/>
              </a:solidFill>
              <a:latin typeface="Inter"/>
              <a:ea typeface="Inter"/>
              <a:cs typeface="Inter"/>
              <a:sym typeface="Inter"/>
            </a:endParaRPr>
          </a:p>
          <a:p>
            <a:pPr indent="-292100" lvl="0" marL="457200" rtl="0" algn="l">
              <a:spcBef>
                <a:spcPts val="300"/>
              </a:spcBef>
              <a:spcAft>
                <a:spcPts val="0"/>
              </a:spcAft>
              <a:buClr>
                <a:srgbClr val="1E3A8A"/>
              </a:buClr>
              <a:buSzPts val="1000"/>
              <a:buFont typeface="Inter"/>
              <a:buChar char="●"/>
            </a:pPr>
            <a:r>
              <a:rPr b="1" lang="en-GB" sz="1000">
                <a:solidFill>
                  <a:srgbClr val="1E3A8A"/>
                </a:solidFill>
                <a:latin typeface="Inter"/>
                <a:ea typeface="Inter"/>
                <a:cs typeface="Inter"/>
                <a:sym typeface="Inter"/>
              </a:rPr>
              <a:t>XLE (Energy): Pressured by crashing crude prices.</a:t>
            </a:r>
            <a:endParaRPr b="1" sz="1000">
              <a:solidFill>
                <a:srgbClr val="1E3A8A"/>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244" name="Shape 244"/>
        <p:cNvGrpSpPr/>
        <p:nvPr/>
      </p:nvGrpSpPr>
      <p:grpSpPr>
        <a:xfrm>
          <a:off x="0" y="0"/>
          <a:ext cx="0" cy="0"/>
          <a:chOff x="0" y="0"/>
          <a:chExt cx="0" cy="0"/>
        </a:xfrm>
      </p:grpSpPr>
      <p:sp>
        <p:nvSpPr>
          <p:cNvPr id="245" name="Google Shape;245;p21"/>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6" name="Google Shape;246;p21"/>
          <p:cNvSpPr/>
          <p:nvPr/>
        </p:nvSpPr>
        <p:spPr>
          <a:xfrm>
            <a:off x="0" y="640080"/>
            <a:ext cx="9144000" cy="36600"/>
          </a:xfrm>
          <a:prstGeom prst="rect">
            <a:avLst/>
          </a:prstGeom>
          <a:solidFill>
            <a:srgbClr val="2FB34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7" name="Google Shape;247;p21"/>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R5 Technical Lead</a:t>
            </a:r>
            <a:endParaRPr/>
          </a:p>
        </p:txBody>
      </p:sp>
      <p:sp>
        <p:nvSpPr>
          <p:cNvPr id="248" name="Google Shape;248;p21"/>
          <p:cNvSpPr txBox="1"/>
          <p:nvPr/>
        </p:nvSpPr>
        <p:spPr>
          <a:xfrm>
            <a:off x="475488" y="877824"/>
            <a:ext cx="4572000" cy="3693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800">
                <a:solidFill>
                  <a:srgbClr val="08172E"/>
                </a:solidFill>
              </a:rPr>
              <a:t>S&amp;P 500 Chart</a:t>
            </a:r>
            <a:endParaRPr/>
          </a:p>
        </p:txBody>
      </p:sp>
      <p:sp>
        <p:nvSpPr>
          <p:cNvPr id="249" name="Google Shape;249;p21"/>
          <p:cNvSpPr/>
          <p:nvPr/>
        </p:nvSpPr>
        <p:spPr>
          <a:xfrm>
            <a:off x="6291244" y="1572768"/>
            <a:ext cx="1938600" cy="26976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0" name="Google Shape;250;p21"/>
          <p:cNvSpPr/>
          <p:nvPr/>
        </p:nvSpPr>
        <p:spPr>
          <a:xfrm>
            <a:off x="6291244" y="1572768"/>
            <a:ext cx="73200" cy="2697600"/>
          </a:xfrm>
          <a:prstGeom prst="rect">
            <a:avLst/>
          </a:prstGeom>
          <a:solidFill>
            <a:srgbClr val="2FB344"/>
          </a:solidFill>
          <a:ln cap="flat" cmpd="sng" w="12700">
            <a:solidFill>
              <a:srgbClr val="2FB34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1" name="Google Shape;251;p21"/>
          <p:cNvSpPr txBox="1"/>
          <p:nvPr/>
        </p:nvSpPr>
        <p:spPr>
          <a:xfrm>
            <a:off x="6428404" y="1664208"/>
            <a:ext cx="17100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150">
                <a:solidFill>
                  <a:srgbClr val="08172E"/>
                </a:solidFill>
                <a:latin typeface="Arial"/>
                <a:ea typeface="Arial"/>
                <a:cs typeface="Arial"/>
                <a:sym typeface="Arial"/>
              </a:rPr>
              <a:t>Key levels</a:t>
            </a:r>
            <a:endParaRPr/>
          </a:p>
        </p:txBody>
      </p:sp>
      <p:sp>
        <p:nvSpPr>
          <p:cNvPr id="252" name="Google Shape;252;p21"/>
          <p:cNvSpPr txBox="1"/>
          <p:nvPr/>
        </p:nvSpPr>
        <p:spPr>
          <a:xfrm>
            <a:off x="6428404" y="1956816"/>
            <a:ext cx="1710000" cy="19395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GB" sz="1000">
                <a:solidFill>
                  <a:srgbClr val="56657D"/>
                </a:solidFill>
              </a:rPr>
              <a:t>Current price: 7,431.46</a:t>
            </a:r>
            <a:endParaRPr sz="1000">
              <a:solidFill>
                <a:srgbClr val="56657D"/>
              </a:solidFill>
            </a:endParaRPr>
          </a:p>
          <a:p>
            <a:pPr indent="0" lvl="0" marL="0" marR="0" rtl="0" algn="l">
              <a:spcBef>
                <a:spcPts val="0"/>
              </a:spcBef>
              <a:spcAft>
                <a:spcPts val="0"/>
              </a:spcAft>
              <a:buNone/>
            </a:pPr>
            <a:r>
              <a:t/>
            </a:r>
            <a:endParaRPr sz="1000">
              <a:solidFill>
                <a:srgbClr val="56657D"/>
              </a:solidFill>
            </a:endParaRPr>
          </a:p>
          <a:p>
            <a:pPr indent="0" lvl="0" marL="0" marR="0" rtl="0" algn="l">
              <a:spcBef>
                <a:spcPts val="0"/>
              </a:spcBef>
              <a:spcAft>
                <a:spcPts val="0"/>
              </a:spcAft>
              <a:buNone/>
            </a:pPr>
            <a:r>
              <a:rPr b="0" lang="en-GB" sz="1000">
                <a:solidFill>
                  <a:srgbClr val="56657D"/>
                </a:solidFill>
                <a:latin typeface="Arial"/>
                <a:ea typeface="Arial"/>
                <a:cs typeface="Arial"/>
                <a:sym typeface="Arial"/>
              </a:rPr>
              <a:t>Resistance: </a:t>
            </a:r>
            <a:r>
              <a:rPr lang="en-GB" sz="1000">
                <a:solidFill>
                  <a:srgbClr val="56657D"/>
                </a:solidFill>
              </a:rPr>
              <a:t>7,450</a:t>
            </a:r>
            <a:endParaRPr sz="1000">
              <a:solidFill>
                <a:srgbClr val="56657D"/>
              </a:solidFill>
            </a:endParaRPr>
          </a:p>
          <a:p>
            <a:pPr indent="0" lvl="0" marL="0" marR="0" rtl="0" algn="l">
              <a:spcBef>
                <a:spcPts val="0"/>
              </a:spcBef>
              <a:spcAft>
                <a:spcPts val="0"/>
              </a:spcAft>
              <a:buNone/>
            </a:pPr>
            <a:br>
              <a:rPr b="0" lang="en-GB" sz="1000">
                <a:solidFill>
                  <a:srgbClr val="56657D"/>
                </a:solidFill>
                <a:latin typeface="Arial"/>
                <a:ea typeface="Arial"/>
                <a:cs typeface="Arial"/>
                <a:sym typeface="Arial"/>
              </a:rPr>
            </a:br>
            <a:r>
              <a:rPr b="0" lang="en-GB" sz="1000">
                <a:solidFill>
                  <a:srgbClr val="56657D"/>
                </a:solidFill>
                <a:latin typeface="Arial"/>
                <a:ea typeface="Arial"/>
                <a:cs typeface="Arial"/>
                <a:sym typeface="Arial"/>
              </a:rPr>
              <a:t>Support: </a:t>
            </a:r>
            <a:r>
              <a:rPr lang="en-GB" sz="1000">
                <a:solidFill>
                  <a:srgbClr val="56657D"/>
                </a:solidFill>
              </a:rPr>
              <a:t>7,380</a:t>
            </a:r>
            <a:endParaRPr sz="1000">
              <a:solidFill>
                <a:srgbClr val="56657D"/>
              </a:solidFill>
            </a:endParaRPr>
          </a:p>
          <a:p>
            <a:pPr indent="0" lvl="0" marL="0" marR="0" rtl="0" algn="l">
              <a:spcBef>
                <a:spcPts val="0"/>
              </a:spcBef>
              <a:spcAft>
                <a:spcPts val="0"/>
              </a:spcAft>
              <a:buNone/>
            </a:pPr>
            <a:br>
              <a:rPr b="0" lang="en-GB" sz="1000">
                <a:solidFill>
                  <a:srgbClr val="56657D"/>
                </a:solidFill>
                <a:latin typeface="Arial"/>
                <a:ea typeface="Arial"/>
                <a:cs typeface="Arial"/>
                <a:sym typeface="Arial"/>
              </a:rPr>
            </a:br>
            <a:r>
              <a:rPr b="0" lang="en-GB" sz="1000">
                <a:solidFill>
                  <a:srgbClr val="56657D"/>
                </a:solidFill>
                <a:latin typeface="Arial"/>
                <a:ea typeface="Arial"/>
                <a:cs typeface="Arial"/>
                <a:sym typeface="Arial"/>
              </a:rPr>
              <a:t>EMA zone: </a:t>
            </a:r>
            <a:r>
              <a:rPr lang="en-GB" sz="1000">
                <a:solidFill>
                  <a:srgbClr val="56657D"/>
                </a:solidFill>
              </a:rPr>
              <a:t>Caution</a:t>
            </a:r>
            <a:endParaRPr sz="1000">
              <a:solidFill>
                <a:srgbClr val="56657D"/>
              </a:solidFill>
            </a:endParaRPr>
          </a:p>
          <a:p>
            <a:pPr indent="0" lvl="0" marL="0" marR="0" rtl="0" algn="l">
              <a:spcBef>
                <a:spcPts val="0"/>
              </a:spcBef>
              <a:spcAft>
                <a:spcPts val="0"/>
              </a:spcAft>
              <a:buNone/>
            </a:pPr>
            <a:br>
              <a:rPr b="0" lang="en-GB" sz="1000">
                <a:solidFill>
                  <a:srgbClr val="56657D"/>
                </a:solidFill>
                <a:latin typeface="Arial"/>
                <a:ea typeface="Arial"/>
                <a:cs typeface="Arial"/>
                <a:sym typeface="Arial"/>
              </a:rPr>
            </a:br>
            <a:r>
              <a:rPr b="0" lang="en-GB" sz="1000">
                <a:solidFill>
                  <a:srgbClr val="56657D"/>
                </a:solidFill>
                <a:latin typeface="Arial"/>
                <a:ea typeface="Arial"/>
                <a:cs typeface="Arial"/>
                <a:sym typeface="Arial"/>
              </a:rPr>
              <a:t>Invalidation: </a:t>
            </a:r>
            <a:r>
              <a:rPr lang="en-GB" sz="1000">
                <a:solidFill>
                  <a:srgbClr val="56657D"/>
                </a:solidFill>
              </a:rPr>
              <a:t>Close below 7,380</a:t>
            </a:r>
            <a:endParaRPr sz="1000">
              <a:solidFill>
                <a:srgbClr val="56657D"/>
              </a:solidFill>
            </a:endParaRPr>
          </a:p>
          <a:p>
            <a:pPr indent="0" lvl="0" marL="0" marR="0" rtl="0" algn="l">
              <a:spcBef>
                <a:spcPts val="0"/>
              </a:spcBef>
              <a:spcAft>
                <a:spcPts val="0"/>
              </a:spcAft>
              <a:buNone/>
            </a:pPr>
            <a:br>
              <a:rPr b="0" lang="en-GB" sz="1000">
                <a:solidFill>
                  <a:srgbClr val="56657D"/>
                </a:solidFill>
                <a:latin typeface="Arial"/>
                <a:ea typeface="Arial"/>
                <a:cs typeface="Arial"/>
                <a:sym typeface="Arial"/>
              </a:rPr>
            </a:br>
            <a:r>
              <a:rPr b="0" lang="en-GB" sz="1000">
                <a:solidFill>
                  <a:srgbClr val="56657D"/>
                </a:solidFill>
                <a:latin typeface="Arial"/>
                <a:ea typeface="Arial"/>
                <a:cs typeface="Arial"/>
                <a:sym typeface="Arial"/>
              </a:rPr>
              <a:t>Bias: Bearish-</a:t>
            </a:r>
            <a:r>
              <a:rPr lang="en-GB" sz="1000">
                <a:solidFill>
                  <a:srgbClr val="56657D"/>
                </a:solidFill>
              </a:rPr>
              <a:t>neutral</a:t>
            </a:r>
            <a:endParaRPr/>
          </a:p>
        </p:txBody>
      </p:sp>
      <p:pic>
        <p:nvPicPr>
          <p:cNvPr id="253" name="Google Shape;253;p21" title="SPX-W24.png"/>
          <p:cNvPicPr preferRelativeResize="0"/>
          <p:nvPr/>
        </p:nvPicPr>
        <p:blipFill>
          <a:blip r:embed="rId3">
            <a:alphaModFix/>
          </a:blip>
          <a:stretch>
            <a:fillRect/>
          </a:stretch>
        </p:blipFill>
        <p:spPr>
          <a:xfrm>
            <a:off x="901332" y="1506803"/>
            <a:ext cx="4956027" cy="3056375"/>
          </a:xfrm>
          <a:prstGeom prst="rect">
            <a:avLst/>
          </a:prstGeom>
          <a:noFill/>
          <a:ln>
            <a:noFill/>
          </a:ln>
        </p:spPr>
      </p:pic>
      <p:cxnSp>
        <p:nvCxnSpPr>
          <p:cNvPr id="254" name="Google Shape;254;p21"/>
          <p:cNvCxnSpPr/>
          <p:nvPr/>
        </p:nvCxnSpPr>
        <p:spPr>
          <a:xfrm rot="10800000">
            <a:off x="904800" y="2528850"/>
            <a:ext cx="4477500" cy="0"/>
          </a:xfrm>
          <a:prstGeom prst="straightConnector1">
            <a:avLst/>
          </a:prstGeom>
          <a:noFill/>
          <a:ln cap="flat" cmpd="sng" w="19050">
            <a:solidFill>
              <a:srgbClr val="D64545"/>
            </a:solidFill>
            <a:prstDash val="solid"/>
            <a:round/>
            <a:headEnd len="med" w="med" type="none"/>
            <a:tailEnd len="med" w="med" type="none"/>
          </a:ln>
        </p:spPr>
      </p:cxnSp>
      <p:cxnSp>
        <p:nvCxnSpPr>
          <p:cNvPr id="255" name="Google Shape;255;p21"/>
          <p:cNvCxnSpPr/>
          <p:nvPr/>
        </p:nvCxnSpPr>
        <p:spPr>
          <a:xfrm rot="10800000">
            <a:off x="904800" y="2734800"/>
            <a:ext cx="4477500" cy="0"/>
          </a:xfrm>
          <a:prstGeom prst="straightConnector1">
            <a:avLst/>
          </a:prstGeom>
          <a:noFill/>
          <a:ln cap="flat" cmpd="sng" w="19050">
            <a:solidFill>
              <a:srgbClr val="2FB344"/>
            </a:solidFill>
            <a:prstDash val="solid"/>
            <a:round/>
            <a:headEnd len="med" w="med" type="none"/>
            <a:tailEnd len="med" w="med" type="none"/>
          </a:ln>
        </p:spPr>
      </p:cxnSp>
      <p:sp>
        <p:nvSpPr>
          <p:cNvPr id="256" name="Google Shape;256;p21"/>
          <p:cNvSpPr/>
          <p:nvPr/>
        </p:nvSpPr>
        <p:spPr>
          <a:xfrm>
            <a:off x="1120509" y="2374725"/>
            <a:ext cx="1021500" cy="154200"/>
          </a:xfrm>
          <a:prstGeom prst="round2SameRect">
            <a:avLst>
              <a:gd fmla="val 16667" name="adj1"/>
              <a:gd fmla="val 0" name="adj2"/>
            </a:avLst>
          </a:prstGeom>
          <a:solidFill>
            <a:srgbClr val="D6454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lt1"/>
                </a:solidFill>
              </a:rPr>
              <a:t>Resistance: 7,450</a:t>
            </a:r>
            <a:endParaRPr sz="800">
              <a:solidFill>
                <a:schemeClr val="lt1"/>
              </a:solidFill>
            </a:endParaRPr>
          </a:p>
        </p:txBody>
      </p:sp>
      <p:sp>
        <p:nvSpPr>
          <p:cNvPr id="257" name="Google Shape;257;p21"/>
          <p:cNvSpPr/>
          <p:nvPr/>
        </p:nvSpPr>
        <p:spPr>
          <a:xfrm>
            <a:off x="3153942" y="2734800"/>
            <a:ext cx="1021500" cy="154200"/>
          </a:xfrm>
          <a:prstGeom prst="round2SameRect">
            <a:avLst>
              <a:gd fmla="val 0" name="adj1"/>
              <a:gd fmla="val 23551" name="adj2"/>
            </a:avLst>
          </a:prstGeom>
          <a:solidFill>
            <a:srgbClr val="2FB34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800">
                <a:solidFill>
                  <a:schemeClr val="lt1"/>
                </a:solidFill>
              </a:rPr>
              <a:t>Support</a:t>
            </a:r>
            <a:r>
              <a:rPr lang="en-GB" sz="800">
                <a:solidFill>
                  <a:schemeClr val="lt1"/>
                </a:solidFill>
              </a:rPr>
              <a:t>: 7,380</a:t>
            </a:r>
            <a:endParaRPr sz="8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2"/>
          <p:cNvSpPr txBox="1"/>
          <p:nvPr>
            <p:ph type="title"/>
          </p:nvPr>
        </p:nvSpPr>
        <p:spPr>
          <a:xfrm>
            <a:off x="266250" y="890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sz="2356"/>
              <a:t>R8 LLM Operator</a:t>
            </a:r>
            <a:r>
              <a:rPr lang="en-GB"/>
              <a:t> </a:t>
            </a:r>
            <a:endParaRPr/>
          </a:p>
        </p:txBody>
      </p:sp>
      <p:graphicFrame>
        <p:nvGraphicFramePr>
          <p:cNvPr id="263" name="Google Shape;263;p22"/>
          <p:cNvGraphicFramePr/>
          <p:nvPr/>
        </p:nvGraphicFramePr>
        <p:xfrm>
          <a:off x="952500" y="619325"/>
          <a:ext cx="3000000" cy="3000000"/>
        </p:xfrm>
        <a:graphic>
          <a:graphicData uri="http://schemas.openxmlformats.org/drawingml/2006/table">
            <a:tbl>
              <a:tblPr>
                <a:noFill/>
                <a:tableStyleId>{E8F118DC-B23B-47FD-A7D6-695816414A83}</a:tableStyleId>
              </a:tblPr>
              <a:tblGrid>
                <a:gridCol w="1447800"/>
                <a:gridCol w="1447800"/>
                <a:gridCol w="1447800"/>
                <a:gridCol w="1447800"/>
                <a:gridCol w="1447800"/>
              </a:tblGrid>
              <a:tr h="381000">
                <a:tc>
                  <a:txBody>
                    <a:bodyPr/>
                    <a:lstStyle/>
                    <a:p>
                      <a:pPr indent="0" lvl="0" marL="0" rtl="0" algn="ctr">
                        <a:lnSpc>
                          <a:spcPct val="115000"/>
                        </a:lnSpc>
                        <a:spcBef>
                          <a:spcPts val="0"/>
                        </a:spcBef>
                        <a:spcAft>
                          <a:spcPts val="0"/>
                        </a:spcAft>
                        <a:buNone/>
                      </a:pPr>
                      <a:r>
                        <a:rPr b="1" lang="en-GB" sz="1100"/>
                        <a:t>Model</a:t>
                      </a:r>
                      <a:endParaRPr b="1" sz="1100"/>
                    </a:p>
                  </a:txBody>
                  <a:tcPr marT="91425" marB="91425" marR="91425" marL="91425"/>
                </a:tc>
                <a:tc>
                  <a:txBody>
                    <a:bodyPr/>
                    <a:lstStyle/>
                    <a:p>
                      <a:pPr indent="0" lvl="0" marL="0" rtl="0" algn="ctr">
                        <a:lnSpc>
                          <a:spcPct val="115000"/>
                        </a:lnSpc>
                        <a:spcBef>
                          <a:spcPts val="0"/>
                        </a:spcBef>
                        <a:spcAft>
                          <a:spcPts val="0"/>
                        </a:spcAft>
                        <a:buNone/>
                      </a:pPr>
                      <a:r>
                        <a:rPr b="1" lang="en-GB" sz="1100"/>
                        <a:t>Direction</a:t>
                      </a:r>
                      <a:endParaRPr b="1" sz="1100"/>
                    </a:p>
                  </a:txBody>
                  <a:tcPr marT="91425" marB="91425" marR="91425" marL="91425"/>
                </a:tc>
                <a:tc>
                  <a:txBody>
                    <a:bodyPr/>
                    <a:lstStyle/>
                    <a:p>
                      <a:pPr indent="0" lvl="0" marL="0" rtl="0" algn="ctr">
                        <a:lnSpc>
                          <a:spcPct val="115000"/>
                        </a:lnSpc>
                        <a:spcBef>
                          <a:spcPts val="0"/>
                        </a:spcBef>
                        <a:spcAft>
                          <a:spcPts val="0"/>
                        </a:spcAft>
                        <a:buNone/>
                      </a:pPr>
                      <a:r>
                        <a:rPr b="1" lang="en-GB" sz="1100"/>
                        <a:t>Bias</a:t>
                      </a:r>
                      <a:endParaRPr b="1" sz="1100"/>
                    </a:p>
                  </a:txBody>
                  <a:tcPr marT="91425" marB="91425" marR="91425" marL="91425"/>
                </a:tc>
                <a:tc>
                  <a:txBody>
                    <a:bodyPr/>
                    <a:lstStyle/>
                    <a:p>
                      <a:pPr indent="0" lvl="0" marL="0" rtl="0" algn="ctr">
                        <a:lnSpc>
                          <a:spcPct val="115000"/>
                        </a:lnSpc>
                        <a:spcBef>
                          <a:spcPts val="0"/>
                        </a:spcBef>
                        <a:spcAft>
                          <a:spcPts val="0"/>
                        </a:spcAft>
                        <a:buNone/>
                      </a:pPr>
                      <a:r>
                        <a:rPr b="1" lang="en-GB" sz="1100"/>
                        <a:t>Confidence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GB" sz="1100"/>
                        <a:t>Macro Driver</a:t>
                      </a:r>
                      <a:endParaRPr b="1" sz="1100"/>
                    </a:p>
                  </a:txBody>
                  <a:tcPr marT="91425" marB="91425" marR="91425" marL="91425"/>
                </a:tc>
              </a:tr>
              <a:tr h="381000">
                <a:tc>
                  <a:txBody>
                    <a:bodyPr/>
                    <a:lstStyle/>
                    <a:p>
                      <a:pPr indent="0" lvl="0" marL="0" rtl="0" algn="l">
                        <a:spcBef>
                          <a:spcPts val="0"/>
                        </a:spcBef>
                        <a:spcAft>
                          <a:spcPts val="0"/>
                        </a:spcAft>
                        <a:buNone/>
                      </a:pPr>
                      <a:r>
                        <a:rPr lang="en-GB"/>
                        <a:t>ChatGPT</a:t>
                      </a:r>
                      <a:endParaRPr/>
                    </a:p>
                  </a:txBody>
                  <a:tcPr marT="91425" marB="91425" marR="91425" marL="91425"/>
                </a:tc>
                <a:tc>
                  <a:txBody>
                    <a:bodyPr/>
                    <a:lstStyle/>
                    <a:p>
                      <a:pPr indent="0" lvl="0" marL="0" rtl="0" algn="l">
                        <a:spcBef>
                          <a:spcPts val="0"/>
                        </a:spcBef>
                        <a:spcAft>
                          <a:spcPts val="0"/>
                        </a:spcAft>
                        <a:buNone/>
                      </a:pPr>
                      <a:r>
                        <a:rPr lang="en-GB"/>
                        <a:t>Neutral-Bullish</a:t>
                      </a:r>
                      <a:endParaRPr/>
                    </a:p>
                  </a:txBody>
                  <a:tcPr marT="91425" marB="91425" marR="91425" marL="91425"/>
                </a:tc>
                <a:tc>
                  <a:txBody>
                    <a:bodyPr/>
                    <a:lstStyle/>
                    <a:p>
                      <a:pPr indent="0" lvl="0" marL="0" rtl="0" algn="l">
                        <a:spcBef>
                          <a:spcPts val="0"/>
                        </a:spcBef>
                        <a:spcAft>
                          <a:spcPts val="0"/>
                        </a:spcAft>
                        <a:buNone/>
                      </a:pPr>
                      <a:r>
                        <a:rPr lang="en-GB"/>
                        <a:t>Neutral-Bullish</a:t>
                      </a:r>
                      <a:endParaRPr/>
                    </a:p>
                  </a:txBody>
                  <a:tcPr marT="91425" marB="91425" marR="91425" marL="91425"/>
                </a:tc>
                <a:tc>
                  <a:txBody>
                    <a:bodyPr/>
                    <a:lstStyle/>
                    <a:p>
                      <a:pPr indent="0" lvl="0" marL="0" rtl="0" algn="l">
                        <a:spcBef>
                          <a:spcPts val="0"/>
                        </a:spcBef>
                        <a:spcAft>
                          <a:spcPts val="0"/>
                        </a:spcAft>
                        <a:buNone/>
                      </a:pPr>
                      <a:r>
                        <a:rPr lang="en-GB"/>
                        <a:t>Medium</a:t>
                      </a:r>
                      <a:endParaRPr/>
                    </a:p>
                  </a:txBody>
                  <a:tcPr marT="91425" marB="91425" marR="91425" marL="91425"/>
                </a:tc>
                <a:tc>
                  <a:txBody>
                    <a:bodyPr/>
                    <a:lstStyle/>
                    <a:p>
                      <a:pPr indent="0" lvl="0" marL="0" rtl="0" algn="l">
                        <a:spcBef>
                          <a:spcPts val="0"/>
                        </a:spcBef>
                        <a:spcAft>
                          <a:spcPts val="0"/>
                        </a:spcAft>
                        <a:buNone/>
                      </a:pPr>
                      <a:r>
                        <a:rPr lang="en-GB"/>
                        <a:t>Fed Stability + GDP Growth</a:t>
                      </a:r>
                      <a:endParaRPr/>
                    </a:p>
                  </a:txBody>
                  <a:tcPr marT="91425" marB="91425" marR="91425" marL="91425"/>
                </a:tc>
              </a:tr>
              <a:tr h="381000">
                <a:tc>
                  <a:txBody>
                    <a:bodyPr/>
                    <a:lstStyle/>
                    <a:p>
                      <a:pPr indent="0" lvl="0" marL="0" rtl="0" algn="l">
                        <a:spcBef>
                          <a:spcPts val="0"/>
                        </a:spcBef>
                        <a:spcAft>
                          <a:spcPts val="0"/>
                        </a:spcAft>
                        <a:buNone/>
                      </a:pPr>
                      <a:r>
                        <a:rPr lang="en-GB"/>
                        <a:t>Claude</a:t>
                      </a:r>
                      <a:endParaRPr/>
                    </a:p>
                  </a:txBody>
                  <a:tcPr marT="91425" marB="91425" marR="91425" marL="91425"/>
                </a:tc>
                <a:tc>
                  <a:txBody>
                    <a:bodyPr/>
                    <a:lstStyle/>
                    <a:p>
                      <a:pPr indent="0" lvl="0" marL="0" rtl="0" algn="l">
                        <a:spcBef>
                          <a:spcPts val="0"/>
                        </a:spcBef>
                        <a:spcAft>
                          <a:spcPts val="0"/>
                        </a:spcAft>
                        <a:buNone/>
                      </a:pPr>
                      <a:r>
                        <a:rPr lang="en-GB"/>
                        <a:t>Up</a:t>
                      </a:r>
                      <a:endParaRPr/>
                    </a:p>
                  </a:txBody>
                  <a:tcPr marT="91425" marB="91425" marR="91425" marL="91425"/>
                </a:tc>
                <a:tc>
                  <a:txBody>
                    <a:bodyPr/>
                    <a:lstStyle/>
                    <a:p>
                      <a:pPr indent="0" lvl="0" marL="0" rtl="0" algn="l">
                        <a:spcBef>
                          <a:spcPts val="0"/>
                        </a:spcBef>
                        <a:spcAft>
                          <a:spcPts val="0"/>
                        </a:spcAft>
                        <a:buNone/>
                      </a:pPr>
                      <a:r>
                        <a:rPr lang="en-GB"/>
                        <a:t>Neutral-Bullish</a:t>
                      </a:r>
                      <a:endParaRPr/>
                    </a:p>
                  </a:txBody>
                  <a:tcPr marT="91425" marB="91425" marR="91425" marL="91425"/>
                </a:tc>
                <a:tc>
                  <a:txBody>
                    <a:bodyPr/>
                    <a:lstStyle/>
                    <a:p>
                      <a:pPr indent="0" lvl="0" marL="0" rtl="0" algn="l">
                        <a:spcBef>
                          <a:spcPts val="0"/>
                        </a:spcBef>
                        <a:spcAft>
                          <a:spcPts val="0"/>
                        </a:spcAft>
                        <a:buNone/>
                      </a:pPr>
                      <a:r>
                        <a:rPr lang="en-GB"/>
                        <a:t>Medium</a:t>
                      </a:r>
                      <a:endParaRPr/>
                    </a:p>
                  </a:txBody>
                  <a:tcPr marT="91425" marB="91425" marR="91425" marL="91425"/>
                </a:tc>
                <a:tc>
                  <a:txBody>
                    <a:bodyPr/>
                    <a:lstStyle/>
                    <a:p>
                      <a:pPr indent="0" lvl="0" marL="0" rtl="0" algn="l">
                        <a:spcBef>
                          <a:spcPts val="0"/>
                        </a:spcBef>
                        <a:spcAft>
                          <a:spcPts val="0"/>
                        </a:spcAft>
                        <a:buNone/>
                      </a:pPr>
                      <a:r>
                        <a:rPr lang="en-GB"/>
                        <a:t>GDP Growth + Fed Pause</a:t>
                      </a:r>
                      <a:endParaRPr/>
                    </a:p>
                  </a:txBody>
                  <a:tcPr marT="91425" marB="91425" marR="91425" marL="91425"/>
                </a:tc>
              </a:tr>
              <a:tr h="381000">
                <a:tc>
                  <a:txBody>
                    <a:bodyPr/>
                    <a:lstStyle/>
                    <a:p>
                      <a:pPr indent="0" lvl="0" marL="0" rtl="0" algn="l">
                        <a:spcBef>
                          <a:spcPts val="0"/>
                        </a:spcBef>
                        <a:spcAft>
                          <a:spcPts val="0"/>
                        </a:spcAft>
                        <a:buNone/>
                      </a:pPr>
                      <a:r>
                        <a:rPr lang="en-GB"/>
                        <a:t>Gemini</a:t>
                      </a:r>
                      <a:endParaRPr/>
                    </a:p>
                  </a:txBody>
                  <a:tcPr marT="91425" marB="91425" marR="91425" marL="91425"/>
                </a:tc>
                <a:tc>
                  <a:txBody>
                    <a:bodyPr/>
                    <a:lstStyle/>
                    <a:p>
                      <a:pPr indent="0" lvl="0" marL="0" rtl="0" algn="l">
                        <a:spcBef>
                          <a:spcPts val="0"/>
                        </a:spcBef>
                        <a:spcAft>
                          <a:spcPts val="0"/>
                        </a:spcAft>
                        <a:buNone/>
                      </a:pPr>
                      <a:r>
                        <a:rPr lang="en-GB"/>
                        <a:t>Neutral</a:t>
                      </a:r>
                      <a:endParaRPr/>
                    </a:p>
                  </a:txBody>
                  <a:tcPr marT="91425" marB="91425" marR="91425" marL="91425"/>
                </a:tc>
                <a:tc>
                  <a:txBody>
                    <a:bodyPr/>
                    <a:lstStyle/>
                    <a:p>
                      <a:pPr indent="0" lvl="0" marL="0" rtl="0" algn="l">
                        <a:spcBef>
                          <a:spcPts val="0"/>
                        </a:spcBef>
                        <a:spcAft>
                          <a:spcPts val="0"/>
                        </a:spcAft>
                        <a:buNone/>
                      </a:pPr>
                      <a:r>
                        <a:rPr lang="en-GB"/>
                        <a:t>Neutral</a:t>
                      </a:r>
                      <a:endParaRPr/>
                    </a:p>
                  </a:txBody>
                  <a:tcPr marT="91425" marB="91425" marR="91425" marL="91425"/>
                </a:tc>
                <a:tc>
                  <a:txBody>
                    <a:bodyPr/>
                    <a:lstStyle/>
                    <a:p>
                      <a:pPr indent="0" lvl="0" marL="0" rtl="0" algn="l">
                        <a:spcBef>
                          <a:spcPts val="0"/>
                        </a:spcBef>
                        <a:spcAft>
                          <a:spcPts val="0"/>
                        </a:spcAft>
                        <a:buNone/>
                      </a:pPr>
                      <a:r>
                        <a:rPr lang="en-GB"/>
                        <a:t>Medium</a:t>
                      </a:r>
                      <a:endParaRPr/>
                    </a:p>
                  </a:txBody>
                  <a:tcPr marT="91425" marB="91425" marR="91425" marL="91425"/>
                </a:tc>
                <a:tc>
                  <a:txBody>
                    <a:bodyPr/>
                    <a:lstStyle/>
                    <a:p>
                      <a:pPr indent="0" lvl="0" marL="0" rtl="0" algn="l">
                        <a:spcBef>
                          <a:spcPts val="0"/>
                        </a:spcBef>
                        <a:spcAft>
                          <a:spcPts val="0"/>
                        </a:spcAft>
                        <a:buNone/>
                      </a:pPr>
                      <a:r>
                        <a:rPr lang="en-GB"/>
                        <a:t>GDP Growth + Treasury Yields</a:t>
                      </a:r>
                      <a:endParaRPr/>
                    </a:p>
                  </a:txBody>
                  <a:tcPr marT="91425" marB="91425" marR="91425" marL="91425"/>
                </a:tc>
              </a:tr>
              <a:tr h="639850">
                <a:tc>
                  <a:txBody>
                    <a:bodyPr/>
                    <a:lstStyle/>
                    <a:p>
                      <a:pPr indent="0" lvl="0" marL="0" rtl="0" algn="l">
                        <a:spcBef>
                          <a:spcPts val="0"/>
                        </a:spcBef>
                        <a:spcAft>
                          <a:spcPts val="0"/>
                        </a:spcAft>
                        <a:buNone/>
                      </a:pPr>
                      <a:r>
                        <a:rPr lang="en-GB"/>
                        <a:t>DeepSeek</a:t>
                      </a:r>
                      <a:endParaRPr/>
                    </a:p>
                  </a:txBody>
                  <a:tcPr marT="91425" marB="91425" marR="91425" marL="91425"/>
                </a:tc>
                <a:tc>
                  <a:txBody>
                    <a:bodyPr/>
                    <a:lstStyle/>
                    <a:p>
                      <a:pPr indent="0" lvl="0" marL="0" rtl="0" algn="l">
                        <a:spcBef>
                          <a:spcPts val="0"/>
                        </a:spcBef>
                        <a:spcAft>
                          <a:spcPts val="0"/>
                        </a:spcAft>
                        <a:buNone/>
                      </a:pPr>
                      <a:r>
                        <a:rPr lang="en-GB"/>
                        <a:t>Up</a:t>
                      </a:r>
                      <a:endParaRPr/>
                    </a:p>
                  </a:txBody>
                  <a:tcPr marT="91425" marB="91425" marR="91425" marL="91425"/>
                </a:tc>
                <a:tc>
                  <a:txBody>
                    <a:bodyPr/>
                    <a:lstStyle/>
                    <a:p>
                      <a:pPr indent="0" lvl="0" marL="0" rtl="0" algn="l">
                        <a:spcBef>
                          <a:spcPts val="0"/>
                        </a:spcBef>
                        <a:spcAft>
                          <a:spcPts val="0"/>
                        </a:spcAft>
                        <a:buNone/>
                      </a:pPr>
                      <a:r>
                        <a:rPr lang="en-GB"/>
                        <a:t>Neutral-Cautiously Bullish</a:t>
                      </a:r>
                      <a:endParaRPr/>
                    </a:p>
                  </a:txBody>
                  <a:tcPr marT="91425" marB="91425" marR="91425" marL="91425"/>
                </a:tc>
                <a:tc>
                  <a:txBody>
                    <a:bodyPr/>
                    <a:lstStyle/>
                    <a:p>
                      <a:pPr indent="0" lvl="0" marL="0" rtl="0" algn="l">
                        <a:spcBef>
                          <a:spcPts val="0"/>
                        </a:spcBef>
                        <a:spcAft>
                          <a:spcPts val="0"/>
                        </a:spcAft>
                        <a:buNone/>
                      </a:pPr>
                      <a:r>
                        <a:rPr lang="en-GB"/>
                        <a:t>Medium</a:t>
                      </a:r>
                      <a:endParaRPr/>
                    </a:p>
                  </a:txBody>
                  <a:tcPr marT="91425" marB="91425" marR="91425" marL="91425"/>
                </a:tc>
                <a:tc>
                  <a:txBody>
                    <a:bodyPr/>
                    <a:lstStyle/>
                    <a:p>
                      <a:pPr indent="0" lvl="0" marL="0" rtl="0" algn="l">
                        <a:spcBef>
                          <a:spcPts val="0"/>
                        </a:spcBef>
                        <a:spcAft>
                          <a:spcPts val="0"/>
                        </a:spcAft>
                        <a:buNone/>
                      </a:pPr>
                      <a:r>
                        <a:rPr lang="en-GB"/>
                        <a:t>Treasury Yields + GDPNow</a:t>
                      </a:r>
                      <a:endParaRPr/>
                    </a:p>
                  </a:txBody>
                  <a:tcPr marT="91425" marB="91425" marR="91425" marL="91425"/>
                </a:tc>
              </a:tr>
            </a:tbl>
          </a:graphicData>
        </a:graphic>
      </p:graphicFrame>
      <p:sp>
        <p:nvSpPr>
          <p:cNvPr id="264" name="Google Shape;264;p22"/>
          <p:cNvSpPr txBox="1"/>
          <p:nvPr/>
        </p:nvSpPr>
        <p:spPr>
          <a:xfrm>
            <a:off x="44300" y="3588950"/>
            <a:ext cx="2045400" cy="99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500">
                <a:solidFill>
                  <a:schemeClr val="dk2"/>
                </a:solidFill>
              </a:rPr>
              <a:t>AI Consensus Call Direction:</a:t>
            </a:r>
            <a:endParaRPr sz="1500">
              <a:solidFill>
                <a:schemeClr val="dk2"/>
              </a:solidFill>
            </a:endParaRPr>
          </a:p>
          <a:p>
            <a:pPr indent="0" lvl="0" marL="0" rtl="0" algn="l">
              <a:spcBef>
                <a:spcPts val="0"/>
              </a:spcBef>
              <a:spcAft>
                <a:spcPts val="0"/>
              </a:spcAft>
              <a:buNone/>
            </a:pPr>
            <a:r>
              <a:rPr lang="en-GB" sz="1500">
                <a:solidFill>
                  <a:schemeClr val="dk2"/>
                </a:solidFill>
              </a:rPr>
              <a:t>NEUTRAL-BULLISH</a:t>
            </a:r>
            <a:endParaRPr sz="1500">
              <a:solidFill>
                <a:schemeClr val="dk2"/>
              </a:solidFill>
            </a:endParaRPr>
          </a:p>
        </p:txBody>
      </p:sp>
      <p:sp>
        <p:nvSpPr>
          <p:cNvPr id="265" name="Google Shape;265;p22"/>
          <p:cNvSpPr txBox="1"/>
          <p:nvPr/>
        </p:nvSpPr>
        <p:spPr>
          <a:xfrm>
            <a:off x="2131250" y="3588950"/>
            <a:ext cx="3000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a:t>Risk Profile</a:t>
            </a:r>
            <a:endParaRPr/>
          </a:p>
          <a:p>
            <a:pPr indent="0" lvl="0" marL="0" rtl="0" algn="l">
              <a:spcBef>
                <a:spcPts val="0"/>
              </a:spcBef>
              <a:spcAft>
                <a:spcPts val="0"/>
              </a:spcAft>
              <a:buClr>
                <a:schemeClr val="dk1"/>
              </a:buClr>
              <a:buSzPts val="1100"/>
              <a:buFont typeface="Arial"/>
              <a:buNone/>
            </a:pPr>
            <a:r>
              <a:rPr lang="en-GB"/>
              <a:t>Bias: Neutral-Bullish</a:t>
            </a:r>
            <a:endParaRPr/>
          </a:p>
          <a:p>
            <a:pPr indent="0" lvl="0" marL="0" rtl="0" algn="l">
              <a:spcBef>
                <a:spcPts val="0"/>
              </a:spcBef>
              <a:spcAft>
                <a:spcPts val="0"/>
              </a:spcAft>
              <a:buNone/>
            </a:pPr>
            <a:r>
              <a:rPr lang="en-GB"/>
              <a:t>Confidence: Medium </a:t>
            </a:r>
            <a:endParaRPr/>
          </a:p>
        </p:txBody>
      </p:sp>
      <p:sp>
        <p:nvSpPr>
          <p:cNvPr id="266" name="Google Shape;266;p22"/>
          <p:cNvSpPr txBox="1"/>
          <p:nvPr/>
        </p:nvSpPr>
        <p:spPr>
          <a:xfrm>
            <a:off x="4264800" y="3561800"/>
            <a:ext cx="300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Strong Agreement </a:t>
            </a:r>
            <a:endParaRPr/>
          </a:p>
          <a:p>
            <a:pPr indent="0" lvl="0" marL="0" rtl="0" algn="l">
              <a:spcBef>
                <a:spcPts val="0"/>
              </a:spcBef>
              <a:spcAft>
                <a:spcPts val="0"/>
              </a:spcAft>
              <a:buNone/>
            </a:pPr>
            <a:r>
              <a:rPr lang="en-GB"/>
              <a:t>NDX = Bullish</a:t>
            </a:r>
            <a:endParaRPr/>
          </a:p>
          <a:p>
            <a:pPr indent="0" lvl="0" marL="0" rtl="0" algn="l">
              <a:spcBef>
                <a:spcPts val="0"/>
              </a:spcBef>
              <a:spcAft>
                <a:spcPts val="0"/>
              </a:spcAft>
              <a:buNone/>
            </a:pPr>
            <a:r>
              <a:rPr lang="en-GB"/>
              <a:t>XLK = Bullish</a:t>
            </a:r>
            <a:endParaRPr/>
          </a:p>
          <a:p>
            <a:pPr indent="0" lvl="0" marL="0" rtl="0" algn="l">
              <a:spcBef>
                <a:spcPts val="0"/>
              </a:spcBef>
              <a:spcAft>
                <a:spcPts val="0"/>
              </a:spcAft>
              <a:buNone/>
            </a:pPr>
            <a:r>
              <a:rPr lang="en-GB"/>
              <a:t>XLE = Bearish</a:t>
            </a:r>
            <a:endParaRPr/>
          </a:p>
        </p:txBody>
      </p:sp>
      <p:sp>
        <p:nvSpPr>
          <p:cNvPr id="267" name="Google Shape;267;p22"/>
          <p:cNvSpPr txBox="1"/>
          <p:nvPr/>
        </p:nvSpPr>
        <p:spPr>
          <a:xfrm>
            <a:off x="6379150" y="3588950"/>
            <a:ext cx="300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a:t>Highest Uncertainty</a:t>
            </a:r>
            <a:endParaRPr/>
          </a:p>
          <a:p>
            <a:pPr indent="0" lvl="0" marL="0" rtl="0" algn="l">
              <a:spcBef>
                <a:spcPts val="0"/>
              </a:spcBef>
              <a:spcAft>
                <a:spcPts val="0"/>
              </a:spcAft>
              <a:buNone/>
            </a:pPr>
            <a:r>
              <a:rPr lang="en-GB"/>
              <a:t>IWM</a:t>
            </a:r>
            <a:endParaRPr/>
          </a:p>
          <a:p>
            <a:pPr indent="0" lvl="0" marL="0" rtl="0" algn="l">
              <a:spcBef>
                <a:spcPts val="0"/>
              </a:spcBef>
              <a:spcAft>
                <a:spcPts val="0"/>
              </a:spcAft>
              <a:buNone/>
            </a:pPr>
            <a:r>
              <a:rPr lang="en-GB"/>
              <a:t>Largest Model Divergence</a:t>
            </a:r>
            <a:endParaRPr/>
          </a:p>
          <a:p>
            <a:pPr indent="0" lvl="0" marL="0" rtl="0" algn="l">
              <a:spcBef>
                <a:spcPts val="0"/>
              </a:spcBef>
              <a:spcAft>
                <a:spcPts val="0"/>
              </a:spcAft>
              <a:buNone/>
            </a:pPr>
            <a:r>
              <a:rPr lang="en-GB"/>
              <a:t>Mixed Forecasts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271" name="Shape 271"/>
        <p:cNvGrpSpPr/>
        <p:nvPr/>
      </p:nvGrpSpPr>
      <p:grpSpPr>
        <a:xfrm>
          <a:off x="0" y="0"/>
          <a:ext cx="0" cy="0"/>
          <a:chOff x="0" y="0"/>
          <a:chExt cx="0" cy="0"/>
        </a:xfrm>
      </p:grpSpPr>
      <p:sp>
        <p:nvSpPr>
          <p:cNvPr id="272" name="Google Shape;272;p23"/>
          <p:cNvSpPr/>
          <p:nvPr/>
        </p:nvSpPr>
        <p:spPr>
          <a:xfrm>
            <a:off x="0" y="0"/>
            <a:ext cx="9144000" cy="640200"/>
          </a:xfrm>
          <a:prstGeom prst="rect">
            <a:avLst/>
          </a:prstGeom>
          <a:solidFill>
            <a:srgbClr val="08172E"/>
          </a:solidFill>
          <a:ln cap="flat" cmpd="sng" w="9525">
            <a:solidFill>
              <a:srgbClr val="08172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0" i="0" lang="en-GB" sz="1800" u="none" cap="none" strike="noStrike">
                <a:solidFill>
                  <a:schemeClr val="lt1"/>
                </a:solidFill>
                <a:latin typeface="Calibri"/>
                <a:ea typeface="Calibri"/>
                <a:cs typeface="Calibri"/>
                <a:sym typeface="Calibri"/>
              </a:rPr>
              <a:t>R7 Human Score</a:t>
            </a:r>
            <a:endParaRPr/>
          </a:p>
        </p:txBody>
      </p:sp>
      <p:sp>
        <p:nvSpPr>
          <p:cNvPr id="273" name="Google Shape;273;p23"/>
          <p:cNvSpPr txBox="1"/>
          <p:nvPr/>
        </p:nvSpPr>
        <p:spPr>
          <a:xfrm>
            <a:off x="457200" y="822960"/>
            <a:ext cx="36576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200">
                <a:solidFill>
                  <a:schemeClr val="dk1"/>
                </a:solidFill>
                <a:latin typeface="Calibri"/>
                <a:ea typeface="Calibri"/>
                <a:cs typeface="Calibri"/>
                <a:sym typeface="Calibri"/>
              </a:rPr>
              <a:t>Human Score Dashboard</a:t>
            </a:r>
            <a:endParaRPr/>
          </a:p>
        </p:txBody>
      </p:sp>
      <p:sp>
        <p:nvSpPr>
          <p:cNvPr id="274" name="Google Shape;274;p23"/>
          <p:cNvSpPr/>
          <p:nvPr/>
        </p:nvSpPr>
        <p:spPr>
          <a:xfrm>
            <a:off x="365760"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GB" sz="1600">
                <a:solidFill>
                  <a:schemeClr val="dk1"/>
                </a:solidFill>
                <a:latin typeface="Calibri"/>
                <a:ea typeface="Calibri"/>
                <a:cs typeface="Calibri"/>
                <a:sym typeface="Calibri"/>
              </a:rPr>
              <a:t>Macro / News</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GB" sz="1600">
                <a:solidFill>
                  <a:schemeClr val="dk1"/>
                </a:solidFill>
                <a:latin typeface="Calibri"/>
                <a:ea typeface="Calibri"/>
                <a:cs typeface="Calibri"/>
                <a:sym typeface="Calibri"/>
              </a:rPr>
              <a:t>+1</a:t>
            </a:r>
            <a:endParaRPr/>
          </a:p>
          <a:p>
            <a:pPr indent="0" lvl="0" marL="0" marR="0" rtl="0" algn="l">
              <a:spcBef>
                <a:spcPts val="0"/>
              </a:spcBef>
              <a:spcAft>
                <a:spcPts val="0"/>
              </a:spcAft>
              <a:buNone/>
            </a:pPr>
            <a:r>
              <a:rPr lang="en-GB" sz="1600">
                <a:solidFill>
                  <a:schemeClr val="dk1"/>
                </a:solidFill>
                <a:latin typeface="Calibri"/>
                <a:ea typeface="Calibri"/>
                <a:cs typeface="Calibri"/>
                <a:sym typeface="Calibri"/>
              </a:rPr>
              <a:t>Fed stability,</a:t>
            </a:r>
            <a:endParaRPr/>
          </a:p>
          <a:p>
            <a:pPr indent="0" lvl="0" marL="0" marR="0" rtl="0" algn="l">
              <a:spcBef>
                <a:spcPts val="0"/>
              </a:spcBef>
              <a:spcAft>
                <a:spcPts val="0"/>
              </a:spcAft>
              <a:buNone/>
            </a:pPr>
            <a:r>
              <a:rPr lang="en-GB" sz="1600">
                <a:solidFill>
                  <a:schemeClr val="dk1"/>
                </a:solidFill>
                <a:latin typeface="Calibri"/>
                <a:ea typeface="Calibri"/>
                <a:cs typeface="Calibri"/>
                <a:sym typeface="Calibri"/>
              </a:rPr>
              <a:t>lower yields</a:t>
            </a:r>
            <a:endParaRPr/>
          </a:p>
        </p:txBody>
      </p:sp>
      <p:sp>
        <p:nvSpPr>
          <p:cNvPr id="275" name="Google Shape;275;p23"/>
          <p:cNvSpPr/>
          <p:nvPr/>
        </p:nvSpPr>
        <p:spPr>
          <a:xfrm>
            <a:off x="2103120"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GB" sz="1400">
                <a:solidFill>
                  <a:schemeClr val="dk1"/>
                </a:solidFill>
                <a:latin typeface="Calibri"/>
                <a:ea typeface="Calibri"/>
                <a:cs typeface="Calibri"/>
                <a:sym typeface="Calibri"/>
              </a:rPr>
              <a:t>Technical</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GB" sz="1400">
                <a:solidFill>
                  <a:schemeClr val="dk1"/>
                </a:solidFill>
                <a:latin typeface="Calibri"/>
                <a:ea typeface="Calibri"/>
                <a:cs typeface="Calibri"/>
                <a:sym typeface="Calibri"/>
              </a:rPr>
              <a:t>0</a:t>
            </a:r>
            <a:endParaRPr/>
          </a:p>
          <a:p>
            <a:pPr indent="0" lvl="0" marL="0" marR="0" rtl="0" algn="l">
              <a:spcBef>
                <a:spcPts val="0"/>
              </a:spcBef>
              <a:spcAft>
                <a:spcPts val="0"/>
              </a:spcAft>
              <a:buNone/>
            </a:pPr>
            <a:r>
              <a:rPr lang="en-GB" sz="1400">
                <a:solidFill>
                  <a:schemeClr val="dk1"/>
                </a:solidFill>
                <a:latin typeface="Calibri"/>
                <a:ea typeface="Calibri"/>
                <a:cs typeface="Calibri"/>
                <a:sym typeface="Calibri"/>
              </a:rPr>
              <a:t>Recovery above</a:t>
            </a:r>
            <a:endParaRPr/>
          </a:p>
          <a:p>
            <a:pPr indent="0" lvl="0" marL="0" marR="0" rtl="0" algn="l">
              <a:spcBef>
                <a:spcPts val="0"/>
              </a:spcBef>
              <a:spcAft>
                <a:spcPts val="0"/>
              </a:spcAft>
              <a:buNone/>
            </a:pPr>
            <a:r>
              <a:rPr lang="en-GB" sz="1400">
                <a:solidFill>
                  <a:schemeClr val="dk1"/>
                </a:solidFill>
                <a:latin typeface="Calibri"/>
                <a:ea typeface="Calibri"/>
                <a:cs typeface="Calibri"/>
                <a:sym typeface="Calibri"/>
              </a:rPr>
              <a:t>EMAs unconfirmed</a:t>
            </a:r>
            <a:endParaRPr/>
          </a:p>
        </p:txBody>
      </p:sp>
      <p:sp>
        <p:nvSpPr>
          <p:cNvPr id="276" name="Google Shape;276;p23"/>
          <p:cNvSpPr/>
          <p:nvPr/>
        </p:nvSpPr>
        <p:spPr>
          <a:xfrm>
            <a:off x="3840479"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GB" sz="1400">
                <a:solidFill>
                  <a:schemeClr val="dk1"/>
                </a:solidFill>
                <a:latin typeface="Calibri"/>
                <a:ea typeface="Calibri"/>
                <a:cs typeface="Calibri"/>
                <a:sym typeface="Calibri"/>
              </a:rPr>
              <a:t>Almanac</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GB" sz="1400">
                <a:solidFill>
                  <a:schemeClr val="dk1"/>
                </a:solidFill>
                <a:latin typeface="Calibri"/>
                <a:ea typeface="Calibri"/>
                <a:cs typeface="Calibri"/>
                <a:sym typeface="Calibri"/>
              </a:rPr>
              <a:t>-1</a:t>
            </a:r>
            <a:endParaRPr/>
          </a:p>
          <a:p>
            <a:pPr indent="0" lvl="0" marL="0" marR="0" rtl="0" algn="l">
              <a:spcBef>
                <a:spcPts val="0"/>
              </a:spcBef>
              <a:spcAft>
                <a:spcPts val="0"/>
              </a:spcAft>
              <a:buNone/>
            </a:pPr>
            <a:r>
              <a:rPr lang="en-GB" sz="1400">
                <a:solidFill>
                  <a:schemeClr val="dk1"/>
                </a:solidFill>
                <a:latin typeface="Calibri"/>
                <a:ea typeface="Calibri"/>
                <a:cs typeface="Calibri"/>
                <a:sym typeface="Calibri"/>
              </a:rPr>
              <a:t>June weakness &amp;</a:t>
            </a:r>
            <a:endParaRPr/>
          </a:p>
          <a:p>
            <a:pPr indent="0" lvl="0" marL="0" marR="0" rtl="0" algn="l">
              <a:spcBef>
                <a:spcPts val="0"/>
              </a:spcBef>
              <a:spcAft>
                <a:spcPts val="0"/>
              </a:spcAft>
              <a:buNone/>
            </a:pPr>
            <a:r>
              <a:rPr lang="en-GB" sz="1400">
                <a:solidFill>
                  <a:schemeClr val="dk1"/>
                </a:solidFill>
                <a:latin typeface="Calibri"/>
                <a:ea typeface="Calibri"/>
                <a:cs typeface="Calibri"/>
                <a:sym typeface="Calibri"/>
              </a:rPr>
              <a:t>Triple Witch</a:t>
            </a:r>
            <a:endParaRPr/>
          </a:p>
        </p:txBody>
      </p:sp>
      <p:sp>
        <p:nvSpPr>
          <p:cNvPr id="277" name="Google Shape;277;p23"/>
          <p:cNvSpPr/>
          <p:nvPr/>
        </p:nvSpPr>
        <p:spPr>
          <a:xfrm>
            <a:off x="5577840"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GB" sz="1400">
                <a:solidFill>
                  <a:schemeClr val="dk1"/>
                </a:solidFill>
                <a:latin typeface="Calibri"/>
                <a:ea typeface="Calibri"/>
                <a:cs typeface="Calibri"/>
                <a:sym typeface="Calibri"/>
              </a:rPr>
              <a:t>AI Agreement</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GB" sz="1400">
                <a:solidFill>
                  <a:schemeClr val="dk1"/>
                </a:solidFill>
                <a:latin typeface="Calibri"/>
                <a:ea typeface="Calibri"/>
                <a:cs typeface="Calibri"/>
                <a:sym typeface="Calibri"/>
              </a:rPr>
              <a:t>0</a:t>
            </a:r>
            <a:endParaRPr/>
          </a:p>
          <a:p>
            <a:pPr indent="0" lvl="0" marL="0" marR="0" rtl="0" algn="l">
              <a:spcBef>
                <a:spcPts val="0"/>
              </a:spcBef>
              <a:spcAft>
                <a:spcPts val="0"/>
              </a:spcAft>
              <a:buNone/>
            </a:pPr>
            <a:r>
              <a:rPr lang="en-GB" sz="1400">
                <a:solidFill>
                  <a:schemeClr val="dk1"/>
                </a:solidFill>
                <a:latin typeface="Calibri"/>
                <a:ea typeface="Calibri"/>
                <a:cs typeface="Calibri"/>
                <a:sym typeface="Calibri"/>
              </a:rPr>
              <a:t>Similar evidence</a:t>
            </a:r>
            <a:endParaRPr/>
          </a:p>
          <a:p>
            <a:pPr indent="0" lvl="0" marL="0" marR="0" rtl="0" algn="l">
              <a:spcBef>
                <a:spcPts val="0"/>
              </a:spcBef>
              <a:spcAft>
                <a:spcPts val="0"/>
              </a:spcAft>
              <a:buNone/>
            </a:pPr>
            <a:r>
              <a:rPr lang="en-GB" sz="1400">
                <a:solidFill>
                  <a:schemeClr val="dk1"/>
                </a:solidFill>
                <a:latin typeface="Calibri"/>
                <a:ea typeface="Calibri"/>
                <a:cs typeface="Calibri"/>
                <a:sym typeface="Calibri"/>
              </a:rPr>
              <a:t>used</a:t>
            </a:r>
            <a:endParaRPr/>
          </a:p>
        </p:txBody>
      </p:sp>
      <p:sp>
        <p:nvSpPr>
          <p:cNvPr id="278" name="Google Shape;278;p23"/>
          <p:cNvSpPr/>
          <p:nvPr/>
        </p:nvSpPr>
        <p:spPr>
          <a:xfrm>
            <a:off x="7315200" y="1371600"/>
            <a:ext cx="1645800" cy="13716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GB" sz="1600">
                <a:solidFill>
                  <a:schemeClr val="dk1"/>
                </a:solidFill>
                <a:latin typeface="Calibri"/>
                <a:ea typeface="Calibri"/>
                <a:cs typeface="Calibri"/>
                <a:sym typeface="Calibri"/>
              </a:rPr>
              <a:t>Wild Card</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GB" sz="1600">
                <a:solidFill>
                  <a:schemeClr val="dk1"/>
                </a:solidFill>
                <a:latin typeface="Calibri"/>
                <a:ea typeface="Calibri"/>
                <a:cs typeface="Calibri"/>
                <a:sym typeface="Calibri"/>
              </a:rPr>
              <a:t>+1</a:t>
            </a:r>
            <a:endParaRPr/>
          </a:p>
          <a:p>
            <a:pPr indent="0" lvl="0" marL="0" marR="0" rtl="0" algn="l">
              <a:spcBef>
                <a:spcPts val="0"/>
              </a:spcBef>
              <a:spcAft>
                <a:spcPts val="0"/>
              </a:spcAft>
              <a:buNone/>
            </a:pPr>
            <a:r>
              <a:rPr lang="en-GB" sz="1600">
                <a:solidFill>
                  <a:schemeClr val="dk1"/>
                </a:solidFill>
                <a:latin typeface="Calibri"/>
                <a:ea typeface="Calibri"/>
                <a:cs typeface="Calibri"/>
                <a:sym typeface="Calibri"/>
              </a:rPr>
              <a:t>Technology</a:t>
            </a:r>
            <a:endParaRPr/>
          </a:p>
          <a:p>
            <a:pPr indent="0" lvl="0" marL="0" marR="0" rtl="0" algn="l">
              <a:spcBef>
                <a:spcPts val="0"/>
              </a:spcBef>
              <a:spcAft>
                <a:spcPts val="0"/>
              </a:spcAft>
              <a:buNone/>
            </a:pPr>
            <a:r>
              <a:rPr lang="en-GB" sz="1600">
                <a:solidFill>
                  <a:schemeClr val="dk1"/>
                </a:solidFill>
                <a:latin typeface="Calibri"/>
                <a:ea typeface="Calibri"/>
                <a:cs typeface="Calibri"/>
                <a:sym typeface="Calibri"/>
              </a:rPr>
              <a:t>leadership</a:t>
            </a:r>
            <a:endParaRPr/>
          </a:p>
        </p:txBody>
      </p:sp>
      <p:sp>
        <p:nvSpPr>
          <p:cNvPr id="279" name="Google Shape;279;p23"/>
          <p:cNvSpPr/>
          <p:nvPr/>
        </p:nvSpPr>
        <p:spPr>
          <a:xfrm>
            <a:off x="2740342" y="3108960"/>
            <a:ext cx="3353400" cy="457200"/>
          </a:xfrm>
          <a:prstGeom prst="roundRect">
            <a:avLst>
              <a:gd fmla="val 16667" name="adj"/>
            </a:avLst>
          </a:prstGeom>
          <a:solidFill>
            <a:srgbClr val="E156A8"/>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GB" sz="1600">
                <a:solidFill>
                  <a:schemeClr val="lt1"/>
                </a:solidFill>
                <a:latin typeface="Calibri"/>
                <a:ea typeface="Calibri"/>
                <a:cs typeface="Calibri"/>
                <a:sym typeface="Calibri"/>
              </a:rPr>
              <a:t>TOTAL SCORE: +1 (NEUTRAL-BULLISH)</a:t>
            </a:r>
            <a:endParaRPr/>
          </a:p>
        </p:txBody>
      </p:sp>
      <p:sp>
        <p:nvSpPr>
          <p:cNvPr id="280" name="Google Shape;280;p23"/>
          <p:cNvSpPr txBox="1"/>
          <p:nvPr/>
        </p:nvSpPr>
        <p:spPr>
          <a:xfrm>
            <a:off x="930481" y="3831631"/>
            <a:ext cx="72078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Improving macro conditions and Technology leadership support equities,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but June seasonality and Triple Witch volatility continue to limit conviction.</a:t>
            </a:r>
            <a:endParaRPr/>
          </a:p>
        </p:txBody>
      </p:sp>
      <p:sp>
        <p:nvSpPr>
          <p:cNvPr id="281" name="Google Shape;281;p23"/>
          <p:cNvSpPr txBox="1"/>
          <p:nvPr/>
        </p:nvSpPr>
        <p:spPr>
          <a:xfrm>
            <a:off x="65175" y="4717375"/>
            <a:ext cx="8895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900">
                <a:solidFill>
                  <a:srgbClr val="666666"/>
                </a:solidFill>
              </a:rPr>
              <a:t>“ </a:t>
            </a:r>
            <a:r>
              <a:rPr lang="en-GB" sz="900">
                <a:solidFill>
                  <a:srgbClr val="666666"/>
                </a:solidFill>
              </a:rPr>
              <a:t>Triple Witch Volatility</a:t>
            </a:r>
            <a:r>
              <a:rPr b="1" lang="en-GB" sz="900">
                <a:solidFill>
                  <a:srgbClr val="666666"/>
                </a:solidFill>
              </a:rPr>
              <a:t>:</a:t>
            </a:r>
            <a:r>
              <a:rPr lang="en-GB" sz="900">
                <a:solidFill>
                  <a:srgbClr val="666666"/>
                </a:solidFill>
              </a:rPr>
              <a:t> A period when stock options, index options, and index futures expire on the same day, often causing higher trading volume and larger market price swings. “</a:t>
            </a:r>
            <a:endParaRPr sz="1600">
              <a:solidFill>
                <a:srgbClr val="666666"/>
              </a:solidFill>
            </a:endParaRPr>
          </a:p>
        </p:txBody>
      </p:sp>
      <p:sp>
        <p:nvSpPr>
          <p:cNvPr id="282" name="Google Shape;282;p23"/>
          <p:cNvSpPr/>
          <p:nvPr/>
        </p:nvSpPr>
        <p:spPr>
          <a:xfrm>
            <a:off x="0" y="640080"/>
            <a:ext cx="9144000" cy="36600"/>
          </a:xfrm>
          <a:prstGeom prst="rect">
            <a:avLst/>
          </a:prstGeom>
          <a:solidFill>
            <a:srgbClr val="E855A7"/>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8FC"/>
        </a:solidFill>
      </p:bgPr>
    </p:bg>
    <p:spTree>
      <p:nvGrpSpPr>
        <p:cNvPr id="286" name="Shape 286"/>
        <p:cNvGrpSpPr/>
        <p:nvPr/>
      </p:nvGrpSpPr>
      <p:grpSpPr>
        <a:xfrm>
          <a:off x="0" y="0"/>
          <a:ext cx="0" cy="0"/>
          <a:chOff x="0" y="0"/>
          <a:chExt cx="0" cy="0"/>
        </a:xfrm>
      </p:grpSpPr>
      <p:sp>
        <p:nvSpPr>
          <p:cNvPr id="287" name="Google Shape;287;p24"/>
          <p:cNvSpPr/>
          <p:nvPr/>
        </p:nvSpPr>
        <p:spPr>
          <a:xfrm>
            <a:off x="0" y="0"/>
            <a:ext cx="9144000" cy="640200"/>
          </a:xfrm>
          <a:prstGeom prst="rect">
            <a:avLst/>
          </a:prstGeom>
          <a:solidFill>
            <a:srgbClr val="08172E"/>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GB" sz="1800">
                <a:solidFill>
                  <a:schemeClr val="lt1"/>
                </a:solidFill>
                <a:latin typeface="Calibri"/>
                <a:ea typeface="Calibri"/>
                <a:cs typeface="Calibri"/>
                <a:sym typeface="Calibri"/>
              </a:rPr>
              <a:t>R7 Human Override</a:t>
            </a:r>
            <a:endParaRPr/>
          </a:p>
        </p:txBody>
      </p:sp>
      <p:sp>
        <p:nvSpPr>
          <p:cNvPr id="288" name="Google Shape;288;p24"/>
          <p:cNvSpPr/>
          <p:nvPr/>
        </p:nvSpPr>
        <p:spPr>
          <a:xfrm>
            <a:off x="3291840" y="822960"/>
            <a:ext cx="1828800" cy="411600"/>
          </a:xfrm>
          <a:prstGeom prst="roundRect">
            <a:avLst>
              <a:gd fmla="val 16667" name="adj"/>
            </a:avLst>
          </a:prstGeom>
          <a:solidFill>
            <a:srgbClr val="E156A8"/>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GB" sz="1600">
                <a:solidFill>
                  <a:schemeClr val="lt1"/>
                </a:solidFill>
                <a:latin typeface="Calibri"/>
                <a:ea typeface="Calibri"/>
                <a:cs typeface="Calibri"/>
                <a:sym typeface="Calibri"/>
              </a:rPr>
              <a:t>HUMAN OVERRIDE</a:t>
            </a:r>
            <a:endParaRPr/>
          </a:p>
        </p:txBody>
      </p:sp>
      <p:sp>
        <p:nvSpPr>
          <p:cNvPr id="289" name="Google Shape;289;p24"/>
          <p:cNvSpPr/>
          <p:nvPr/>
        </p:nvSpPr>
        <p:spPr>
          <a:xfrm>
            <a:off x="365760" y="1371600"/>
            <a:ext cx="3749100" cy="20118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AI CONSENSUS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 Fed stability</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 GDP growth</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 Lower yields</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 Technology leadership</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 Neutral-Bullish</a:t>
            </a:r>
            <a:endParaRPr/>
          </a:p>
        </p:txBody>
      </p:sp>
      <p:sp>
        <p:nvSpPr>
          <p:cNvPr id="290" name="Google Shape;290;p24"/>
          <p:cNvSpPr/>
          <p:nvPr/>
        </p:nvSpPr>
        <p:spPr>
          <a:xfrm>
            <a:off x="4572000" y="1371600"/>
            <a:ext cx="3749100" cy="2011800"/>
          </a:xfrm>
          <a:prstGeom prst="roundRect">
            <a:avLst>
              <a:gd fmla="val 16667"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GB" sz="1800">
                <a:solidFill>
                  <a:schemeClr val="dk1"/>
                </a:solidFill>
                <a:latin typeface="Calibri"/>
                <a:ea typeface="Calibri"/>
                <a:cs typeface="Calibri"/>
                <a:sym typeface="Calibri"/>
              </a:rPr>
              <a:t>HUMAN ADJUSTMENT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 Triple Witch volatility</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 June weakness</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 Recovery unconfirmed</a:t>
            </a:r>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 FOMC guidance risk</a:t>
            </a:r>
            <a:endParaRPr/>
          </a:p>
        </p:txBody>
      </p:sp>
      <p:sp>
        <p:nvSpPr>
          <p:cNvPr id="291" name="Google Shape;291;p24"/>
          <p:cNvSpPr/>
          <p:nvPr/>
        </p:nvSpPr>
        <p:spPr>
          <a:xfrm>
            <a:off x="731520" y="3749039"/>
            <a:ext cx="7315200" cy="640200"/>
          </a:xfrm>
          <a:prstGeom prst="roundRect">
            <a:avLst>
              <a:gd fmla="val 16667" name="adj"/>
            </a:avLst>
          </a:prstGeom>
          <a:solidFill>
            <a:srgbClr val="E156A8"/>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GB" sz="1600">
                <a:solidFill>
                  <a:schemeClr val="lt1"/>
                </a:solidFill>
                <a:latin typeface="Calibri"/>
                <a:ea typeface="Calibri"/>
                <a:cs typeface="Calibri"/>
                <a:sym typeface="Calibri"/>
              </a:rPr>
              <a:t>FINAL VIEW: Technology remains the strongest support, but seasonal headwinds keep the outlook Neutral-Bullish.</a:t>
            </a:r>
            <a:endParaRPr/>
          </a:p>
        </p:txBody>
      </p:sp>
      <p:sp>
        <p:nvSpPr>
          <p:cNvPr id="292" name="Google Shape;292;p24"/>
          <p:cNvSpPr txBox="1"/>
          <p:nvPr/>
        </p:nvSpPr>
        <p:spPr>
          <a:xfrm>
            <a:off x="21750" y="4754900"/>
            <a:ext cx="9100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900">
                <a:solidFill>
                  <a:srgbClr val="666666"/>
                </a:solidFill>
              </a:rPr>
              <a:t>“ </a:t>
            </a:r>
            <a:r>
              <a:rPr lang="en-GB" sz="900">
                <a:solidFill>
                  <a:srgbClr val="666666"/>
                </a:solidFill>
              </a:rPr>
              <a:t>Triple Witch Volatility</a:t>
            </a:r>
            <a:r>
              <a:rPr b="1" lang="en-GB" sz="900">
                <a:solidFill>
                  <a:srgbClr val="666666"/>
                </a:solidFill>
              </a:rPr>
              <a:t>:</a:t>
            </a:r>
            <a:r>
              <a:rPr lang="en-GB" sz="900">
                <a:solidFill>
                  <a:srgbClr val="666666"/>
                </a:solidFill>
              </a:rPr>
              <a:t> A period when stock options, index options, and index futures expire on the same day, often causing higher trading volume and larger market price swings. “</a:t>
            </a:r>
            <a:endParaRPr sz="1300"/>
          </a:p>
        </p:txBody>
      </p:sp>
      <p:sp>
        <p:nvSpPr>
          <p:cNvPr id="293" name="Google Shape;293;p24"/>
          <p:cNvSpPr/>
          <p:nvPr/>
        </p:nvSpPr>
        <p:spPr>
          <a:xfrm>
            <a:off x="0" y="640080"/>
            <a:ext cx="9144000" cy="36600"/>
          </a:xfrm>
          <a:prstGeom prst="rect">
            <a:avLst/>
          </a:prstGeom>
          <a:solidFill>
            <a:srgbClr val="E855A7"/>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pic>
        <p:nvPicPr>
          <p:cNvPr id="298" name="Google Shape;298;p25"/>
          <p:cNvPicPr preferRelativeResize="0"/>
          <p:nvPr/>
        </p:nvPicPr>
        <p:blipFill>
          <a:blip r:embed="rId3">
            <a:alphaModFix/>
          </a:blip>
          <a:stretch>
            <a:fillRect/>
          </a:stretch>
        </p:blipFill>
        <p:spPr>
          <a:xfrm>
            <a:off x="972000" y="779625"/>
            <a:ext cx="7310250" cy="4090500"/>
          </a:xfrm>
          <a:prstGeom prst="rect">
            <a:avLst/>
          </a:prstGeom>
          <a:noFill/>
          <a:ln>
            <a:noFill/>
          </a:ln>
        </p:spPr>
      </p:pic>
      <p:sp>
        <p:nvSpPr>
          <p:cNvPr id="299" name="Google Shape;299;p25"/>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00" name="Google Shape;300;p25"/>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R9 GitHub Lead</a:t>
            </a:r>
            <a:endParaRPr/>
          </a:p>
        </p:txBody>
      </p:sp>
      <p:sp>
        <p:nvSpPr>
          <p:cNvPr id="301" name="Google Shape;301;p25"/>
          <p:cNvSpPr/>
          <p:nvPr/>
        </p:nvSpPr>
        <p:spPr>
          <a:xfrm>
            <a:off x="2788920" y="201168"/>
            <a:ext cx="2331600" cy="210300"/>
          </a:xfrm>
          <a:prstGeom prst="roundRect">
            <a:avLst>
              <a:gd fmla="val 16667" name="adj"/>
            </a:avLst>
          </a:prstGeom>
          <a:solidFill>
            <a:srgbClr val="26364F"/>
          </a:solidFill>
          <a:ln cap="flat" cmpd="sng" w="12700">
            <a:solidFill>
              <a:srgbClr val="26364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ctr">
              <a:spcBef>
                <a:spcPts val="0"/>
              </a:spcBef>
              <a:spcAft>
                <a:spcPts val="0"/>
              </a:spcAft>
              <a:buNone/>
            </a:pPr>
            <a:r>
              <a:rPr b="1" lang="en-GB" sz="800">
                <a:solidFill>
                  <a:srgbClr val="FFFFFF"/>
                </a:solidFill>
              </a:rPr>
              <a:t>Design 3 / Traceability Map</a:t>
            </a:r>
            <a:endParaRPr sz="1800">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6"/>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07" name="Google Shape;307;p26"/>
          <p:cNvSpPr/>
          <p:nvPr/>
        </p:nvSpPr>
        <p:spPr>
          <a:xfrm>
            <a:off x="0" y="640080"/>
            <a:ext cx="9144000" cy="36600"/>
          </a:xfrm>
          <a:prstGeom prst="rect">
            <a:avLst/>
          </a:prstGeom>
          <a:solidFill>
            <a:srgbClr val="F07C3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08" name="Google Shape;308;p26"/>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R10 QA Lead</a:t>
            </a:r>
            <a:endParaRPr/>
          </a:p>
        </p:txBody>
      </p:sp>
      <p:sp>
        <p:nvSpPr>
          <p:cNvPr id="309" name="Google Shape;309;p26"/>
          <p:cNvSpPr/>
          <p:nvPr/>
        </p:nvSpPr>
        <p:spPr>
          <a:xfrm>
            <a:off x="2788920" y="201168"/>
            <a:ext cx="2331600" cy="210300"/>
          </a:xfrm>
          <a:prstGeom prst="roundRect">
            <a:avLst>
              <a:gd fmla="val 16667" name="adj"/>
            </a:avLst>
          </a:prstGeom>
          <a:solidFill>
            <a:srgbClr val="F07C3E"/>
          </a:solidFill>
          <a:ln cap="flat" cmpd="sng" w="12700">
            <a:solidFill>
              <a:srgbClr val="F07C3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ctr">
              <a:spcBef>
                <a:spcPts val="0"/>
              </a:spcBef>
              <a:spcAft>
                <a:spcPts val="0"/>
              </a:spcAft>
              <a:buNone/>
            </a:pPr>
            <a:r>
              <a:rPr b="1" lang="en-GB" sz="800">
                <a:solidFill>
                  <a:srgbClr val="FFFFFF"/>
                </a:solidFill>
              </a:rPr>
              <a:t>Design 1 / Calibration Scoreboard</a:t>
            </a:r>
            <a:endParaRPr sz="1800">
              <a:solidFill>
                <a:srgbClr val="FFFFFF"/>
              </a:solidFill>
              <a:latin typeface="Calibri"/>
              <a:ea typeface="Calibri"/>
              <a:cs typeface="Calibri"/>
              <a:sym typeface="Calibri"/>
            </a:endParaRPr>
          </a:p>
        </p:txBody>
      </p:sp>
      <p:sp>
        <p:nvSpPr>
          <p:cNvPr id="310" name="Google Shape;310;p26"/>
          <p:cNvSpPr txBox="1"/>
          <p:nvPr/>
        </p:nvSpPr>
        <p:spPr>
          <a:xfrm>
            <a:off x="5257800" y="182880"/>
            <a:ext cx="2011800" cy="223200"/>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r>
              <a:rPr b="0" lang="en-GB" sz="850">
                <a:solidFill>
                  <a:srgbClr val="B7C3D0"/>
                </a:solidFill>
                <a:latin typeface="Arial"/>
                <a:ea typeface="Arial"/>
                <a:cs typeface="Arial"/>
                <a:sym typeface="Arial"/>
              </a:rPr>
              <a:t>Theme slide</a:t>
            </a:r>
            <a:endParaRPr/>
          </a:p>
        </p:txBody>
      </p:sp>
      <p:sp>
        <p:nvSpPr>
          <p:cNvPr id="311" name="Google Shape;311;p26"/>
          <p:cNvSpPr txBox="1"/>
          <p:nvPr/>
        </p:nvSpPr>
        <p:spPr>
          <a:xfrm>
            <a:off x="8577072" y="155448"/>
            <a:ext cx="292500" cy="246300"/>
          </a:xfrm>
          <a:prstGeom prst="rect">
            <a:avLst/>
          </a:prstGeom>
          <a:noFill/>
          <a:ln>
            <a:noFill/>
          </a:ln>
        </p:spPr>
        <p:txBody>
          <a:bodyPr anchorCtr="0" anchor="t" bIns="45700" lIns="45700" spcFirstLastPara="1" rIns="45700" wrap="square" tIns="45700">
            <a:spAutoFit/>
          </a:bodyPr>
          <a:lstStyle/>
          <a:p>
            <a:pPr indent="0" lvl="0" marL="0" marR="0" rtl="0" algn="ctr">
              <a:spcBef>
                <a:spcPts val="0"/>
              </a:spcBef>
              <a:spcAft>
                <a:spcPts val="0"/>
              </a:spcAft>
              <a:buNone/>
            </a:pPr>
            <a:r>
              <a:rPr b="1" lang="en-GB" sz="1000">
                <a:solidFill>
                  <a:srgbClr val="FFFFFF"/>
                </a:solidFill>
                <a:latin typeface="Arial"/>
                <a:ea typeface="Arial"/>
                <a:cs typeface="Arial"/>
                <a:sym typeface="Arial"/>
              </a:rPr>
              <a:t>27</a:t>
            </a:r>
            <a:endParaRPr/>
          </a:p>
        </p:txBody>
      </p:sp>
      <p:sp>
        <p:nvSpPr>
          <p:cNvPr id="312" name="Google Shape;312;p26"/>
          <p:cNvSpPr txBox="1"/>
          <p:nvPr/>
        </p:nvSpPr>
        <p:spPr>
          <a:xfrm>
            <a:off x="475488" y="877824"/>
            <a:ext cx="3840600" cy="3693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800">
                <a:solidFill>
                  <a:srgbClr val="08172E"/>
                </a:solidFill>
                <a:latin typeface="Arial"/>
                <a:ea typeface="Arial"/>
                <a:cs typeface="Arial"/>
                <a:sym typeface="Arial"/>
              </a:rPr>
              <a:t>Calibration scoreboard</a:t>
            </a:r>
            <a:endParaRPr/>
          </a:p>
        </p:txBody>
      </p:sp>
      <p:sp>
        <p:nvSpPr>
          <p:cNvPr id="313" name="Google Shape;313;p26"/>
          <p:cNvSpPr txBox="1"/>
          <p:nvPr/>
        </p:nvSpPr>
        <p:spPr>
          <a:xfrm>
            <a:off x="475488" y="1188720"/>
            <a:ext cx="5852100" cy="2385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50">
                <a:solidFill>
                  <a:srgbClr val="56657D"/>
                </a:solidFill>
                <a:latin typeface="Arial"/>
                <a:ea typeface="Arial"/>
                <a:cs typeface="Arial"/>
                <a:sym typeface="Arial"/>
              </a:rPr>
              <a:t>Use this for actual results, hit/miss summary, and scoring logic.</a:t>
            </a:r>
            <a:endParaRPr/>
          </a:p>
        </p:txBody>
      </p:sp>
      <p:sp>
        <p:nvSpPr>
          <p:cNvPr id="314" name="Google Shape;314;p26"/>
          <p:cNvSpPr/>
          <p:nvPr/>
        </p:nvSpPr>
        <p:spPr>
          <a:xfrm>
            <a:off x="640080" y="1645920"/>
            <a:ext cx="1554600" cy="10791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15" name="Google Shape;315;p26"/>
          <p:cNvSpPr txBox="1"/>
          <p:nvPr/>
        </p:nvSpPr>
        <p:spPr>
          <a:xfrm>
            <a:off x="777240" y="1755648"/>
            <a:ext cx="12801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latin typeface="Arial"/>
                <a:ea typeface="Arial"/>
                <a:cs typeface="Arial"/>
                <a:sym typeface="Arial"/>
              </a:rPr>
              <a:t>SPX</a:t>
            </a:r>
            <a:endParaRPr/>
          </a:p>
        </p:txBody>
      </p:sp>
      <p:sp>
        <p:nvSpPr>
          <p:cNvPr id="316" name="Google Shape;316;p26"/>
          <p:cNvSpPr txBox="1"/>
          <p:nvPr/>
        </p:nvSpPr>
        <p:spPr>
          <a:xfrm>
            <a:off x="777240" y="1965960"/>
            <a:ext cx="12801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2000">
                <a:solidFill>
                  <a:srgbClr val="2FB344"/>
                </a:solidFill>
                <a:latin typeface="Arial"/>
                <a:ea typeface="Arial"/>
                <a:cs typeface="Arial"/>
                <a:sym typeface="Arial"/>
              </a:rPr>
              <a:t>HIT</a:t>
            </a:r>
            <a:endParaRPr/>
          </a:p>
        </p:txBody>
      </p:sp>
      <p:sp>
        <p:nvSpPr>
          <p:cNvPr id="317" name="Google Shape;317;p26"/>
          <p:cNvSpPr txBox="1"/>
          <p:nvPr/>
        </p:nvSpPr>
        <p:spPr>
          <a:xfrm>
            <a:off x="777240" y="2359152"/>
            <a:ext cx="12801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+0.</a:t>
            </a:r>
            <a:r>
              <a:rPr lang="en-GB" sz="919">
                <a:solidFill>
                  <a:srgbClr val="56657D"/>
                </a:solidFill>
              </a:rPr>
              <a:t>50</a:t>
            </a:r>
            <a:r>
              <a:rPr b="0" lang="en-GB" sz="919">
                <a:solidFill>
                  <a:srgbClr val="56657D"/>
                </a:solidFill>
                <a:latin typeface="Arial"/>
                <a:ea typeface="Arial"/>
                <a:cs typeface="Arial"/>
                <a:sym typeface="Arial"/>
              </a:rPr>
              <a:t>%</a:t>
            </a:r>
            <a:endParaRPr/>
          </a:p>
        </p:txBody>
      </p:sp>
      <p:sp>
        <p:nvSpPr>
          <p:cNvPr id="318" name="Google Shape;318;p26"/>
          <p:cNvSpPr/>
          <p:nvPr/>
        </p:nvSpPr>
        <p:spPr>
          <a:xfrm>
            <a:off x="2423160" y="1645920"/>
            <a:ext cx="1554600" cy="10791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19" name="Google Shape;319;p26"/>
          <p:cNvSpPr txBox="1"/>
          <p:nvPr/>
        </p:nvSpPr>
        <p:spPr>
          <a:xfrm>
            <a:off x="2560320" y="1755648"/>
            <a:ext cx="12801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latin typeface="Arial"/>
                <a:ea typeface="Arial"/>
                <a:cs typeface="Arial"/>
                <a:sym typeface="Arial"/>
              </a:rPr>
              <a:t>NDX</a:t>
            </a:r>
            <a:endParaRPr/>
          </a:p>
        </p:txBody>
      </p:sp>
      <p:sp>
        <p:nvSpPr>
          <p:cNvPr id="320" name="Google Shape;320;p26"/>
          <p:cNvSpPr txBox="1"/>
          <p:nvPr/>
        </p:nvSpPr>
        <p:spPr>
          <a:xfrm>
            <a:off x="2560320" y="1965960"/>
            <a:ext cx="1280100" cy="400200"/>
          </a:xfrm>
          <a:prstGeom prst="rect">
            <a:avLst/>
          </a:prstGeom>
          <a:noFill/>
          <a:ln>
            <a:noFill/>
          </a:ln>
        </p:spPr>
        <p:txBody>
          <a:bodyPr anchorCtr="0" anchor="t" bIns="45700" lIns="45700" spcFirstLastPara="1" rIns="45700" wrap="square" tIns="45700">
            <a:spAutoFit/>
          </a:bodyPr>
          <a:lstStyle/>
          <a:p>
            <a:pPr indent="0" lvl="0" marL="0" rtl="0" algn="l">
              <a:spcBef>
                <a:spcPts val="0"/>
              </a:spcBef>
              <a:spcAft>
                <a:spcPts val="0"/>
              </a:spcAft>
              <a:buClr>
                <a:schemeClr val="dk1"/>
              </a:buClr>
              <a:buFont typeface="Arial"/>
              <a:buNone/>
            </a:pPr>
            <a:r>
              <a:rPr b="1" lang="en-GB" sz="2000">
                <a:solidFill>
                  <a:srgbClr val="D64545"/>
                </a:solidFill>
              </a:rPr>
              <a:t>MISS</a:t>
            </a:r>
            <a:endParaRPr/>
          </a:p>
        </p:txBody>
      </p:sp>
      <p:sp>
        <p:nvSpPr>
          <p:cNvPr id="321" name="Google Shape;321;p26"/>
          <p:cNvSpPr txBox="1"/>
          <p:nvPr/>
        </p:nvSpPr>
        <p:spPr>
          <a:xfrm>
            <a:off x="2560320" y="2359152"/>
            <a:ext cx="12801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+0.</a:t>
            </a:r>
            <a:r>
              <a:rPr lang="en-GB" sz="919">
                <a:solidFill>
                  <a:srgbClr val="56657D"/>
                </a:solidFill>
              </a:rPr>
              <a:t>64</a:t>
            </a:r>
            <a:r>
              <a:rPr b="0" lang="en-GB" sz="919">
                <a:solidFill>
                  <a:srgbClr val="56657D"/>
                </a:solidFill>
                <a:latin typeface="Arial"/>
                <a:ea typeface="Arial"/>
                <a:cs typeface="Arial"/>
                <a:sym typeface="Arial"/>
              </a:rPr>
              <a:t>%</a:t>
            </a:r>
            <a:endParaRPr/>
          </a:p>
        </p:txBody>
      </p:sp>
      <p:sp>
        <p:nvSpPr>
          <p:cNvPr id="322" name="Google Shape;322;p26"/>
          <p:cNvSpPr/>
          <p:nvPr/>
        </p:nvSpPr>
        <p:spPr>
          <a:xfrm>
            <a:off x="4206240" y="1645920"/>
            <a:ext cx="1554600" cy="10791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23" name="Google Shape;323;p26"/>
          <p:cNvSpPr txBox="1"/>
          <p:nvPr/>
        </p:nvSpPr>
        <p:spPr>
          <a:xfrm>
            <a:off x="4343400" y="1755648"/>
            <a:ext cx="12801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latin typeface="Arial"/>
                <a:ea typeface="Arial"/>
                <a:cs typeface="Arial"/>
                <a:sym typeface="Arial"/>
              </a:rPr>
              <a:t>IWM</a:t>
            </a:r>
            <a:endParaRPr/>
          </a:p>
        </p:txBody>
      </p:sp>
      <p:sp>
        <p:nvSpPr>
          <p:cNvPr id="324" name="Google Shape;324;p26"/>
          <p:cNvSpPr txBox="1"/>
          <p:nvPr/>
        </p:nvSpPr>
        <p:spPr>
          <a:xfrm>
            <a:off x="4343400" y="1965960"/>
            <a:ext cx="12801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2000">
                <a:solidFill>
                  <a:srgbClr val="D64545"/>
                </a:solidFill>
                <a:latin typeface="Arial"/>
                <a:ea typeface="Arial"/>
                <a:cs typeface="Arial"/>
                <a:sym typeface="Arial"/>
              </a:rPr>
              <a:t>MISS</a:t>
            </a:r>
            <a:endParaRPr/>
          </a:p>
        </p:txBody>
      </p:sp>
      <p:sp>
        <p:nvSpPr>
          <p:cNvPr id="325" name="Google Shape;325;p26"/>
          <p:cNvSpPr txBox="1"/>
          <p:nvPr/>
        </p:nvSpPr>
        <p:spPr>
          <a:xfrm>
            <a:off x="4343400" y="2359152"/>
            <a:ext cx="1280100" cy="2337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Actual: </a:t>
            </a:r>
            <a:r>
              <a:rPr lang="en-GB" sz="919">
                <a:solidFill>
                  <a:srgbClr val="56657D"/>
                </a:solidFill>
              </a:rPr>
              <a:t>+0.87</a:t>
            </a:r>
            <a:r>
              <a:rPr b="0" lang="en-GB" sz="919">
                <a:solidFill>
                  <a:srgbClr val="56657D"/>
                </a:solidFill>
                <a:latin typeface="Arial"/>
                <a:ea typeface="Arial"/>
                <a:cs typeface="Arial"/>
                <a:sym typeface="Arial"/>
              </a:rPr>
              <a:t>%</a:t>
            </a:r>
            <a:endParaRPr/>
          </a:p>
        </p:txBody>
      </p:sp>
      <p:sp>
        <p:nvSpPr>
          <p:cNvPr id="326" name="Google Shape;326;p26"/>
          <p:cNvSpPr/>
          <p:nvPr/>
        </p:nvSpPr>
        <p:spPr>
          <a:xfrm>
            <a:off x="5989320" y="1645920"/>
            <a:ext cx="1554600" cy="10791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27" name="Google Shape;327;p26"/>
          <p:cNvSpPr txBox="1"/>
          <p:nvPr/>
        </p:nvSpPr>
        <p:spPr>
          <a:xfrm>
            <a:off x="6126480" y="1755648"/>
            <a:ext cx="1280100" cy="2079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750">
                <a:solidFill>
                  <a:srgbClr val="708099"/>
                </a:solidFill>
                <a:latin typeface="Arial"/>
                <a:ea typeface="Arial"/>
                <a:cs typeface="Arial"/>
                <a:sym typeface="Arial"/>
              </a:rPr>
              <a:t>SCORE</a:t>
            </a:r>
            <a:endParaRPr/>
          </a:p>
        </p:txBody>
      </p:sp>
      <p:sp>
        <p:nvSpPr>
          <p:cNvPr id="328" name="Google Shape;328;p26"/>
          <p:cNvSpPr txBox="1"/>
          <p:nvPr/>
        </p:nvSpPr>
        <p:spPr>
          <a:xfrm>
            <a:off x="6126480" y="1965960"/>
            <a:ext cx="1280100" cy="4002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2000">
                <a:solidFill>
                  <a:srgbClr val="F07C3E"/>
                </a:solidFill>
              </a:rPr>
              <a:t>1</a:t>
            </a:r>
            <a:r>
              <a:rPr b="1" lang="en-GB" sz="2000">
                <a:solidFill>
                  <a:srgbClr val="F07C3E"/>
                </a:solidFill>
                <a:latin typeface="Arial"/>
                <a:ea typeface="Arial"/>
                <a:cs typeface="Arial"/>
                <a:sym typeface="Arial"/>
              </a:rPr>
              <a:t> / 3</a:t>
            </a:r>
            <a:endParaRPr/>
          </a:p>
        </p:txBody>
      </p:sp>
      <p:sp>
        <p:nvSpPr>
          <p:cNvPr id="329" name="Google Shape;329;p26"/>
          <p:cNvSpPr txBox="1"/>
          <p:nvPr/>
        </p:nvSpPr>
        <p:spPr>
          <a:xfrm>
            <a:off x="6126480" y="2359152"/>
            <a:ext cx="1280100" cy="3753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19">
                <a:solidFill>
                  <a:srgbClr val="56657D"/>
                </a:solidFill>
                <a:latin typeface="Arial"/>
                <a:ea typeface="Arial"/>
                <a:cs typeface="Arial"/>
                <a:sym typeface="Arial"/>
              </a:rPr>
              <a:t>Current sprint calibration</a:t>
            </a:r>
            <a:endParaRPr/>
          </a:p>
        </p:txBody>
      </p:sp>
      <p:sp>
        <p:nvSpPr>
          <p:cNvPr id="330" name="Google Shape;330;p26"/>
          <p:cNvSpPr/>
          <p:nvPr/>
        </p:nvSpPr>
        <p:spPr>
          <a:xfrm>
            <a:off x="640075" y="2814051"/>
            <a:ext cx="3108900" cy="16212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31" name="Google Shape;331;p26"/>
          <p:cNvSpPr/>
          <p:nvPr/>
        </p:nvSpPr>
        <p:spPr>
          <a:xfrm>
            <a:off x="640080" y="3288360"/>
            <a:ext cx="73200" cy="868800"/>
          </a:xfrm>
          <a:prstGeom prst="rect">
            <a:avLst/>
          </a:prstGeom>
          <a:solidFill>
            <a:srgbClr val="D64545"/>
          </a:solidFill>
          <a:ln cap="flat" cmpd="sng" w="12700">
            <a:solidFill>
              <a:srgbClr val="D64545"/>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32" name="Google Shape;332;p26"/>
          <p:cNvSpPr txBox="1"/>
          <p:nvPr/>
        </p:nvSpPr>
        <p:spPr>
          <a:xfrm>
            <a:off x="777240" y="2905500"/>
            <a:ext cx="28803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150">
                <a:solidFill>
                  <a:srgbClr val="08172E"/>
                </a:solidFill>
                <a:latin typeface="Arial"/>
                <a:ea typeface="Arial"/>
                <a:cs typeface="Arial"/>
                <a:sym typeface="Arial"/>
              </a:rPr>
              <a:t>W</a:t>
            </a:r>
            <a:r>
              <a:rPr b="1" lang="en-GB" sz="1150">
                <a:solidFill>
                  <a:srgbClr val="08172E"/>
                </a:solidFill>
              </a:rPr>
              <a:t>hy </a:t>
            </a:r>
            <a:r>
              <a:rPr b="1" lang="en-GB" sz="1150">
                <a:solidFill>
                  <a:srgbClr val="08172E"/>
                </a:solidFill>
                <a:latin typeface="Arial"/>
                <a:ea typeface="Arial"/>
                <a:cs typeface="Arial"/>
                <a:sym typeface="Arial"/>
              </a:rPr>
              <a:t> missed?</a:t>
            </a:r>
            <a:endParaRPr/>
          </a:p>
        </p:txBody>
      </p:sp>
      <p:sp>
        <p:nvSpPr>
          <p:cNvPr id="333" name="Google Shape;333;p26"/>
          <p:cNvSpPr txBox="1"/>
          <p:nvPr/>
        </p:nvSpPr>
        <p:spPr>
          <a:xfrm>
            <a:off x="777240" y="3198108"/>
            <a:ext cx="2880300" cy="10158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GB" sz="1000">
                <a:solidFill>
                  <a:srgbClr val="56657D"/>
                </a:solidFill>
              </a:rPr>
              <a:t>The forecast is overly conservative. The human adjustment factor's "June seasonality" deduction is too heavy (-1), offsetting the actual strong momentum from tech stocks. The model failed to identify that tech leaders still possess a &gt;0.5% driving force during periods of volatility.</a:t>
            </a:r>
            <a:endParaRPr/>
          </a:p>
        </p:txBody>
      </p:sp>
      <p:sp>
        <p:nvSpPr>
          <p:cNvPr id="334" name="Google Shape;334;p26"/>
          <p:cNvSpPr/>
          <p:nvPr/>
        </p:nvSpPr>
        <p:spPr>
          <a:xfrm>
            <a:off x="4069075" y="3108945"/>
            <a:ext cx="3474600" cy="12276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35" name="Google Shape;335;p26"/>
          <p:cNvSpPr/>
          <p:nvPr/>
        </p:nvSpPr>
        <p:spPr>
          <a:xfrm>
            <a:off x="4069080" y="3288360"/>
            <a:ext cx="73200" cy="868800"/>
          </a:xfrm>
          <a:prstGeom prst="rect">
            <a:avLst/>
          </a:prstGeom>
          <a:solidFill>
            <a:srgbClr val="2FB344"/>
          </a:solidFill>
          <a:ln cap="flat" cmpd="sng" w="12700">
            <a:solidFill>
              <a:srgbClr val="2FB34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36" name="Google Shape;336;p26"/>
          <p:cNvSpPr txBox="1"/>
          <p:nvPr/>
        </p:nvSpPr>
        <p:spPr>
          <a:xfrm>
            <a:off x="4206240" y="3200400"/>
            <a:ext cx="32460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150">
                <a:solidFill>
                  <a:srgbClr val="08172E"/>
                </a:solidFill>
                <a:latin typeface="Arial"/>
                <a:ea typeface="Arial"/>
                <a:cs typeface="Arial"/>
                <a:sym typeface="Arial"/>
              </a:rPr>
              <a:t>Wh</a:t>
            </a:r>
            <a:r>
              <a:rPr b="1" lang="en-GB" sz="1150">
                <a:solidFill>
                  <a:srgbClr val="08172E"/>
                </a:solidFill>
              </a:rPr>
              <a:t>y</a:t>
            </a:r>
            <a:r>
              <a:rPr b="1" lang="en-GB" sz="1150">
                <a:solidFill>
                  <a:srgbClr val="08172E"/>
                </a:solidFill>
                <a:latin typeface="Arial"/>
                <a:ea typeface="Arial"/>
                <a:cs typeface="Arial"/>
                <a:sym typeface="Arial"/>
              </a:rPr>
              <a:t> </a:t>
            </a:r>
            <a:r>
              <a:rPr b="1" lang="en-GB" sz="1150">
                <a:solidFill>
                  <a:srgbClr val="08172E"/>
                </a:solidFill>
              </a:rPr>
              <a:t>hit</a:t>
            </a:r>
            <a:r>
              <a:rPr b="1" lang="en-GB" sz="1150">
                <a:solidFill>
                  <a:srgbClr val="08172E"/>
                </a:solidFill>
                <a:latin typeface="Arial"/>
                <a:ea typeface="Arial"/>
                <a:cs typeface="Arial"/>
                <a:sym typeface="Arial"/>
              </a:rPr>
              <a:t>?</a:t>
            </a:r>
            <a:endParaRPr/>
          </a:p>
        </p:txBody>
      </p:sp>
      <p:sp>
        <p:nvSpPr>
          <p:cNvPr id="337" name="Google Shape;337;p26"/>
          <p:cNvSpPr txBox="1"/>
          <p:nvPr/>
        </p:nvSpPr>
        <p:spPr>
          <a:xfrm>
            <a:off x="4206240" y="3493008"/>
            <a:ext cx="3246000" cy="7080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GB" sz="1000">
                <a:solidFill>
                  <a:srgbClr val="56657D"/>
                </a:solidFill>
              </a:rPr>
              <a:t>The market performance exceeded R7's Neutral expectations, with technology leadership being even stronger than AI anticipated, successfully breaking through the seasonal resistance warned of in June.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7"/>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43" name="Google Shape;343;p27"/>
          <p:cNvSpPr/>
          <p:nvPr/>
        </p:nvSpPr>
        <p:spPr>
          <a:xfrm>
            <a:off x="0" y="640080"/>
            <a:ext cx="9144000" cy="36600"/>
          </a:xfrm>
          <a:prstGeom prst="rect">
            <a:avLst/>
          </a:prstGeom>
          <a:solidFill>
            <a:srgbClr val="F07C3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44" name="Google Shape;344;p27"/>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R10 QA Lead</a:t>
            </a:r>
            <a:endParaRPr/>
          </a:p>
        </p:txBody>
      </p:sp>
      <p:sp>
        <p:nvSpPr>
          <p:cNvPr id="345" name="Google Shape;345;p27"/>
          <p:cNvSpPr/>
          <p:nvPr/>
        </p:nvSpPr>
        <p:spPr>
          <a:xfrm>
            <a:off x="2788920" y="201168"/>
            <a:ext cx="2331600" cy="210300"/>
          </a:xfrm>
          <a:prstGeom prst="roundRect">
            <a:avLst>
              <a:gd fmla="val 16667" name="adj"/>
            </a:avLst>
          </a:prstGeom>
          <a:solidFill>
            <a:srgbClr val="F07C3E"/>
          </a:solidFill>
          <a:ln cap="flat" cmpd="sng" w="12700">
            <a:solidFill>
              <a:srgbClr val="F07C3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ctr">
              <a:spcBef>
                <a:spcPts val="0"/>
              </a:spcBef>
              <a:spcAft>
                <a:spcPts val="0"/>
              </a:spcAft>
              <a:buNone/>
            </a:pPr>
            <a:r>
              <a:rPr b="1" lang="en-GB" sz="800">
                <a:solidFill>
                  <a:srgbClr val="FFFFFF"/>
                </a:solidFill>
              </a:rPr>
              <a:t>Design 2 / LLM Horse Race</a:t>
            </a:r>
            <a:endParaRPr sz="1800">
              <a:solidFill>
                <a:srgbClr val="FFFFFF"/>
              </a:solidFill>
              <a:latin typeface="Calibri"/>
              <a:ea typeface="Calibri"/>
              <a:cs typeface="Calibri"/>
              <a:sym typeface="Calibri"/>
            </a:endParaRPr>
          </a:p>
        </p:txBody>
      </p:sp>
      <p:sp>
        <p:nvSpPr>
          <p:cNvPr id="346" name="Google Shape;346;p27"/>
          <p:cNvSpPr txBox="1"/>
          <p:nvPr/>
        </p:nvSpPr>
        <p:spPr>
          <a:xfrm>
            <a:off x="5257800" y="182880"/>
            <a:ext cx="2011800" cy="223200"/>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r>
              <a:rPr b="0" lang="en-GB" sz="850">
                <a:solidFill>
                  <a:srgbClr val="B7C3D0"/>
                </a:solidFill>
                <a:latin typeface="Arial"/>
                <a:ea typeface="Arial"/>
                <a:cs typeface="Arial"/>
                <a:sym typeface="Arial"/>
              </a:rPr>
              <a:t>Theme slide</a:t>
            </a:r>
            <a:endParaRPr/>
          </a:p>
        </p:txBody>
      </p:sp>
      <p:sp>
        <p:nvSpPr>
          <p:cNvPr id="347" name="Google Shape;347;p27"/>
          <p:cNvSpPr txBox="1"/>
          <p:nvPr/>
        </p:nvSpPr>
        <p:spPr>
          <a:xfrm>
            <a:off x="475488" y="877824"/>
            <a:ext cx="4114800" cy="3693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800">
                <a:solidFill>
                  <a:srgbClr val="08172E"/>
                </a:solidFill>
                <a:latin typeface="Arial"/>
                <a:ea typeface="Arial"/>
                <a:cs typeface="Arial"/>
                <a:sym typeface="Arial"/>
              </a:rPr>
              <a:t>LLM horse race update</a:t>
            </a:r>
            <a:endParaRPr/>
          </a:p>
        </p:txBody>
      </p:sp>
      <p:sp>
        <p:nvSpPr>
          <p:cNvPr id="348" name="Google Shape;348;p27"/>
          <p:cNvSpPr txBox="1"/>
          <p:nvPr/>
        </p:nvSpPr>
        <p:spPr>
          <a:xfrm>
            <a:off x="475488" y="1188720"/>
            <a:ext cx="5029200" cy="2385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50">
                <a:solidFill>
                  <a:srgbClr val="56657D"/>
                </a:solidFill>
                <a:latin typeface="Arial"/>
                <a:ea typeface="Arial"/>
                <a:cs typeface="Arial"/>
                <a:sym typeface="Arial"/>
              </a:rPr>
              <a:t>Shows which model was closest to actuals and why.</a:t>
            </a:r>
            <a:endParaRPr/>
          </a:p>
        </p:txBody>
      </p:sp>
      <p:graphicFrame>
        <p:nvGraphicFramePr>
          <p:cNvPr id="349" name="Google Shape;349;p27"/>
          <p:cNvGraphicFramePr/>
          <p:nvPr/>
        </p:nvGraphicFramePr>
        <p:xfrm>
          <a:off x="566928" y="1664208"/>
          <a:ext cx="3000000" cy="3000000"/>
        </p:xfrm>
        <a:graphic>
          <a:graphicData uri="http://schemas.openxmlformats.org/drawingml/2006/table">
            <a:tbl>
              <a:tblPr bandRow="1" firstRow="1">
                <a:noFill/>
                <a:tableStyleId>{9398E35E-1626-496E-ADD6-558A98D8C847}</a:tableStyleId>
              </a:tblPr>
              <a:tblGrid>
                <a:gridCol w="1197875"/>
                <a:gridCol w="1197875"/>
                <a:gridCol w="1197875"/>
                <a:gridCol w="1197875"/>
                <a:gridCol w="1197875"/>
              </a:tblGrid>
              <a:tr h="446225">
                <a:tc>
                  <a:txBody>
                    <a:bodyPr/>
                    <a:lstStyle/>
                    <a:p>
                      <a:pPr indent="0" lvl="0" marL="0" marR="0" rtl="0" algn="ctr">
                        <a:spcBef>
                          <a:spcPts val="0"/>
                        </a:spcBef>
                        <a:spcAft>
                          <a:spcPts val="0"/>
                        </a:spcAft>
                        <a:buNone/>
                      </a:pPr>
                      <a:r>
                        <a:rPr b="1" lang="en-GB" sz="819" u="none" cap="none" strike="noStrike">
                          <a:solidFill>
                            <a:srgbClr val="FFFFFF"/>
                          </a:solidFill>
                          <a:latin typeface="Arial"/>
                          <a:ea typeface="Arial"/>
                          <a:cs typeface="Arial"/>
                          <a:sym typeface="Arial"/>
                        </a:rPr>
                        <a:t>Rank</a:t>
                      </a:r>
                      <a:endParaRPr/>
                    </a:p>
                  </a:txBody>
                  <a:tcPr marT="27425" marB="27425" marR="36575" marL="36575">
                    <a:solidFill>
                      <a:srgbClr val="08172E"/>
                    </a:solidFill>
                  </a:tcPr>
                </a:tc>
                <a:tc>
                  <a:txBody>
                    <a:bodyPr/>
                    <a:lstStyle/>
                    <a:p>
                      <a:pPr indent="0" lvl="0" marL="0" marR="0" rtl="0" algn="ctr">
                        <a:spcBef>
                          <a:spcPts val="0"/>
                        </a:spcBef>
                        <a:spcAft>
                          <a:spcPts val="0"/>
                        </a:spcAft>
                        <a:buNone/>
                      </a:pPr>
                      <a:r>
                        <a:rPr b="1" lang="en-GB" sz="819" u="none" cap="none" strike="noStrike">
                          <a:solidFill>
                            <a:srgbClr val="FFFFFF"/>
                          </a:solidFill>
                          <a:latin typeface="Arial"/>
                          <a:ea typeface="Arial"/>
                          <a:cs typeface="Arial"/>
                          <a:sym typeface="Arial"/>
                        </a:rPr>
                        <a:t>Model</a:t>
                      </a:r>
                      <a:endParaRPr/>
                    </a:p>
                  </a:txBody>
                  <a:tcPr marT="27425" marB="27425" marR="36575" marL="36575">
                    <a:solidFill>
                      <a:srgbClr val="08172E"/>
                    </a:solidFill>
                  </a:tcPr>
                </a:tc>
                <a:tc>
                  <a:txBody>
                    <a:bodyPr/>
                    <a:lstStyle/>
                    <a:p>
                      <a:pPr indent="0" lvl="0" marL="0" marR="0" rtl="0" algn="ctr">
                        <a:spcBef>
                          <a:spcPts val="0"/>
                        </a:spcBef>
                        <a:spcAft>
                          <a:spcPts val="0"/>
                        </a:spcAft>
                        <a:buNone/>
                      </a:pPr>
                      <a:r>
                        <a:rPr b="1" lang="en-GB" sz="819" u="none" cap="none" strike="noStrike">
                          <a:solidFill>
                            <a:srgbClr val="FFFFFF"/>
                          </a:solidFill>
                          <a:latin typeface="Arial"/>
                          <a:ea typeface="Arial"/>
                          <a:cs typeface="Arial"/>
                          <a:sym typeface="Arial"/>
                        </a:rPr>
                        <a:t>Prediction</a:t>
                      </a:r>
                      <a:endParaRPr/>
                    </a:p>
                  </a:txBody>
                  <a:tcPr marT="27425" marB="27425" marR="36575" marL="36575">
                    <a:solidFill>
                      <a:srgbClr val="08172E"/>
                    </a:solidFill>
                  </a:tcPr>
                </a:tc>
                <a:tc>
                  <a:txBody>
                    <a:bodyPr/>
                    <a:lstStyle/>
                    <a:p>
                      <a:pPr indent="0" lvl="0" marL="0" marR="0" rtl="0" algn="ctr">
                        <a:spcBef>
                          <a:spcPts val="0"/>
                        </a:spcBef>
                        <a:spcAft>
                          <a:spcPts val="0"/>
                        </a:spcAft>
                        <a:buNone/>
                      </a:pPr>
                      <a:r>
                        <a:rPr b="1" lang="en-GB" sz="819" u="none" cap="none" strike="noStrike">
                          <a:solidFill>
                            <a:srgbClr val="FFFFFF"/>
                          </a:solidFill>
                          <a:latin typeface="Arial"/>
                          <a:ea typeface="Arial"/>
                          <a:cs typeface="Arial"/>
                          <a:sym typeface="Arial"/>
                        </a:rPr>
                        <a:t>Actual fit</a:t>
                      </a:r>
                      <a:endParaRPr/>
                    </a:p>
                  </a:txBody>
                  <a:tcPr marT="27425" marB="27425" marR="36575" marL="36575">
                    <a:solidFill>
                      <a:srgbClr val="08172E"/>
                    </a:solidFill>
                  </a:tcPr>
                </a:tc>
                <a:tc>
                  <a:txBody>
                    <a:bodyPr/>
                    <a:lstStyle/>
                    <a:p>
                      <a:pPr indent="0" lvl="0" marL="0" marR="0" rtl="0" algn="ctr">
                        <a:spcBef>
                          <a:spcPts val="0"/>
                        </a:spcBef>
                        <a:spcAft>
                          <a:spcPts val="0"/>
                        </a:spcAft>
                        <a:buNone/>
                      </a:pPr>
                      <a:r>
                        <a:rPr b="1" lang="en-GB" sz="819" u="none" cap="none" strike="noStrike">
                          <a:solidFill>
                            <a:srgbClr val="FFFFFF"/>
                          </a:solidFill>
                          <a:latin typeface="Arial"/>
                          <a:ea typeface="Arial"/>
                          <a:cs typeface="Arial"/>
                          <a:sym typeface="Arial"/>
                        </a:rPr>
                        <a:t>Learning</a:t>
                      </a:r>
                      <a:endParaRPr/>
                    </a:p>
                  </a:txBody>
                  <a:tcPr marT="27425" marB="27425" marR="36575" marL="36575">
                    <a:solidFill>
                      <a:srgbClr val="08172E"/>
                    </a:solidFill>
                  </a:tcPr>
                </a:tc>
              </a:tr>
              <a:tr h="446225">
                <a:tc>
                  <a:txBody>
                    <a:bodyPr/>
                    <a:lstStyle/>
                    <a:p>
                      <a:pPr indent="0" lvl="0" marL="0" marR="0" rtl="0" algn="l">
                        <a:spcBef>
                          <a:spcPts val="0"/>
                        </a:spcBef>
                        <a:spcAft>
                          <a:spcPts val="0"/>
                        </a:spcAft>
                        <a:buNone/>
                      </a:pPr>
                      <a:r>
                        <a:rPr b="0" lang="en-GB" sz="819" u="none" cap="none" strike="noStrike">
                          <a:solidFill>
                            <a:srgbClr val="1C2430"/>
                          </a:solidFill>
                          <a:latin typeface="Arial"/>
                          <a:ea typeface="Arial"/>
                          <a:cs typeface="Arial"/>
                          <a:sym typeface="Arial"/>
                        </a:rPr>
                        <a:t>1</a:t>
                      </a:r>
                      <a:endParaRPr/>
                    </a:p>
                  </a:txBody>
                  <a:tcPr marT="27425" marB="27425" marR="36575" marL="36575">
                    <a:solidFill>
                      <a:srgbClr val="FFFFFF"/>
                    </a:solidFill>
                  </a:tcPr>
                </a:tc>
                <a:tc>
                  <a:txBody>
                    <a:bodyPr/>
                    <a:lstStyle/>
                    <a:p>
                      <a:pPr indent="0" lvl="0" marL="0" marR="0" rtl="0" algn="l">
                        <a:spcBef>
                          <a:spcPts val="0"/>
                        </a:spcBef>
                        <a:spcAft>
                          <a:spcPts val="0"/>
                        </a:spcAft>
                        <a:buNone/>
                      </a:pPr>
                      <a:r>
                        <a:rPr b="0" lang="en-GB" sz="819" u="none" cap="none" strike="noStrike">
                          <a:solidFill>
                            <a:srgbClr val="1C2430"/>
                          </a:solidFill>
                          <a:latin typeface="Arial"/>
                          <a:ea typeface="Arial"/>
                          <a:cs typeface="Arial"/>
                          <a:sym typeface="Arial"/>
                        </a:rPr>
                        <a:t>Claude</a:t>
                      </a:r>
                      <a:endParaRPr/>
                    </a:p>
                  </a:txBody>
                  <a:tcPr marT="27425" marB="27425" marR="36575" marL="36575">
                    <a:solidFill>
                      <a:srgbClr val="FFFFFF"/>
                    </a:solidFill>
                  </a:tcPr>
                </a:tc>
                <a:tc>
                  <a:txBody>
                    <a:bodyPr/>
                    <a:lstStyle/>
                    <a:p>
                      <a:pPr indent="0" lvl="0" marL="0" marR="0" rtl="0" algn="l">
                        <a:spcBef>
                          <a:spcPts val="0"/>
                        </a:spcBef>
                        <a:spcAft>
                          <a:spcPts val="0"/>
                        </a:spcAft>
                        <a:buNone/>
                      </a:pPr>
                      <a:r>
                        <a:rPr lang="en-GB" sz="819">
                          <a:solidFill>
                            <a:srgbClr val="1C2430"/>
                          </a:solidFill>
                          <a:latin typeface="Arial"/>
                          <a:ea typeface="Arial"/>
                          <a:cs typeface="Arial"/>
                          <a:sym typeface="Arial"/>
                        </a:rPr>
                        <a:t>Broad Up</a:t>
                      </a:r>
                      <a:endParaRPr/>
                    </a:p>
                  </a:txBody>
                  <a:tcPr marT="27425" marB="27425" marR="36575" marL="36575">
                    <a:solidFill>
                      <a:srgbClr val="FFFFFF"/>
                    </a:solidFill>
                  </a:tcPr>
                </a:tc>
                <a:tc>
                  <a:txBody>
                    <a:bodyPr/>
                    <a:lstStyle/>
                    <a:p>
                      <a:pPr indent="0" lvl="0" marL="0" marR="0" rtl="0" algn="l">
                        <a:spcBef>
                          <a:spcPts val="0"/>
                        </a:spcBef>
                        <a:spcAft>
                          <a:spcPts val="0"/>
                        </a:spcAft>
                        <a:buNone/>
                      </a:pPr>
                      <a:r>
                        <a:rPr b="0" lang="en-GB" sz="819" u="none" cap="none" strike="noStrike">
                          <a:solidFill>
                            <a:srgbClr val="1C2430"/>
                          </a:solidFill>
                          <a:latin typeface="Arial"/>
                          <a:ea typeface="Arial"/>
                          <a:cs typeface="Arial"/>
                          <a:sym typeface="Arial"/>
                        </a:rPr>
                        <a:t>Closest</a:t>
                      </a:r>
                      <a:endParaRPr/>
                    </a:p>
                  </a:txBody>
                  <a:tcPr marT="27425" marB="27425" marR="36575" marL="36575">
                    <a:solidFill>
                      <a:srgbClr val="FFFFFF"/>
                    </a:solidFill>
                  </a:tcPr>
                </a:tc>
                <a:tc>
                  <a:txBody>
                    <a:bodyPr/>
                    <a:lstStyle/>
                    <a:p>
                      <a:pPr indent="0" lvl="0" marL="0" marR="0" rtl="0" algn="l">
                        <a:spcBef>
                          <a:spcPts val="0"/>
                        </a:spcBef>
                        <a:spcAft>
                          <a:spcPts val="0"/>
                        </a:spcAft>
                        <a:buNone/>
                      </a:pPr>
                      <a:r>
                        <a:rPr lang="en-GB" sz="819">
                          <a:solidFill>
                            <a:srgbClr val="1C2430"/>
                          </a:solidFill>
                          <a:latin typeface="Arial"/>
                          <a:ea typeface="Arial"/>
                          <a:cs typeface="Arial"/>
                          <a:sym typeface="Arial"/>
                        </a:rPr>
                        <a:t>Successfully identified the impact of Fed stability on the entire market, without being misled by seasonal biases.</a:t>
                      </a:r>
                      <a:endParaRPr/>
                    </a:p>
                  </a:txBody>
                  <a:tcPr marT="27425" marB="27425" marR="36575" marL="36575">
                    <a:solidFill>
                      <a:srgbClr val="FFFFFF"/>
                    </a:solidFill>
                  </a:tcPr>
                </a:tc>
              </a:tr>
              <a:tr h="446225">
                <a:tc>
                  <a:txBody>
                    <a:bodyPr/>
                    <a:lstStyle/>
                    <a:p>
                      <a:pPr indent="0" lvl="0" marL="0" marR="0" rtl="0" algn="l">
                        <a:spcBef>
                          <a:spcPts val="0"/>
                        </a:spcBef>
                        <a:spcAft>
                          <a:spcPts val="0"/>
                        </a:spcAft>
                        <a:buNone/>
                      </a:pPr>
                      <a:r>
                        <a:rPr b="0" lang="en-GB" sz="819" u="none" cap="none" strike="noStrike">
                          <a:solidFill>
                            <a:srgbClr val="1C2430"/>
                          </a:solidFill>
                          <a:latin typeface="Arial"/>
                          <a:ea typeface="Arial"/>
                          <a:cs typeface="Arial"/>
                          <a:sym typeface="Arial"/>
                        </a:rPr>
                        <a:t>2</a:t>
                      </a:r>
                      <a:endParaRPr/>
                    </a:p>
                  </a:txBody>
                  <a:tcPr marT="27425" marB="27425" marR="36575" marL="36575">
                    <a:solidFill>
                      <a:srgbClr val="F8FBFE"/>
                    </a:solidFill>
                  </a:tcPr>
                </a:tc>
                <a:tc>
                  <a:txBody>
                    <a:bodyPr/>
                    <a:lstStyle/>
                    <a:p>
                      <a:pPr indent="0" lvl="0" marL="0" marR="0" rtl="0" algn="l">
                        <a:spcBef>
                          <a:spcPts val="0"/>
                        </a:spcBef>
                        <a:spcAft>
                          <a:spcPts val="0"/>
                        </a:spcAft>
                        <a:buNone/>
                      </a:pPr>
                      <a:r>
                        <a:rPr b="0" lang="en-GB" sz="819" u="none" cap="none" strike="noStrike">
                          <a:solidFill>
                            <a:srgbClr val="1C2430"/>
                          </a:solidFill>
                          <a:latin typeface="Arial"/>
                          <a:ea typeface="Arial"/>
                          <a:cs typeface="Arial"/>
                          <a:sym typeface="Arial"/>
                        </a:rPr>
                        <a:t>ChatGPT</a:t>
                      </a:r>
                      <a:endParaRPr/>
                    </a:p>
                  </a:txBody>
                  <a:tcPr marT="27425" marB="27425" marR="36575" marL="36575">
                    <a:solidFill>
                      <a:srgbClr val="F8FBFE"/>
                    </a:solidFill>
                  </a:tcPr>
                </a:tc>
                <a:tc>
                  <a:txBody>
                    <a:bodyPr/>
                    <a:lstStyle/>
                    <a:p>
                      <a:pPr indent="0" lvl="0" marL="0" marR="0" rtl="0" algn="l">
                        <a:spcBef>
                          <a:spcPts val="0"/>
                        </a:spcBef>
                        <a:spcAft>
                          <a:spcPts val="0"/>
                        </a:spcAft>
                        <a:buNone/>
                      </a:pPr>
                      <a:r>
                        <a:rPr b="0" lang="en-GB" sz="819" u="none" cap="none" strike="noStrike">
                          <a:solidFill>
                            <a:srgbClr val="1C2430"/>
                          </a:solidFill>
                          <a:latin typeface="Arial"/>
                          <a:ea typeface="Arial"/>
                          <a:cs typeface="Arial"/>
                          <a:sym typeface="Arial"/>
                        </a:rPr>
                        <a:t>Up</a:t>
                      </a:r>
                      <a:endParaRPr/>
                    </a:p>
                  </a:txBody>
                  <a:tcPr marT="27425" marB="27425" marR="36575" marL="36575">
                    <a:solidFill>
                      <a:srgbClr val="F8FBFE"/>
                    </a:solidFill>
                  </a:tcPr>
                </a:tc>
                <a:tc>
                  <a:txBody>
                    <a:bodyPr/>
                    <a:lstStyle/>
                    <a:p>
                      <a:pPr indent="0" lvl="0" marL="0" marR="0" rtl="0" algn="l">
                        <a:spcBef>
                          <a:spcPts val="0"/>
                        </a:spcBef>
                        <a:spcAft>
                          <a:spcPts val="0"/>
                        </a:spcAft>
                        <a:buNone/>
                      </a:pPr>
                      <a:r>
                        <a:rPr b="0" lang="en-GB" sz="819" u="none" cap="none" strike="noStrike">
                          <a:solidFill>
                            <a:srgbClr val="1C2430"/>
                          </a:solidFill>
                          <a:latin typeface="Arial"/>
                          <a:ea typeface="Arial"/>
                          <a:cs typeface="Arial"/>
                          <a:sym typeface="Arial"/>
                        </a:rPr>
                        <a:t>Good</a:t>
                      </a:r>
                      <a:endParaRPr/>
                    </a:p>
                  </a:txBody>
                  <a:tcPr marT="27425" marB="27425" marR="36575" marL="36575">
                    <a:solidFill>
                      <a:srgbClr val="F8FBFE"/>
                    </a:solidFill>
                  </a:tcPr>
                </a:tc>
                <a:tc>
                  <a:txBody>
                    <a:bodyPr/>
                    <a:lstStyle/>
                    <a:p>
                      <a:pPr indent="0" lvl="0" marL="0" marR="0" rtl="0" algn="l">
                        <a:spcBef>
                          <a:spcPts val="0"/>
                        </a:spcBef>
                        <a:spcAft>
                          <a:spcPts val="0"/>
                        </a:spcAft>
                        <a:buNone/>
                      </a:pPr>
                      <a:r>
                        <a:rPr lang="en-GB" sz="819">
                          <a:solidFill>
                            <a:srgbClr val="1C2430"/>
                          </a:solidFill>
                          <a:latin typeface="Arial"/>
                          <a:ea typeface="Arial"/>
                          <a:cs typeface="Arial"/>
                          <a:sym typeface="Arial"/>
                        </a:rPr>
                        <a:t>The trend of NDX (+0.64%) was captured, but the strong eruption of IWM was underestimated.</a:t>
                      </a:r>
                      <a:endParaRPr/>
                    </a:p>
                  </a:txBody>
                  <a:tcPr marT="27425" marB="27425" marR="36575" marL="36575">
                    <a:solidFill>
                      <a:srgbClr val="F8FBFE"/>
                    </a:solidFill>
                  </a:tcPr>
                </a:tc>
              </a:tr>
              <a:tr h="446225">
                <a:tc>
                  <a:txBody>
                    <a:bodyPr/>
                    <a:lstStyle/>
                    <a:p>
                      <a:pPr indent="0" lvl="0" marL="0" marR="0" rtl="0" algn="l">
                        <a:spcBef>
                          <a:spcPts val="0"/>
                        </a:spcBef>
                        <a:spcAft>
                          <a:spcPts val="0"/>
                        </a:spcAft>
                        <a:buNone/>
                      </a:pPr>
                      <a:r>
                        <a:rPr b="0" lang="en-GB" sz="819" u="none" cap="none" strike="noStrike">
                          <a:solidFill>
                            <a:srgbClr val="1C2430"/>
                          </a:solidFill>
                          <a:latin typeface="Arial"/>
                          <a:ea typeface="Arial"/>
                          <a:cs typeface="Arial"/>
                          <a:sym typeface="Arial"/>
                        </a:rPr>
                        <a:t>3</a:t>
                      </a:r>
                      <a:endParaRPr/>
                    </a:p>
                  </a:txBody>
                  <a:tcPr marT="27425" marB="27425" marR="36575" marL="36575">
                    <a:solidFill>
                      <a:srgbClr val="FFFFFF"/>
                    </a:solidFill>
                  </a:tcPr>
                </a:tc>
                <a:tc>
                  <a:txBody>
                    <a:bodyPr/>
                    <a:lstStyle/>
                    <a:p>
                      <a:pPr indent="0" lvl="0" marL="0" marR="0" rtl="0" algn="l">
                        <a:spcBef>
                          <a:spcPts val="0"/>
                        </a:spcBef>
                        <a:spcAft>
                          <a:spcPts val="0"/>
                        </a:spcAft>
                        <a:buNone/>
                      </a:pPr>
                      <a:r>
                        <a:rPr b="0" lang="en-GB" sz="819" u="none" cap="none" strike="noStrike">
                          <a:solidFill>
                            <a:srgbClr val="1C2430"/>
                          </a:solidFill>
                          <a:latin typeface="Arial"/>
                          <a:ea typeface="Arial"/>
                          <a:cs typeface="Arial"/>
                          <a:sym typeface="Arial"/>
                        </a:rPr>
                        <a:t>Gemini</a:t>
                      </a:r>
                      <a:endParaRPr/>
                    </a:p>
                  </a:txBody>
                  <a:tcPr marT="27425" marB="27425" marR="36575" marL="36575">
                    <a:solidFill>
                      <a:srgbClr val="FFFFFF"/>
                    </a:solidFill>
                  </a:tcPr>
                </a:tc>
                <a:tc>
                  <a:txBody>
                    <a:bodyPr/>
                    <a:lstStyle/>
                    <a:p>
                      <a:pPr indent="0" lvl="0" marL="0" marR="0" rtl="0" algn="l">
                        <a:spcBef>
                          <a:spcPts val="0"/>
                        </a:spcBef>
                        <a:spcAft>
                          <a:spcPts val="0"/>
                        </a:spcAft>
                        <a:buNone/>
                      </a:pPr>
                      <a:r>
                        <a:rPr lang="en-GB" sz="819">
                          <a:solidFill>
                            <a:srgbClr val="1C2430"/>
                          </a:solidFill>
                          <a:latin typeface="Arial"/>
                          <a:ea typeface="Arial"/>
                          <a:cs typeface="Arial"/>
                          <a:sym typeface="Arial"/>
                        </a:rPr>
                        <a:t>Bullish</a:t>
                      </a:r>
                      <a:endParaRPr/>
                    </a:p>
                  </a:txBody>
                  <a:tcPr marT="27425" marB="27425" marR="36575" marL="36575">
                    <a:solidFill>
                      <a:srgbClr val="FFFFFF"/>
                    </a:solidFill>
                  </a:tcPr>
                </a:tc>
                <a:tc>
                  <a:txBody>
                    <a:bodyPr/>
                    <a:lstStyle/>
                    <a:p>
                      <a:pPr indent="0" lvl="0" marL="0" marR="0" rtl="0" algn="l">
                        <a:spcBef>
                          <a:spcPts val="0"/>
                        </a:spcBef>
                        <a:spcAft>
                          <a:spcPts val="0"/>
                        </a:spcAft>
                        <a:buNone/>
                      </a:pPr>
                      <a:r>
                        <a:rPr b="0" lang="en-GB" sz="819" u="none" cap="none" strike="noStrike">
                          <a:solidFill>
                            <a:srgbClr val="1C2430"/>
                          </a:solidFill>
                          <a:latin typeface="Arial"/>
                          <a:ea typeface="Arial"/>
                          <a:cs typeface="Arial"/>
                          <a:sym typeface="Arial"/>
                        </a:rPr>
                        <a:t>Good</a:t>
                      </a:r>
                      <a:endParaRPr/>
                    </a:p>
                  </a:txBody>
                  <a:tcPr marT="27425" marB="27425" marR="36575" marL="36575">
                    <a:solidFill>
                      <a:srgbClr val="FFFFFF"/>
                    </a:solidFill>
                  </a:tcPr>
                </a:tc>
                <a:tc>
                  <a:txBody>
                    <a:bodyPr/>
                    <a:lstStyle/>
                    <a:p>
                      <a:pPr indent="0" lvl="0" marL="0" marR="0" rtl="0" algn="l">
                        <a:spcBef>
                          <a:spcPts val="0"/>
                        </a:spcBef>
                        <a:spcAft>
                          <a:spcPts val="0"/>
                        </a:spcAft>
                        <a:buNone/>
                      </a:pPr>
                      <a:r>
                        <a:rPr lang="en-GB" sz="819">
                          <a:solidFill>
                            <a:srgbClr val="1C2430"/>
                          </a:solidFill>
                          <a:latin typeface="Arial"/>
                          <a:ea typeface="Arial"/>
                          <a:cs typeface="Arial"/>
                          <a:sym typeface="Arial"/>
                        </a:rPr>
                        <a:t>The direction is correct, but the volatility risk of the Triple Witch mentioned in R7 is being overlooked.</a:t>
                      </a:r>
                      <a:endParaRPr/>
                    </a:p>
                  </a:txBody>
                  <a:tcPr marT="27425" marB="27425" marR="36575" marL="36575">
                    <a:solidFill>
                      <a:srgbClr val="FFFFFF"/>
                    </a:solidFill>
                  </a:tcPr>
                </a:tc>
              </a:tr>
              <a:tr h="446225">
                <a:tc>
                  <a:txBody>
                    <a:bodyPr/>
                    <a:lstStyle/>
                    <a:p>
                      <a:pPr indent="0" lvl="0" marL="0" marR="0" rtl="0" algn="l">
                        <a:spcBef>
                          <a:spcPts val="0"/>
                        </a:spcBef>
                        <a:spcAft>
                          <a:spcPts val="0"/>
                        </a:spcAft>
                        <a:buNone/>
                      </a:pPr>
                      <a:r>
                        <a:rPr b="0" lang="en-GB" sz="819" u="none" cap="none" strike="noStrike">
                          <a:solidFill>
                            <a:srgbClr val="1C2430"/>
                          </a:solidFill>
                          <a:latin typeface="Arial"/>
                          <a:ea typeface="Arial"/>
                          <a:cs typeface="Arial"/>
                          <a:sym typeface="Arial"/>
                        </a:rPr>
                        <a:t>4</a:t>
                      </a:r>
                      <a:endParaRPr/>
                    </a:p>
                  </a:txBody>
                  <a:tcPr marT="27425" marB="27425" marR="36575" marL="36575">
                    <a:solidFill>
                      <a:srgbClr val="F8FBFE"/>
                    </a:solidFill>
                  </a:tcPr>
                </a:tc>
                <a:tc>
                  <a:txBody>
                    <a:bodyPr/>
                    <a:lstStyle/>
                    <a:p>
                      <a:pPr indent="0" lvl="0" marL="0" marR="0" rtl="0" algn="l">
                        <a:spcBef>
                          <a:spcPts val="0"/>
                        </a:spcBef>
                        <a:spcAft>
                          <a:spcPts val="0"/>
                        </a:spcAft>
                        <a:buNone/>
                      </a:pPr>
                      <a:r>
                        <a:rPr b="0" lang="en-GB" sz="819" u="none" cap="none" strike="noStrike">
                          <a:solidFill>
                            <a:srgbClr val="1C2430"/>
                          </a:solidFill>
                          <a:latin typeface="Arial"/>
                          <a:ea typeface="Arial"/>
                          <a:cs typeface="Arial"/>
                          <a:sym typeface="Arial"/>
                        </a:rPr>
                        <a:t>DeepSeek</a:t>
                      </a:r>
                      <a:endParaRPr/>
                    </a:p>
                  </a:txBody>
                  <a:tcPr marT="27425" marB="27425" marR="36575" marL="36575">
                    <a:solidFill>
                      <a:srgbClr val="F8FBFE"/>
                    </a:solidFill>
                  </a:tcPr>
                </a:tc>
                <a:tc>
                  <a:txBody>
                    <a:bodyPr/>
                    <a:lstStyle/>
                    <a:p>
                      <a:pPr indent="0" lvl="0" marL="0" marR="0" rtl="0" algn="l">
                        <a:spcBef>
                          <a:spcPts val="0"/>
                        </a:spcBef>
                        <a:spcAft>
                          <a:spcPts val="0"/>
                        </a:spcAft>
                        <a:buNone/>
                      </a:pPr>
                      <a:r>
                        <a:rPr b="0" lang="en-GB" sz="819" u="none" cap="none" strike="noStrike">
                          <a:solidFill>
                            <a:srgbClr val="1C2430"/>
                          </a:solidFill>
                          <a:latin typeface="Arial"/>
                          <a:ea typeface="Arial"/>
                          <a:cs typeface="Arial"/>
                          <a:sym typeface="Arial"/>
                        </a:rPr>
                        <a:t>Sideways</a:t>
                      </a:r>
                      <a:endParaRPr/>
                    </a:p>
                  </a:txBody>
                  <a:tcPr marT="27425" marB="27425" marR="36575" marL="36575">
                    <a:solidFill>
                      <a:srgbClr val="F8FBFE"/>
                    </a:solidFill>
                  </a:tcPr>
                </a:tc>
                <a:tc>
                  <a:txBody>
                    <a:bodyPr/>
                    <a:lstStyle/>
                    <a:p>
                      <a:pPr indent="0" lvl="0" marL="0" marR="0" rtl="0" algn="l">
                        <a:spcBef>
                          <a:spcPts val="0"/>
                        </a:spcBef>
                        <a:spcAft>
                          <a:spcPts val="0"/>
                        </a:spcAft>
                        <a:buNone/>
                      </a:pPr>
                      <a:r>
                        <a:rPr b="0" lang="en-GB" sz="819" u="none" cap="none" strike="noStrike">
                          <a:solidFill>
                            <a:srgbClr val="1C2430"/>
                          </a:solidFill>
                          <a:latin typeface="Arial"/>
                          <a:ea typeface="Arial"/>
                          <a:cs typeface="Arial"/>
                          <a:sym typeface="Arial"/>
                        </a:rPr>
                        <a:t>Mi</a:t>
                      </a:r>
                      <a:r>
                        <a:rPr lang="en-GB" sz="819">
                          <a:solidFill>
                            <a:srgbClr val="1C2430"/>
                          </a:solidFill>
                          <a:latin typeface="Arial"/>
                          <a:ea typeface="Arial"/>
                          <a:cs typeface="Arial"/>
                          <a:sym typeface="Arial"/>
                        </a:rPr>
                        <a:t>ss</a:t>
                      </a:r>
                      <a:r>
                        <a:rPr b="0" lang="en-GB" sz="819" u="none" cap="none" strike="noStrike">
                          <a:solidFill>
                            <a:srgbClr val="1C2430"/>
                          </a:solidFill>
                          <a:latin typeface="Arial"/>
                          <a:ea typeface="Arial"/>
                          <a:cs typeface="Arial"/>
                          <a:sym typeface="Arial"/>
                        </a:rPr>
                        <a:t>ed</a:t>
                      </a:r>
                      <a:endParaRPr/>
                    </a:p>
                  </a:txBody>
                  <a:tcPr marT="27425" marB="27425" marR="36575" marL="36575">
                    <a:solidFill>
                      <a:srgbClr val="F8FBFE"/>
                    </a:solidFill>
                  </a:tcPr>
                </a:tc>
                <a:tc>
                  <a:txBody>
                    <a:bodyPr/>
                    <a:lstStyle/>
                    <a:p>
                      <a:pPr indent="0" lvl="0" marL="0" marR="0" rtl="0" algn="l">
                        <a:spcBef>
                          <a:spcPts val="0"/>
                        </a:spcBef>
                        <a:spcAft>
                          <a:spcPts val="0"/>
                        </a:spcAft>
                        <a:buNone/>
                      </a:pPr>
                      <a:r>
                        <a:rPr lang="en-GB" sz="819">
                          <a:solidFill>
                            <a:srgbClr val="1C2430"/>
                          </a:solidFill>
                          <a:latin typeface="Arial"/>
                          <a:ea typeface="Arial"/>
                          <a:cs typeface="Arial"/>
                          <a:sym typeface="Arial"/>
                        </a:rPr>
                        <a:t>Risk emphasis error: Over-weighting the "weakness in June" given by humans caused the gains to be completely missed.</a:t>
                      </a:r>
                      <a:endParaRPr/>
                    </a:p>
                  </a:txBody>
                  <a:tcPr marT="27425" marB="27425" marR="36575" marL="36575">
                    <a:solidFill>
                      <a:srgbClr val="F8FBFE"/>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8"/>
          <p:cNvSpPr/>
          <p:nvPr/>
        </p:nvSpPr>
        <p:spPr>
          <a:xfrm>
            <a:off x="0" y="0"/>
            <a:ext cx="9144000" cy="658500"/>
          </a:xfrm>
          <a:prstGeom prst="rect">
            <a:avLst/>
          </a:prstGeom>
          <a:solidFill>
            <a:srgbClr val="08172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55" name="Google Shape;355;p28"/>
          <p:cNvSpPr/>
          <p:nvPr/>
        </p:nvSpPr>
        <p:spPr>
          <a:xfrm>
            <a:off x="0" y="640080"/>
            <a:ext cx="9144000" cy="36600"/>
          </a:xfrm>
          <a:prstGeom prst="rect">
            <a:avLst/>
          </a:prstGeom>
          <a:solidFill>
            <a:srgbClr val="F07C3E"/>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56" name="Google Shape;356;p28"/>
          <p:cNvSpPr txBox="1"/>
          <p:nvPr/>
        </p:nvSpPr>
        <p:spPr>
          <a:xfrm>
            <a:off x="384048" y="128016"/>
            <a:ext cx="2377500" cy="323100"/>
          </a:xfrm>
          <a:prstGeom prst="rect">
            <a:avLst/>
          </a:prstGeom>
          <a:noFill/>
          <a:ln>
            <a:noFill/>
          </a:ln>
        </p:spPr>
        <p:txBody>
          <a:bodyPr anchorCtr="0" anchor="ctr" bIns="45700" lIns="45700" spcFirstLastPara="1" rIns="45700" wrap="square" tIns="45700">
            <a:spAutoFit/>
          </a:bodyPr>
          <a:lstStyle/>
          <a:p>
            <a:pPr indent="0" lvl="0" marL="0" marR="0" rtl="0" algn="l">
              <a:spcBef>
                <a:spcPts val="0"/>
              </a:spcBef>
              <a:spcAft>
                <a:spcPts val="0"/>
              </a:spcAft>
              <a:buNone/>
            </a:pPr>
            <a:r>
              <a:rPr b="1" lang="en-GB" sz="1500">
                <a:solidFill>
                  <a:srgbClr val="FFFFFF"/>
                </a:solidFill>
                <a:latin typeface="Arial"/>
                <a:ea typeface="Arial"/>
                <a:cs typeface="Arial"/>
                <a:sym typeface="Arial"/>
              </a:rPr>
              <a:t>R10 QA Lead</a:t>
            </a:r>
            <a:endParaRPr/>
          </a:p>
        </p:txBody>
      </p:sp>
      <p:sp>
        <p:nvSpPr>
          <p:cNvPr id="357" name="Google Shape;357;p28"/>
          <p:cNvSpPr/>
          <p:nvPr/>
        </p:nvSpPr>
        <p:spPr>
          <a:xfrm>
            <a:off x="2788920" y="201168"/>
            <a:ext cx="2331600" cy="210300"/>
          </a:xfrm>
          <a:prstGeom prst="roundRect">
            <a:avLst>
              <a:gd fmla="val 16667" name="adj"/>
            </a:avLst>
          </a:prstGeom>
          <a:solidFill>
            <a:srgbClr val="F07C3E"/>
          </a:solidFill>
          <a:ln cap="flat" cmpd="sng" w="12700">
            <a:solidFill>
              <a:srgbClr val="F07C3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rtl="0" algn="ctr">
              <a:spcBef>
                <a:spcPts val="0"/>
              </a:spcBef>
              <a:spcAft>
                <a:spcPts val="0"/>
              </a:spcAft>
              <a:buNone/>
            </a:pPr>
            <a:r>
              <a:rPr b="1" lang="en-GB" sz="800">
                <a:solidFill>
                  <a:srgbClr val="FFFFFF"/>
                </a:solidFill>
              </a:rPr>
              <a:t>Design 3 / Learning Loop</a:t>
            </a:r>
            <a:endParaRPr sz="1800">
              <a:solidFill>
                <a:srgbClr val="FFFFFF"/>
              </a:solidFill>
              <a:latin typeface="Calibri"/>
              <a:ea typeface="Calibri"/>
              <a:cs typeface="Calibri"/>
              <a:sym typeface="Calibri"/>
            </a:endParaRPr>
          </a:p>
        </p:txBody>
      </p:sp>
      <p:sp>
        <p:nvSpPr>
          <p:cNvPr id="358" name="Google Shape;358;p28"/>
          <p:cNvSpPr txBox="1"/>
          <p:nvPr/>
        </p:nvSpPr>
        <p:spPr>
          <a:xfrm>
            <a:off x="5257800" y="182880"/>
            <a:ext cx="2011800" cy="223200"/>
          </a:xfrm>
          <a:prstGeom prst="rect">
            <a:avLst/>
          </a:prstGeom>
          <a:noFill/>
          <a:ln>
            <a:noFill/>
          </a:ln>
        </p:spPr>
        <p:txBody>
          <a:bodyPr anchorCtr="0" anchor="t" bIns="45700" lIns="45700" spcFirstLastPara="1" rIns="45700" wrap="square" tIns="45700">
            <a:spAutoFit/>
          </a:bodyPr>
          <a:lstStyle/>
          <a:p>
            <a:pPr indent="0" lvl="0" marL="0" marR="0" rtl="0" algn="r">
              <a:spcBef>
                <a:spcPts val="0"/>
              </a:spcBef>
              <a:spcAft>
                <a:spcPts val="0"/>
              </a:spcAft>
              <a:buNone/>
            </a:pPr>
            <a:r>
              <a:rPr b="0" lang="en-GB" sz="850">
                <a:solidFill>
                  <a:srgbClr val="B7C3D0"/>
                </a:solidFill>
                <a:latin typeface="Arial"/>
                <a:ea typeface="Arial"/>
                <a:cs typeface="Arial"/>
                <a:sym typeface="Arial"/>
              </a:rPr>
              <a:t>Theme slide</a:t>
            </a:r>
            <a:endParaRPr/>
          </a:p>
        </p:txBody>
      </p:sp>
      <p:sp>
        <p:nvSpPr>
          <p:cNvPr id="359" name="Google Shape;359;p28"/>
          <p:cNvSpPr txBox="1"/>
          <p:nvPr/>
        </p:nvSpPr>
        <p:spPr>
          <a:xfrm>
            <a:off x="475488" y="877824"/>
            <a:ext cx="4572000" cy="3693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800">
                <a:solidFill>
                  <a:srgbClr val="08172E"/>
                </a:solidFill>
                <a:latin typeface="Arial"/>
                <a:ea typeface="Arial"/>
                <a:cs typeface="Arial"/>
                <a:sym typeface="Arial"/>
              </a:rPr>
              <a:t>One process change next sprint</a:t>
            </a:r>
            <a:endParaRPr/>
          </a:p>
        </p:txBody>
      </p:sp>
      <p:sp>
        <p:nvSpPr>
          <p:cNvPr id="360" name="Google Shape;360;p28"/>
          <p:cNvSpPr txBox="1"/>
          <p:nvPr/>
        </p:nvSpPr>
        <p:spPr>
          <a:xfrm>
            <a:off x="475488" y="1188720"/>
            <a:ext cx="6583800" cy="2385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0" lang="en-GB" sz="950">
                <a:solidFill>
                  <a:srgbClr val="56657D"/>
                </a:solidFill>
                <a:latin typeface="Arial"/>
                <a:ea typeface="Arial"/>
                <a:cs typeface="Arial"/>
                <a:sym typeface="Arial"/>
              </a:rPr>
              <a:t>Closes the presentation by turning calibration into an operational improvement.</a:t>
            </a:r>
            <a:endParaRPr/>
          </a:p>
        </p:txBody>
      </p:sp>
      <p:sp>
        <p:nvSpPr>
          <p:cNvPr id="361" name="Google Shape;361;p28"/>
          <p:cNvSpPr/>
          <p:nvPr/>
        </p:nvSpPr>
        <p:spPr>
          <a:xfrm>
            <a:off x="713232" y="1920240"/>
            <a:ext cx="1463100" cy="10059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62" name="Google Shape;362;p28"/>
          <p:cNvSpPr txBox="1"/>
          <p:nvPr/>
        </p:nvSpPr>
        <p:spPr>
          <a:xfrm>
            <a:off x="1216152" y="2029968"/>
            <a:ext cx="822900" cy="261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100">
                <a:solidFill>
                  <a:srgbClr val="08172E"/>
                </a:solidFill>
                <a:latin typeface="Arial"/>
                <a:ea typeface="Arial"/>
                <a:cs typeface="Arial"/>
                <a:sym typeface="Arial"/>
              </a:rPr>
              <a:t>Score</a:t>
            </a:r>
            <a:endParaRPr/>
          </a:p>
        </p:txBody>
      </p:sp>
      <p:sp>
        <p:nvSpPr>
          <p:cNvPr id="363" name="Google Shape;363;p28"/>
          <p:cNvSpPr txBox="1"/>
          <p:nvPr/>
        </p:nvSpPr>
        <p:spPr>
          <a:xfrm>
            <a:off x="877749" y="2295302"/>
            <a:ext cx="1134000" cy="677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GB" sz="950">
                <a:solidFill>
                  <a:srgbClr val="56657D"/>
                </a:solidFill>
              </a:rPr>
              <a:t>Actual: IWM +0.87% vs. Score: +1. Magnitude Delta: +0.37%.</a:t>
            </a:r>
            <a:endParaRPr/>
          </a:p>
        </p:txBody>
      </p:sp>
      <p:cxnSp>
        <p:nvCxnSpPr>
          <p:cNvPr id="364" name="Google Shape;364;p28"/>
          <p:cNvCxnSpPr/>
          <p:nvPr/>
        </p:nvCxnSpPr>
        <p:spPr>
          <a:xfrm>
            <a:off x="2212848" y="2423160"/>
            <a:ext cx="356700" cy="0"/>
          </a:xfrm>
          <a:prstGeom prst="straightConnector1">
            <a:avLst/>
          </a:prstGeom>
          <a:noFill/>
          <a:ln cap="flat" cmpd="sng" w="25400">
            <a:solidFill>
              <a:srgbClr val="F07C3E"/>
            </a:solidFill>
            <a:prstDash val="solid"/>
            <a:round/>
            <a:headEnd len="sm" w="sm" type="none"/>
            <a:tailEnd len="sm" w="sm" type="none"/>
          </a:ln>
          <a:effectLst>
            <a:outerShdw blurRad="40000" rotWithShape="0" dir="5400000" dist="20000">
              <a:srgbClr val="000000">
                <a:alpha val="38040"/>
              </a:srgbClr>
            </a:outerShdw>
          </a:effectLst>
        </p:spPr>
      </p:cxnSp>
      <p:sp>
        <p:nvSpPr>
          <p:cNvPr id="365" name="Google Shape;365;p28"/>
          <p:cNvSpPr/>
          <p:nvPr/>
        </p:nvSpPr>
        <p:spPr>
          <a:xfrm>
            <a:off x="2546726" y="1790049"/>
            <a:ext cx="2011800" cy="16665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66" name="Google Shape;366;p28"/>
          <p:cNvSpPr/>
          <p:nvPr/>
        </p:nvSpPr>
        <p:spPr>
          <a:xfrm>
            <a:off x="2816352" y="2029968"/>
            <a:ext cx="320100" cy="320100"/>
          </a:xfrm>
          <a:prstGeom prst="roundRect">
            <a:avLst>
              <a:gd fmla="val 16667" name="adj"/>
            </a:avLst>
          </a:prstGeom>
          <a:solidFill>
            <a:srgbClr val="F07C3E"/>
          </a:solidFill>
          <a:ln cap="flat" cmpd="sng" w="12700">
            <a:solidFill>
              <a:srgbClr val="F07C3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67" name="Google Shape;367;p28"/>
          <p:cNvSpPr txBox="1"/>
          <p:nvPr/>
        </p:nvSpPr>
        <p:spPr>
          <a:xfrm>
            <a:off x="2816352" y="2084832"/>
            <a:ext cx="320100" cy="12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800">
                <a:solidFill>
                  <a:srgbClr val="FFFFFF"/>
                </a:solidFill>
                <a:latin typeface="Arial"/>
                <a:ea typeface="Arial"/>
                <a:cs typeface="Arial"/>
                <a:sym typeface="Arial"/>
              </a:rPr>
              <a:t>2</a:t>
            </a:r>
            <a:endParaRPr/>
          </a:p>
        </p:txBody>
      </p:sp>
      <p:sp>
        <p:nvSpPr>
          <p:cNvPr id="368" name="Google Shape;368;p28"/>
          <p:cNvSpPr txBox="1"/>
          <p:nvPr/>
        </p:nvSpPr>
        <p:spPr>
          <a:xfrm>
            <a:off x="3209544" y="2029968"/>
            <a:ext cx="822900" cy="261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100">
                <a:solidFill>
                  <a:srgbClr val="08172E"/>
                </a:solidFill>
                <a:latin typeface="Arial"/>
                <a:ea typeface="Arial"/>
                <a:cs typeface="Arial"/>
                <a:sym typeface="Arial"/>
              </a:rPr>
              <a:t>Diagnose</a:t>
            </a:r>
            <a:endParaRPr/>
          </a:p>
        </p:txBody>
      </p:sp>
      <p:sp>
        <p:nvSpPr>
          <p:cNvPr id="369" name="Google Shape;369;p28"/>
          <p:cNvSpPr txBox="1"/>
          <p:nvPr/>
        </p:nvSpPr>
        <p:spPr>
          <a:xfrm>
            <a:off x="2675625" y="2359150"/>
            <a:ext cx="1887300" cy="8235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GB" sz="950">
                <a:solidFill>
                  <a:srgbClr val="56657D"/>
                </a:solidFill>
              </a:rPr>
              <a:t>Identified "Conservative Bias". Human Adjustment (-1) for "June weakness" was over-weighted, neutralizing strong Macro/Tech signals.</a:t>
            </a:r>
            <a:endParaRPr/>
          </a:p>
        </p:txBody>
      </p:sp>
      <p:cxnSp>
        <p:nvCxnSpPr>
          <p:cNvPr id="370" name="Google Shape;370;p28"/>
          <p:cNvCxnSpPr/>
          <p:nvPr/>
        </p:nvCxnSpPr>
        <p:spPr>
          <a:xfrm>
            <a:off x="4206240" y="2423160"/>
            <a:ext cx="356700" cy="0"/>
          </a:xfrm>
          <a:prstGeom prst="straightConnector1">
            <a:avLst/>
          </a:prstGeom>
          <a:noFill/>
          <a:ln cap="flat" cmpd="sng" w="25400">
            <a:solidFill>
              <a:srgbClr val="F07C3E"/>
            </a:solidFill>
            <a:prstDash val="solid"/>
            <a:round/>
            <a:headEnd len="sm" w="sm" type="none"/>
            <a:tailEnd len="sm" w="sm" type="none"/>
          </a:ln>
          <a:effectLst>
            <a:outerShdw blurRad="40000" rotWithShape="0" dir="5400000" dist="20000">
              <a:srgbClr val="000000">
                <a:alpha val="38040"/>
              </a:srgbClr>
            </a:outerShdw>
          </a:effectLst>
        </p:spPr>
      </p:cxnSp>
      <p:sp>
        <p:nvSpPr>
          <p:cNvPr id="371" name="Google Shape;371;p28"/>
          <p:cNvSpPr/>
          <p:nvPr/>
        </p:nvSpPr>
        <p:spPr>
          <a:xfrm>
            <a:off x="4677778" y="1983140"/>
            <a:ext cx="1900800" cy="13014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72" name="Google Shape;372;p28"/>
          <p:cNvSpPr/>
          <p:nvPr/>
        </p:nvSpPr>
        <p:spPr>
          <a:xfrm>
            <a:off x="4809744" y="2029968"/>
            <a:ext cx="320100" cy="320100"/>
          </a:xfrm>
          <a:prstGeom prst="roundRect">
            <a:avLst>
              <a:gd fmla="val 16667" name="adj"/>
            </a:avLst>
          </a:prstGeom>
          <a:solidFill>
            <a:srgbClr val="F07C3E"/>
          </a:solidFill>
          <a:ln cap="flat" cmpd="sng" w="12700">
            <a:solidFill>
              <a:srgbClr val="F07C3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73" name="Google Shape;373;p28"/>
          <p:cNvSpPr txBox="1"/>
          <p:nvPr/>
        </p:nvSpPr>
        <p:spPr>
          <a:xfrm>
            <a:off x="4809744" y="2084832"/>
            <a:ext cx="320100" cy="12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800">
                <a:solidFill>
                  <a:srgbClr val="FFFFFF"/>
                </a:solidFill>
                <a:latin typeface="Arial"/>
                <a:ea typeface="Arial"/>
                <a:cs typeface="Arial"/>
                <a:sym typeface="Arial"/>
              </a:rPr>
              <a:t>3</a:t>
            </a:r>
            <a:endParaRPr/>
          </a:p>
        </p:txBody>
      </p:sp>
      <p:sp>
        <p:nvSpPr>
          <p:cNvPr id="374" name="Google Shape;374;p28"/>
          <p:cNvSpPr txBox="1"/>
          <p:nvPr/>
        </p:nvSpPr>
        <p:spPr>
          <a:xfrm>
            <a:off x="5214524" y="1981468"/>
            <a:ext cx="822900" cy="261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100">
                <a:solidFill>
                  <a:srgbClr val="08172E"/>
                </a:solidFill>
                <a:latin typeface="Arial"/>
                <a:ea typeface="Arial"/>
                <a:cs typeface="Arial"/>
                <a:sym typeface="Arial"/>
              </a:rPr>
              <a:t>Change</a:t>
            </a:r>
            <a:endParaRPr/>
          </a:p>
        </p:txBody>
      </p:sp>
      <p:sp>
        <p:nvSpPr>
          <p:cNvPr id="375" name="Google Shape;375;p28"/>
          <p:cNvSpPr txBox="1"/>
          <p:nvPr/>
        </p:nvSpPr>
        <p:spPr>
          <a:xfrm>
            <a:off x="4740100" y="2359150"/>
            <a:ext cx="1422900" cy="969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GB" sz="950">
                <a:solidFill>
                  <a:srgbClr val="56657D"/>
                </a:solidFill>
              </a:rPr>
              <a:t>Implement "Macro-Priority" weighting rule. Cap Almanac (seasonal) penalties at -0.5 if Macro Score is ≥ +1.</a:t>
            </a:r>
            <a:endParaRPr/>
          </a:p>
        </p:txBody>
      </p:sp>
      <p:cxnSp>
        <p:nvCxnSpPr>
          <p:cNvPr id="376" name="Google Shape;376;p28"/>
          <p:cNvCxnSpPr/>
          <p:nvPr/>
        </p:nvCxnSpPr>
        <p:spPr>
          <a:xfrm>
            <a:off x="6199632" y="2423160"/>
            <a:ext cx="356700" cy="0"/>
          </a:xfrm>
          <a:prstGeom prst="straightConnector1">
            <a:avLst/>
          </a:prstGeom>
          <a:noFill/>
          <a:ln cap="flat" cmpd="sng" w="25400">
            <a:solidFill>
              <a:srgbClr val="F07C3E"/>
            </a:solidFill>
            <a:prstDash val="solid"/>
            <a:round/>
            <a:headEnd len="sm" w="sm" type="none"/>
            <a:tailEnd len="sm" w="sm" type="none"/>
          </a:ln>
          <a:effectLst>
            <a:outerShdw blurRad="40000" rotWithShape="0" dir="5400000" dist="20000">
              <a:srgbClr val="000000">
                <a:alpha val="38040"/>
              </a:srgbClr>
            </a:outerShdw>
          </a:effectLst>
        </p:spPr>
      </p:cxnSp>
      <p:sp>
        <p:nvSpPr>
          <p:cNvPr id="377" name="Google Shape;377;p28"/>
          <p:cNvSpPr/>
          <p:nvPr/>
        </p:nvSpPr>
        <p:spPr>
          <a:xfrm>
            <a:off x="6693400" y="1920252"/>
            <a:ext cx="1463100" cy="12624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78" name="Google Shape;378;p28"/>
          <p:cNvSpPr/>
          <p:nvPr/>
        </p:nvSpPr>
        <p:spPr>
          <a:xfrm>
            <a:off x="6803136" y="2029968"/>
            <a:ext cx="320100" cy="320100"/>
          </a:xfrm>
          <a:prstGeom prst="roundRect">
            <a:avLst>
              <a:gd fmla="val 16667" name="adj"/>
            </a:avLst>
          </a:prstGeom>
          <a:solidFill>
            <a:srgbClr val="F07C3E"/>
          </a:solidFill>
          <a:ln cap="flat" cmpd="sng" w="12700">
            <a:solidFill>
              <a:srgbClr val="F07C3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79" name="Google Shape;379;p28"/>
          <p:cNvSpPr txBox="1"/>
          <p:nvPr/>
        </p:nvSpPr>
        <p:spPr>
          <a:xfrm>
            <a:off x="6803136" y="2084832"/>
            <a:ext cx="320100" cy="12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800">
                <a:solidFill>
                  <a:srgbClr val="FFFFFF"/>
                </a:solidFill>
                <a:latin typeface="Arial"/>
                <a:ea typeface="Arial"/>
                <a:cs typeface="Arial"/>
                <a:sym typeface="Arial"/>
              </a:rPr>
              <a:t>4</a:t>
            </a:r>
            <a:endParaRPr/>
          </a:p>
        </p:txBody>
      </p:sp>
      <p:sp>
        <p:nvSpPr>
          <p:cNvPr id="380" name="Google Shape;380;p28"/>
          <p:cNvSpPr txBox="1"/>
          <p:nvPr/>
        </p:nvSpPr>
        <p:spPr>
          <a:xfrm>
            <a:off x="7196328" y="2029968"/>
            <a:ext cx="822900" cy="2616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100">
                <a:solidFill>
                  <a:srgbClr val="08172E"/>
                </a:solidFill>
                <a:latin typeface="Arial"/>
                <a:ea typeface="Arial"/>
                <a:cs typeface="Arial"/>
                <a:sym typeface="Arial"/>
              </a:rPr>
              <a:t>Apply</a:t>
            </a:r>
            <a:endParaRPr/>
          </a:p>
        </p:txBody>
      </p:sp>
      <p:sp>
        <p:nvSpPr>
          <p:cNvPr id="381" name="Google Shape;381;p28"/>
          <p:cNvSpPr txBox="1"/>
          <p:nvPr/>
        </p:nvSpPr>
        <p:spPr>
          <a:xfrm>
            <a:off x="6693400" y="2359150"/>
            <a:ext cx="1781700" cy="6771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GB" sz="950">
                <a:solidFill>
                  <a:srgbClr val="56657D"/>
                </a:solidFill>
              </a:rPr>
              <a:t>Deploy in R8 Dashboard. Require LLMs to provide counter-arguments for seasonal headwinds.</a:t>
            </a:r>
            <a:endParaRPr/>
          </a:p>
        </p:txBody>
      </p:sp>
      <p:sp>
        <p:nvSpPr>
          <p:cNvPr id="382" name="Google Shape;382;p28"/>
          <p:cNvSpPr/>
          <p:nvPr/>
        </p:nvSpPr>
        <p:spPr>
          <a:xfrm>
            <a:off x="713232" y="3456432"/>
            <a:ext cx="7635300" cy="749700"/>
          </a:xfrm>
          <a:prstGeom prst="roundRect">
            <a:avLst>
              <a:gd fmla="val 16667" name="adj"/>
            </a:avLst>
          </a:prstGeom>
          <a:solidFill>
            <a:srgbClr val="FFFFFF"/>
          </a:solidFill>
          <a:ln cap="flat" cmpd="sng" w="12700">
            <a:solidFill>
              <a:srgbClr val="E9F0F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83" name="Google Shape;383;p28"/>
          <p:cNvSpPr txBox="1"/>
          <p:nvPr/>
        </p:nvSpPr>
        <p:spPr>
          <a:xfrm>
            <a:off x="850392" y="3547872"/>
            <a:ext cx="7406700" cy="2694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b="1" lang="en-GB" sz="1150">
                <a:solidFill>
                  <a:srgbClr val="08172E"/>
                </a:solidFill>
                <a:latin typeface="Arial"/>
                <a:ea typeface="Arial"/>
                <a:cs typeface="Arial"/>
                <a:sym typeface="Arial"/>
              </a:rPr>
              <a:t>Recommended change</a:t>
            </a:r>
            <a:endParaRPr/>
          </a:p>
        </p:txBody>
      </p:sp>
      <p:sp>
        <p:nvSpPr>
          <p:cNvPr id="384" name="Google Shape;384;p28"/>
          <p:cNvSpPr txBox="1"/>
          <p:nvPr/>
        </p:nvSpPr>
        <p:spPr>
          <a:xfrm>
            <a:off x="850392" y="3840480"/>
            <a:ext cx="7406700" cy="307800"/>
          </a:xfrm>
          <a:prstGeom prst="rect">
            <a:avLst/>
          </a:prstGeom>
          <a:noFill/>
          <a:ln>
            <a:noFill/>
          </a:ln>
        </p:spPr>
        <p:txBody>
          <a:bodyPr anchorCtr="0" anchor="t" bIns="45700" lIns="45700" spcFirstLastPara="1" rIns="45700" wrap="square" tIns="45700">
            <a:spAutoFit/>
          </a:bodyPr>
          <a:lstStyle/>
          <a:p>
            <a:pPr indent="0" lvl="0" marL="0" marR="0" rtl="0" algn="l">
              <a:spcBef>
                <a:spcPts val="0"/>
              </a:spcBef>
              <a:spcAft>
                <a:spcPts val="0"/>
              </a:spcAft>
              <a:buNone/>
            </a:pPr>
            <a:r>
              <a:rPr lang="en-GB"/>
              <a:t>Dynamic Weighting for Seasonal Factors</a:t>
            </a:r>
            <a:endParaRPr/>
          </a:p>
        </p:txBody>
      </p:sp>
      <p:sp>
        <p:nvSpPr>
          <p:cNvPr id="385" name="Google Shape;385;p28"/>
          <p:cNvSpPr/>
          <p:nvPr/>
        </p:nvSpPr>
        <p:spPr>
          <a:xfrm>
            <a:off x="713227" y="1985743"/>
            <a:ext cx="320100" cy="320100"/>
          </a:xfrm>
          <a:prstGeom prst="roundRect">
            <a:avLst>
              <a:gd fmla="val 16667" name="adj"/>
            </a:avLst>
          </a:prstGeom>
          <a:solidFill>
            <a:srgbClr val="F07C3E"/>
          </a:solidFill>
          <a:ln cap="flat" cmpd="sng" w="12700">
            <a:solidFill>
              <a:srgbClr val="F07C3E"/>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386" name="Google Shape;386;p28"/>
          <p:cNvSpPr txBox="1"/>
          <p:nvPr/>
        </p:nvSpPr>
        <p:spPr>
          <a:xfrm>
            <a:off x="713227" y="2040607"/>
            <a:ext cx="320100" cy="123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GB" sz="800">
                <a:solidFill>
                  <a:srgbClr val="FFFFFF"/>
                </a:solidFill>
              </a:rPr>
              <a:t>1</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